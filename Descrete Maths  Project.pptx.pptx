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Cinzel Bold" charset="1" panose="00000800000000000000"/>
      <p:regular r:id="rId22"/>
    </p:embeddedFont>
    <p:embeddedFont>
      <p:font typeface="Cinzel" charset="1" panose="00000500000000000000"/>
      <p:regular r:id="rId23"/>
    </p:embeddedFont>
    <p:embeddedFont>
      <p:font typeface="Lora Bold" charset="1" panose="00000800000000000000"/>
      <p:regular r:id="rId24"/>
    </p:embeddedFont>
    <p:embeddedFont>
      <p:font typeface="Times New Roman Bold" charset="1" panose="02020803070505020304"/>
      <p:regular r:id="rId25"/>
    </p:embeddedFont>
    <p:embeddedFont>
      <p:font typeface="Inter Bold" charset="1" panose="02000503000000020004"/>
      <p:regular r:id="rId26"/>
    </p:embeddedFont>
    <p:embeddedFont>
      <p:font typeface="Aptos Bold" charset="1" panose="020B0004020202020204"/>
      <p:regular r:id="rId27"/>
    </p:embeddedFont>
    <p:embeddedFont>
      <p:font typeface="Times New Roman MT" charset="1" panose="02030502070405020303"/>
      <p:regular r:id="rId28"/>
    </p:embeddedFont>
    <p:embeddedFont>
      <p:font typeface="Inter" charset="1" panose="02000503000000020004"/>
      <p:regular r:id="rId29"/>
    </p:embeddedFont>
    <p:embeddedFont>
      <p:font typeface="Lora" charset="1" panose="00000500000000000000"/>
      <p:regular r:id="rId30"/>
    </p:embeddedFont>
    <p:embeddedFont>
      <p:font typeface="Aptos" charset="1" panose="020B0004020202020204"/>
      <p:regular r:id="rId31"/>
    </p:embeddedFont>
    <p:embeddedFont>
      <p:font typeface="Fira Code Bold" charset="1" panose="020B0809050000020004"/>
      <p:regular r:id="rId32"/>
    </p:embeddedFont>
    <p:embeddedFont>
      <p:font typeface="Fira Code" charset="1" panose="020B0809050000020004"/>
      <p:regular r:id="rId33"/>
    </p:embeddedFont>
    <p:embeddedFont>
      <p:font typeface="Cambria" charset="1" panose="02040503050406030204"/>
      <p:regular r:id="rId34"/>
    </p:embeddedFont>
    <p:embeddedFont>
      <p:font typeface="Cambria Bold" charset="1" panose="02040803050406030204"/>
      <p:regular r:id="rId35"/>
    </p:embeddedFont>
    <p:embeddedFont>
      <p:font typeface="Calibri (MS)" charset="1" panose="020F0502020204030204"/>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jpeg" Type="http://schemas.openxmlformats.org/officeDocument/2006/relationships/image"/><Relationship Id="rId4" Target="../media/image9.jpe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11" Target="../media/image23.svg" Type="http://schemas.openxmlformats.org/officeDocument/2006/relationships/image"/><Relationship Id="rId12" Target="../media/image24.png" Type="http://schemas.openxmlformats.org/officeDocument/2006/relationships/image"/><Relationship Id="rId13" Target="../media/image25.svg" Type="http://schemas.openxmlformats.org/officeDocument/2006/relationships/image"/><Relationship Id="rId2" Target="../media/image14.png" Type="http://schemas.openxmlformats.org/officeDocument/2006/relationships/image"/><Relationship Id="rId3" Target="../media/image15.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 Id="rId8" Target="../media/image20.png" Type="http://schemas.openxmlformats.org/officeDocument/2006/relationships/image"/><Relationship Id="rId9" Target="../media/image21.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4.png" Type="http://schemas.openxmlformats.org/officeDocument/2006/relationships/image"/><Relationship Id="rId11" Target="../media/image35.svg" Type="http://schemas.openxmlformats.org/officeDocument/2006/relationships/image"/><Relationship Id="rId2" Target="../media/image26.png" Type="http://schemas.openxmlformats.org/officeDocument/2006/relationships/image"/><Relationship Id="rId3" Target="../media/image27.sv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 Id="rId6" Target="../media/image30.png" Type="http://schemas.openxmlformats.org/officeDocument/2006/relationships/image"/><Relationship Id="rId7" Target="../media/image31.png" Type="http://schemas.openxmlformats.org/officeDocument/2006/relationships/image"/><Relationship Id="rId8" Target="../media/image32.svg" Type="http://schemas.openxmlformats.org/officeDocument/2006/relationships/image"/><Relationship Id="rId9" Target="../media/image3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4.png" Type="http://schemas.openxmlformats.org/officeDocument/2006/relationships/image"/><Relationship Id="rId11" Target="../media/image45.svg" Type="http://schemas.openxmlformats.org/officeDocument/2006/relationships/image"/><Relationship Id="rId2" Target="../media/image36.png" Type="http://schemas.openxmlformats.org/officeDocument/2006/relationships/image"/><Relationship Id="rId3" Target="../media/image37.sv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 Id="rId6" Target="../media/image40.png" Type="http://schemas.openxmlformats.org/officeDocument/2006/relationships/image"/><Relationship Id="rId7" Target="../media/image41.svg" Type="http://schemas.openxmlformats.org/officeDocument/2006/relationships/image"/><Relationship Id="rId8" Target="../media/image42.png" Type="http://schemas.openxmlformats.org/officeDocument/2006/relationships/image"/><Relationship Id="rId9" Target="../media/image4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png" Type="http://schemas.openxmlformats.org/officeDocument/2006/relationships/image"/><Relationship Id="rId3" Target="../media/image47.svg" Type="http://schemas.openxmlformats.org/officeDocument/2006/relationships/image"/><Relationship Id="rId4" Target="../media/image48.png" Type="http://schemas.openxmlformats.org/officeDocument/2006/relationships/image"/><Relationship Id="rId5" Target="../media/image49.svg" Type="http://schemas.openxmlformats.org/officeDocument/2006/relationships/image"/><Relationship Id="rId6" Target="../media/image50.png" Type="http://schemas.openxmlformats.org/officeDocument/2006/relationships/image"/><Relationship Id="rId7" Target="../media/image51.svg" Type="http://schemas.openxmlformats.org/officeDocument/2006/relationships/image"/><Relationship Id="rId8" Target="../media/image5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png" Type="http://schemas.openxmlformats.org/officeDocument/2006/relationships/image"/><Relationship Id="rId3" Target="../media/image54.png" Type="http://schemas.openxmlformats.org/officeDocument/2006/relationships/image"/><Relationship Id="rId4" Target="../media/image55.png" Type="http://schemas.openxmlformats.org/officeDocument/2006/relationships/image"/><Relationship Id="rId5" Target="../media/image56.png" Type="http://schemas.openxmlformats.org/officeDocument/2006/relationships/image"/><Relationship Id="rId6" Target="../media/image5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8.png" Type="http://schemas.openxmlformats.org/officeDocument/2006/relationships/image"/><Relationship Id="rId3" Target="../media/image5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1.png" Type="http://schemas.openxmlformats.org/officeDocument/2006/relationships/image"/><Relationship Id="rId3" Target="../media/image62.svg" Type="http://schemas.openxmlformats.org/officeDocument/2006/relationships/image"/><Relationship Id="rId4" Target="../media/image63.png" Type="http://schemas.openxmlformats.org/officeDocument/2006/relationships/image"/><Relationship Id="rId5" Target="../media/image6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5.png" Type="http://schemas.openxmlformats.org/officeDocument/2006/relationships/image"/><Relationship Id="rId3" Target="../media/image66.svg" Type="http://schemas.openxmlformats.org/officeDocument/2006/relationships/image"/><Relationship Id="rId4" Target="../media/image67.png" Type="http://schemas.openxmlformats.org/officeDocument/2006/relationships/image"/><Relationship Id="rId5" Target="../media/image68.png" Type="http://schemas.openxmlformats.org/officeDocument/2006/relationships/image"/><Relationship Id="rId6" Target="../media/image6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0.png" Type="http://schemas.openxmlformats.org/officeDocument/2006/relationships/image"/><Relationship Id="rId3" Target="../media/image71.svg" Type="http://schemas.openxmlformats.org/officeDocument/2006/relationships/image"/><Relationship Id="rId4" Target="../media/image7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197539" y="919686"/>
            <a:ext cx="851059" cy="686372"/>
            <a:chOff x="0" y="0"/>
            <a:chExt cx="1134745" cy="915162"/>
          </a:xfrm>
        </p:grpSpPr>
        <p:sp>
          <p:nvSpPr>
            <p:cNvPr name="Freeform 3" id="3" descr="slide_1_Picture_2.png"/>
            <p:cNvSpPr/>
            <p:nvPr/>
          </p:nvSpPr>
          <p:spPr>
            <a:xfrm flipH="false" flipV="false" rot="0">
              <a:off x="0" y="0"/>
              <a:ext cx="1134745" cy="915162"/>
            </a:xfrm>
            <a:custGeom>
              <a:avLst/>
              <a:gdLst/>
              <a:ahLst/>
              <a:cxnLst/>
              <a:rect r="r" b="b" t="t" l="l"/>
              <a:pathLst>
                <a:path h="915162" w="1134745">
                  <a:moveTo>
                    <a:pt x="0" y="0"/>
                  </a:moveTo>
                  <a:lnTo>
                    <a:pt x="1134745" y="0"/>
                  </a:lnTo>
                  <a:lnTo>
                    <a:pt x="1134745" y="915162"/>
                  </a:lnTo>
                  <a:lnTo>
                    <a:pt x="0" y="915162"/>
                  </a:lnTo>
                  <a:lnTo>
                    <a:pt x="0" y="0"/>
                  </a:lnTo>
                  <a:close/>
                </a:path>
              </a:pathLst>
            </a:custGeom>
            <a:blipFill>
              <a:blip r:embed="rId2"/>
              <a:stretch>
                <a:fillRect l="0" t="-631" r="0" b="-630"/>
              </a:stretch>
            </a:blipFill>
          </p:spPr>
        </p:sp>
      </p:grpSp>
      <p:sp>
        <p:nvSpPr>
          <p:cNvPr name="Freeform 4" id="4"/>
          <p:cNvSpPr/>
          <p:nvPr/>
        </p:nvSpPr>
        <p:spPr>
          <a:xfrm flipH="false" flipV="false" rot="0">
            <a:off x="855869" y="8406660"/>
            <a:ext cx="15506214" cy="1623108"/>
          </a:xfrm>
          <a:custGeom>
            <a:avLst/>
            <a:gdLst/>
            <a:ahLst/>
            <a:cxnLst/>
            <a:rect r="r" b="b" t="t" l="l"/>
            <a:pathLst>
              <a:path h="1623108" w="15506214">
                <a:moveTo>
                  <a:pt x="0" y="0"/>
                </a:moveTo>
                <a:lnTo>
                  <a:pt x="15506214" y="0"/>
                </a:lnTo>
                <a:lnTo>
                  <a:pt x="15506214" y="1623108"/>
                </a:lnTo>
                <a:lnTo>
                  <a:pt x="0" y="162310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118835" y="488061"/>
            <a:ext cx="1556509" cy="1901076"/>
            <a:chOff x="0" y="0"/>
            <a:chExt cx="2075345" cy="2534768"/>
          </a:xfrm>
        </p:grpSpPr>
        <p:sp>
          <p:nvSpPr>
            <p:cNvPr name="Freeform 6" id="6"/>
            <p:cNvSpPr/>
            <p:nvPr/>
          </p:nvSpPr>
          <p:spPr>
            <a:xfrm flipH="false" flipV="false" rot="0">
              <a:off x="0" y="0"/>
              <a:ext cx="2075307" cy="2534793"/>
            </a:xfrm>
            <a:custGeom>
              <a:avLst/>
              <a:gdLst/>
              <a:ahLst/>
              <a:cxnLst/>
              <a:rect r="r" b="b" t="t" l="l"/>
              <a:pathLst>
                <a:path h="2534793" w="2075307">
                  <a:moveTo>
                    <a:pt x="0" y="0"/>
                  </a:moveTo>
                  <a:lnTo>
                    <a:pt x="2075307" y="0"/>
                  </a:lnTo>
                  <a:lnTo>
                    <a:pt x="2075307" y="2534793"/>
                  </a:lnTo>
                  <a:lnTo>
                    <a:pt x="0" y="2534793"/>
                  </a:lnTo>
                  <a:lnTo>
                    <a:pt x="0" y="0"/>
                  </a:lnTo>
                  <a:close/>
                </a:path>
              </a:pathLst>
            </a:custGeom>
            <a:blipFill>
              <a:blip r:embed="rId5"/>
              <a:stretch>
                <a:fillRect l="-70" t="0" r="-72" b="1"/>
              </a:stretch>
            </a:blipFill>
          </p:spPr>
        </p:sp>
      </p:grpSp>
      <p:sp>
        <p:nvSpPr>
          <p:cNvPr name="TextBox 7" id="7"/>
          <p:cNvSpPr txBox="true"/>
          <p:nvPr/>
        </p:nvSpPr>
        <p:spPr>
          <a:xfrm rot="0">
            <a:off x="1118835" y="3790950"/>
            <a:ext cx="9914058" cy="2686050"/>
          </a:xfrm>
          <a:prstGeom prst="rect">
            <a:avLst/>
          </a:prstGeom>
        </p:spPr>
        <p:txBody>
          <a:bodyPr anchor="t" rtlCol="false" tIns="0" lIns="0" bIns="0" rIns="0">
            <a:spAutoFit/>
          </a:bodyPr>
          <a:lstStyle/>
          <a:p>
            <a:pPr algn="l">
              <a:lnSpc>
                <a:spcPts val="5285"/>
              </a:lnSpc>
            </a:pPr>
            <a:r>
              <a:rPr lang="en-US" sz="4404" b="true">
                <a:solidFill>
                  <a:srgbClr val="0F172A"/>
                </a:solidFill>
                <a:latin typeface="Cinzel Bold"/>
                <a:ea typeface="Cinzel Bold"/>
                <a:cs typeface="Cinzel Bold"/>
                <a:sym typeface="Cinzel Bold"/>
              </a:rPr>
              <a:t>Emergency Vehicle Priority Using Traffic Signal Synchronization </a:t>
            </a:r>
          </a:p>
          <a:p>
            <a:pPr algn="l">
              <a:lnSpc>
                <a:spcPts val="2762"/>
              </a:lnSpc>
            </a:pPr>
            <a:r>
              <a:rPr lang="en-US" sz="2301">
                <a:solidFill>
                  <a:srgbClr val="64748B"/>
                </a:solidFill>
                <a:latin typeface="Cinzel"/>
                <a:ea typeface="Cinzel"/>
                <a:cs typeface="Cinzel"/>
                <a:sym typeface="Cinzel"/>
              </a:rPr>
              <a:t>A mathematical approach using the Chinese Remainder Theorem.</a:t>
            </a:r>
          </a:p>
        </p:txBody>
      </p:sp>
      <p:sp>
        <p:nvSpPr>
          <p:cNvPr name="TextBox 8" id="8"/>
          <p:cNvSpPr txBox="true"/>
          <p:nvPr/>
        </p:nvSpPr>
        <p:spPr>
          <a:xfrm rot="0">
            <a:off x="1118835" y="2708081"/>
            <a:ext cx="6669186" cy="1873987"/>
          </a:xfrm>
          <a:prstGeom prst="rect">
            <a:avLst/>
          </a:prstGeom>
        </p:spPr>
        <p:txBody>
          <a:bodyPr anchor="t" rtlCol="false" tIns="0" lIns="0" bIns="0" rIns="0">
            <a:spAutoFit/>
          </a:bodyPr>
          <a:lstStyle/>
          <a:p>
            <a:pPr algn="just">
              <a:lnSpc>
                <a:spcPts val="4858"/>
              </a:lnSpc>
            </a:pPr>
            <a:r>
              <a:rPr lang="en-US" sz="3471" b="true">
                <a:solidFill>
                  <a:srgbClr val="000000"/>
                </a:solidFill>
                <a:latin typeface="Lora Bold"/>
                <a:ea typeface="Lora Bold"/>
                <a:cs typeface="Lora Bold"/>
                <a:sym typeface="Lora Bold"/>
              </a:rPr>
              <a:t>Subject : Discrete Mathematics </a:t>
            </a:r>
          </a:p>
          <a:p>
            <a:pPr algn="just">
              <a:lnSpc>
                <a:spcPts val="4858"/>
              </a:lnSpc>
            </a:pPr>
          </a:p>
          <a:p>
            <a:pPr algn="just">
              <a:lnSpc>
                <a:spcPts val="4858"/>
              </a:lnSpc>
            </a:pPr>
          </a:p>
        </p:txBody>
      </p:sp>
      <p:sp>
        <p:nvSpPr>
          <p:cNvPr name="TextBox 9" id="9"/>
          <p:cNvSpPr txBox="true"/>
          <p:nvPr/>
        </p:nvSpPr>
        <p:spPr>
          <a:xfrm rot="0">
            <a:off x="1118835" y="6814880"/>
            <a:ext cx="9093932" cy="571500"/>
          </a:xfrm>
          <a:prstGeom prst="rect">
            <a:avLst/>
          </a:prstGeom>
        </p:spPr>
        <p:txBody>
          <a:bodyPr anchor="t" rtlCol="false" tIns="0" lIns="0" bIns="0" rIns="0">
            <a:spAutoFit/>
          </a:bodyPr>
          <a:lstStyle/>
          <a:p>
            <a:pPr algn="l">
              <a:lnSpc>
                <a:spcPts val="4295"/>
              </a:lnSpc>
            </a:pPr>
            <a:r>
              <a:rPr lang="en-US" sz="3579" b="true">
                <a:solidFill>
                  <a:srgbClr val="000000"/>
                </a:solidFill>
                <a:latin typeface="Times New Roman Bold"/>
                <a:ea typeface="Times New Roman Bold"/>
                <a:cs typeface="Times New Roman Bold"/>
                <a:sym typeface="Times New Roman Bold"/>
              </a:rPr>
              <a:t>Under the guidance of Prof. S. N. Gunjal</a:t>
            </a:r>
          </a:p>
        </p:txBody>
      </p:sp>
      <p:grpSp>
        <p:nvGrpSpPr>
          <p:cNvPr name="Group 10" id="10"/>
          <p:cNvGrpSpPr/>
          <p:nvPr/>
        </p:nvGrpSpPr>
        <p:grpSpPr>
          <a:xfrm rot="0">
            <a:off x="11113580" y="-358711"/>
            <a:ext cx="7976025" cy="7976025"/>
            <a:chOff x="0" y="0"/>
            <a:chExt cx="10634701" cy="10634701"/>
          </a:xfrm>
        </p:grpSpPr>
        <p:sp>
          <p:nvSpPr>
            <p:cNvPr name="Freeform 11" id="11"/>
            <p:cNvSpPr/>
            <p:nvPr/>
          </p:nvSpPr>
          <p:spPr>
            <a:xfrm flipH="false" flipV="false" rot="0">
              <a:off x="0" y="0"/>
              <a:ext cx="10634726" cy="10634726"/>
            </a:xfrm>
            <a:custGeom>
              <a:avLst/>
              <a:gdLst/>
              <a:ahLst/>
              <a:cxnLst/>
              <a:rect r="r" b="b" t="t" l="l"/>
              <a:pathLst>
                <a:path h="10634726" w="10634726">
                  <a:moveTo>
                    <a:pt x="0" y="5317363"/>
                  </a:moveTo>
                  <a:cubicBezTo>
                    <a:pt x="0" y="2380742"/>
                    <a:pt x="2380742" y="0"/>
                    <a:pt x="5317363" y="0"/>
                  </a:cubicBezTo>
                  <a:cubicBezTo>
                    <a:pt x="8253984" y="0"/>
                    <a:pt x="10634726" y="2380742"/>
                    <a:pt x="10634726" y="5317363"/>
                  </a:cubicBezTo>
                  <a:cubicBezTo>
                    <a:pt x="10634726" y="8253984"/>
                    <a:pt x="8253984" y="10634726"/>
                    <a:pt x="5317363" y="10634726"/>
                  </a:cubicBezTo>
                  <a:cubicBezTo>
                    <a:pt x="2380742" y="10634726"/>
                    <a:pt x="0" y="8253984"/>
                    <a:pt x="0" y="5317363"/>
                  </a:cubicBezTo>
                  <a:close/>
                </a:path>
              </a:pathLst>
            </a:custGeom>
            <a:solidFill>
              <a:srgbClr val="E4F1FD"/>
            </a:solidFill>
          </p:spPr>
        </p:sp>
      </p:grpSp>
      <p:grpSp>
        <p:nvGrpSpPr>
          <p:cNvPr name="Group 12" id="12"/>
          <p:cNvGrpSpPr/>
          <p:nvPr/>
        </p:nvGrpSpPr>
        <p:grpSpPr>
          <a:xfrm rot="0">
            <a:off x="12708779" y="1258653"/>
            <a:ext cx="5206575" cy="5206575"/>
            <a:chOff x="0" y="0"/>
            <a:chExt cx="6942099" cy="6942099"/>
          </a:xfrm>
        </p:grpSpPr>
        <p:sp>
          <p:nvSpPr>
            <p:cNvPr name="Freeform 13" id="13"/>
            <p:cNvSpPr/>
            <p:nvPr/>
          </p:nvSpPr>
          <p:spPr>
            <a:xfrm flipH="false" flipV="false" rot="0">
              <a:off x="0" y="0"/>
              <a:ext cx="6942074" cy="6942074"/>
            </a:xfrm>
            <a:custGeom>
              <a:avLst/>
              <a:gdLst/>
              <a:ahLst/>
              <a:cxnLst/>
              <a:rect r="r" b="b" t="t" l="l"/>
              <a:pathLst>
                <a:path h="6942074" w="6942074">
                  <a:moveTo>
                    <a:pt x="0" y="3471037"/>
                  </a:moveTo>
                  <a:cubicBezTo>
                    <a:pt x="0" y="1554099"/>
                    <a:pt x="1554099" y="0"/>
                    <a:pt x="3471037" y="0"/>
                  </a:cubicBezTo>
                  <a:cubicBezTo>
                    <a:pt x="5387975" y="0"/>
                    <a:pt x="6942074" y="1554099"/>
                    <a:pt x="6942074" y="3471037"/>
                  </a:cubicBezTo>
                  <a:cubicBezTo>
                    <a:pt x="6942074" y="5387975"/>
                    <a:pt x="5387975" y="6942074"/>
                    <a:pt x="3471037" y="6942074"/>
                  </a:cubicBezTo>
                  <a:cubicBezTo>
                    <a:pt x="1554099" y="6942074"/>
                    <a:pt x="0" y="5387975"/>
                    <a:pt x="0" y="3471037"/>
                  </a:cubicBezTo>
                  <a:close/>
                </a:path>
              </a:pathLst>
            </a:custGeom>
            <a:solidFill>
              <a:srgbClr val="CDE5FA"/>
            </a:solidFill>
          </p:spPr>
        </p:sp>
      </p:grpSp>
      <p:sp>
        <p:nvSpPr>
          <p:cNvPr name="TextBox 14" id="14"/>
          <p:cNvSpPr txBox="true"/>
          <p:nvPr/>
        </p:nvSpPr>
        <p:spPr>
          <a:xfrm rot="0">
            <a:off x="3221060" y="962206"/>
            <a:ext cx="11722341" cy="1028700"/>
          </a:xfrm>
          <a:prstGeom prst="rect">
            <a:avLst/>
          </a:prstGeom>
        </p:spPr>
        <p:txBody>
          <a:bodyPr anchor="t" rtlCol="false" tIns="0" lIns="0" bIns="0" rIns="0">
            <a:spAutoFit/>
          </a:bodyPr>
          <a:lstStyle/>
          <a:p>
            <a:pPr algn="l">
              <a:lnSpc>
                <a:spcPts val="4230"/>
              </a:lnSpc>
            </a:pPr>
            <a:r>
              <a:rPr lang="en-US" sz="3525" b="true">
                <a:solidFill>
                  <a:srgbClr val="0F766E"/>
                </a:solidFill>
                <a:latin typeface="Inter Bold"/>
                <a:ea typeface="Inter Bold"/>
                <a:cs typeface="Inter Bold"/>
                <a:sym typeface="Inter Bold"/>
              </a:rPr>
              <a:t>SANJIVANI COLLEGE OF ENGINEERING, KOPARGAON</a:t>
            </a:r>
          </a:p>
          <a:p>
            <a:pPr algn="l">
              <a:lnSpc>
                <a:spcPts val="3960"/>
              </a:lnSpc>
            </a:pPr>
          </a:p>
        </p:txBody>
      </p:sp>
      <p:grpSp>
        <p:nvGrpSpPr>
          <p:cNvPr name="Group 15" id="15"/>
          <p:cNvGrpSpPr/>
          <p:nvPr/>
        </p:nvGrpSpPr>
        <p:grpSpPr>
          <a:xfrm rot="0">
            <a:off x="13041116" y="2244576"/>
            <a:ext cx="1273950" cy="3877237"/>
            <a:chOff x="0" y="0"/>
            <a:chExt cx="1698600" cy="5169649"/>
          </a:xfrm>
        </p:grpSpPr>
        <p:sp>
          <p:nvSpPr>
            <p:cNvPr name="Freeform 16" id="16"/>
            <p:cNvSpPr/>
            <p:nvPr/>
          </p:nvSpPr>
          <p:spPr>
            <a:xfrm flipH="false" flipV="false" rot="0">
              <a:off x="0" y="0"/>
              <a:ext cx="1698625" cy="5169662"/>
            </a:xfrm>
            <a:custGeom>
              <a:avLst/>
              <a:gdLst/>
              <a:ahLst/>
              <a:cxnLst/>
              <a:rect r="r" b="b" t="t" l="l"/>
              <a:pathLst>
                <a:path h="5169662" w="1698625">
                  <a:moveTo>
                    <a:pt x="0" y="203835"/>
                  </a:moveTo>
                  <a:cubicBezTo>
                    <a:pt x="0" y="91313"/>
                    <a:pt x="91313" y="0"/>
                    <a:pt x="203835" y="0"/>
                  </a:cubicBezTo>
                  <a:lnTo>
                    <a:pt x="1494790" y="0"/>
                  </a:lnTo>
                  <a:cubicBezTo>
                    <a:pt x="1607312" y="0"/>
                    <a:pt x="1698625" y="91313"/>
                    <a:pt x="1698625" y="203835"/>
                  </a:cubicBezTo>
                  <a:lnTo>
                    <a:pt x="1698625" y="4965827"/>
                  </a:lnTo>
                  <a:cubicBezTo>
                    <a:pt x="1698625" y="5078476"/>
                    <a:pt x="1607312" y="5169662"/>
                    <a:pt x="1494790" y="5169662"/>
                  </a:cubicBezTo>
                  <a:lnTo>
                    <a:pt x="203835" y="5169662"/>
                  </a:lnTo>
                  <a:cubicBezTo>
                    <a:pt x="91313" y="5169662"/>
                    <a:pt x="0" y="5078349"/>
                    <a:pt x="0" y="4965827"/>
                  </a:cubicBezTo>
                  <a:close/>
                </a:path>
              </a:pathLst>
            </a:custGeom>
            <a:solidFill>
              <a:srgbClr val="0D274E"/>
            </a:solidFill>
          </p:spPr>
        </p:sp>
      </p:grpSp>
      <p:grpSp>
        <p:nvGrpSpPr>
          <p:cNvPr name="Group 17" id="17"/>
          <p:cNvGrpSpPr/>
          <p:nvPr/>
        </p:nvGrpSpPr>
        <p:grpSpPr>
          <a:xfrm rot="0">
            <a:off x="13362375" y="2576913"/>
            <a:ext cx="620354" cy="620354"/>
            <a:chOff x="0" y="0"/>
            <a:chExt cx="827138" cy="827138"/>
          </a:xfrm>
        </p:grpSpPr>
        <p:sp>
          <p:nvSpPr>
            <p:cNvPr name="Freeform 18" id="18"/>
            <p:cNvSpPr/>
            <p:nvPr/>
          </p:nvSpPr>
          <p:spPr>
            <a:xfrm flipH="false" flipV="false" rot="0">
              <a:off x="0" y="0"/>
              <a:ext cx="827151" cy="827151"/>
            </a:xfrm>
            <a:custGeom>
              <a:avLst/>
              <a:gdLst/>
              <a:ahLst/>
              <a:cxnLst/>
              <a:rect r="r" b="b" t="t" l="l"/>
              <a:pathLst>
                <a:path h="827151" w="827151">
                  <a:moveTo>
                    <a:pt x="0" y="413512"/>
                  </a:moveTo>
                  <a:cubicBezTo>
                    <a:pt x="0" y="185166"/>
                    <a:pt x="185166" y="0"/>
                    <a:pt x="413512" y="0"/>
                  </a:cubicBezTo>
                  <a:cubicBezTo>
                    <a:pt x="641858" y="0"/>
                    <a:pt x="827151" y="185166"/>
                    <a:pt x="827151" y="413512"/>
                  </a:cubicBezTo>
                  <a:cubicBezTo>
                    <a:pt x="827151" y="641858"/>
                    <a:pt x="641985" y="827151"/>
                    <a:pt x="413512" y="827151"/>
                  </a:cubicBezTo>
                  <a:cubicBezTo>
                    <a:pt x="185039" y="827151"/>
                    <a:pt x="0" y="641985"/>
                    <a:pt x="0" y="413512"/>
                  </a:cubicBezTo>
                  <a:close/>
                </a:path>
              </a:pathLst>
            </a:custGeom>
            <a:solidFill>
              <a:srgbClr val="C54149"/>
            </a:solidFill>
          </p:spPr>
        </p:sp>
      </p:grpSp>
      <p:grpSp>
        <p:nvGrpSpPr>
          <p:cNvPr name="Group 19" id="19"/>
          <p:cNvGrpSpPr/>
          <p:nvPr/>
        </p:nvGrpSpPr>
        <p:grpSpPr>
          <a:xfrm rot="0">
            <a:off x="13362375" y="3629301"/>
            <a:ext cx="620354" cy="620354"/>
            <a:chOff x="0" y="0"/>
            <a:chExt cx="827138" cy="827138"/>
          </a:xfrm>
        </p:grpSpPr>
        <p:sp>
          <p:nvSpPr>
            <p:cNvPr name="Freeform 20" id="20"/>
            <p:cNvSpPr/>
            <p:nvPr/>
          </p:nvSpPr>
          <p:spPr>
            <a:xfrm flipH="false" flipV="false" rot="0">
              <a:off x="0" y="0"/>
              <a:ext cx="827151" cy="827151"/>
            </a:xfrm>
            <a:custGeom>
              <a:avLst/>
              <a:gdLst/>
              <a:ahLst/>
              <a:cxnLst/>
              <a:rect r="r" b="b" t="t" l="l"/>
              <a:pathLst>
                <a:path h="827151" w="827151">
                  <a:moveTo>
                    <a:pt x="0" y="413512"/>
                  </a:moveTo>
                  <a:cubicBezTo>
                    <a:pt x="0" y="185166"/>
                    <a:pt x="185166" y="0"/>
                    <a:pt x="413512" y="0"/>
                  </a:cubicBezTo>
                  <a:cubicBezTo>
                    <a:pt x="641858" y="0"/>
                    <a:pt x="827151" y="185166"/>
                    <a:pt x="827151" y="413512"/>
                  </a:cubicBezTo>
                  <a:cubicBezTo>
                    <a:pt x="827151" y="641858"/>
                    <a:pt x="641985" y="827151"/>
                    <a:pt x="413512" y="827151"/>
                  </a:cubicBezTo>
                  <a:cubicBezTo>
                    <a:pt x="185039" y="827151"/>
                    <a:pt x="0" y="641985"/>
                    <a:pt x="0" y="413512"/>
                  </a:cubicBezTo>
                  <a:close/>
                </a:path>
              </a:pathLst>
            </a:custGeom>
            <a:solidFill>
              <a:srgbClr val="EB9725"/>
            </a:solidFill>
          </p:spPr>
        </p:sp>
      </p:grpSp>
      <p:grpSp>
        <p:nvGrpSpPr>
          <p:cNvPr name="Group 21" id="21"/>
          <p:cNvGrpSpPr/>
          <p:nvPr/>
        </p:nvGrpSpPr>
        <p:grpSpPr>
          <a:xfrm rot="0">
            <a:off x="13362375" y="4681690"/>
            <a:ext cx="620354" cy="620354"/>
            <a:chOff x="0" y="0"/>
            <a:chExt cx="827138" cy="827138"/>
          </a:xfrm>
        </p:grpSpPr>
        <p:sp>
          <p:nvSpPr>
            <p:cNvPr name="Freeform 22" id="22"/>
            <p:cNvSpPr/>
            <p:nvPr/>
          </p:nvSpPr>
          <p:spPr>
            <a:xfrm flipH="false" flipV="false" rot="0">
              <a:off x="0" y="0"/>
              <a:ext cx="827151" cy="827151"/>
            </a:xfrm>
            <a:custGeom>
              <a:avLst/>
              <a:gdLst/>
              <a:ahLst/>
              <a:cxnLst/>
              <a:rect r="r" b="b" t="t" l="l"/>
              <a:pathLst>
                <a:path h="827151" w="827151">
                  <a:moveTo>
                    <a:pt x="0" y="413512"/>
                  </a:moveTo>
                  <a:cubicBezTo>
                    <a:pt x="0" y="185166"/>
                    <a:pt x="185166" y="0"/>
                    <a:pt x="413512" y="0"/>
                  </a:cubicBezTo>
                  <a:cubicBezTo>
                    <a:pt x="641858" y="0"/>
                    <a:pt x="827151" y="185166"/>
                    <a:pt x="827151" y="413512"/>
                  </a:cubicBezTo>
                  <a:cubicBezTo>
                    <a:pt x="827151" y="641858"/>
                    <a:pt x="641985" y="827151"/>
                    <a:pt x="413512" y="827151"/>
                  </a:cubicBezTo>
                  <a:cubicBezTo>
                    <a:pt x="185039" y="827151"/>
                    <a:pt x="0" y="641985"/>
                    <a:pt x="0" y="413512"/>
                  </a:cubicBezTo>
                  <a:close/>
                </a:path>
              </a:pathLst>
            </a:custGeom>
            <a:solidFill>
              <a:srgbClr val="2B9158"/>
            </a:solidFill>
          </p:spPr>
        </p:sp>
      </p:grpSp>
      <p:grpSp>
        <p:nvGrpSpPr>
          <p:cNvPr name="Group 23" id="23"/>
          <p:cNvGrpSpPr/>
          <p:nvPr/>
        </p:nvGrpSpPr>
        <p:grpSpPr>
          <a:xfrm rot="0">
            <a:off x="13561771" y="6121803"/>
            <a:ext cx="221552" cy="830837"/>
            <a:chOff x="0" y="0"/>
            <a:chExt cx="295402" cy="1107783"/>
          </a:xfrm>
        </p:grpSpPr>
        <p:sp>
          <p:nvSpPr>
            <p:cNvPr name="Freeform 24" id="24"/>
            <p:cNvSpPr/>
            <p:nvPr/>
          </p:nvSpPr>
          <p:spPr>
            <a:xfrm flipH="false" flipV="false" rot="0">
              <a:off x="0" y="0"/>
              <a:ext cx="295402" cy="1107821"/>
            </a:xfrm>
            <a:custGeom>
              <a:avLst/>
              <a:gdLst/>
              <a:ahLst/>
              <a:cxnLst/>
              <a:rect r="r" b="b" t="t" l="l"/>
              <a:pathLst>
                <a:path h="1107821" w="295402">
                  <a:moveTo>
                    <a:pt x="0" y="0"/>
                  </a:moveTo>
                  <a:lnTo>
                    <a:pt x="295402" y="0"/>
                  </a:lnTo>
                  <a:lnTo>
                    <a:pt x="295402" y="1107821"/>
                  </a:lnTo>
                  <a:lnTo>
                    <a:pt x="0" y="1107821"/>
                  </a:lnTo>
                  <a:close/>
                </a:path>
              </a:pathLst>
            </a:custGeom>
            <a:solidFill>
              <a:srgbClr val="0D274E"/>
            </a:solidFill>
          </p:spPr>
        </p:sp>
      </p:grpSp>
      <p:grpSp>
        <p:nvGrpSpPr>
          <p:cNvPr name="Group 25" id="25"/>
          <p:cNvGrpSpPr/>
          <p:nvPr/>
        </p:nvGrpSpPr>
        <p:grpSpPr>
          <a:xfrm rot="0">
            <a:off x="12963573" y="6930485"/>
            <a:ext cx="1440113" cy="177241"/>
            <a:chOff x="0" y="0"/>
            <a:chExt cx="1920151" cy="236322"/>
          </a:xfrm>
        </p:grpSpPr>
        <p:sp>
          <p:nvSpPr>
            <p:cNvPr name="Freeform 26" id="26"/>
            <p:cNvSpPr/>
            <p:nvPr/>
          </p:nvSpPr>
          <p:spPr>
            <a:xfrm flipH="false" flipV="false" rot="0">
              <a:off x="0" y="0"/>
              <a:ext cx="1920113" cy="236347"/>
            </a:xfrm>
            <a:custGeom>
              <a:avLst/>
              <a:gdLst/>
              <a:ahLst/>
              <a:cxnLst/>
              <a:rect r="r" b="b" t="t" l="l"/>
              <a:pathLst>
                <a:path h="236347" w="1920113">
                  <a:moveTo>
                    <a:pt x="0" y="0"/>
                  </a:moveTo>
                  <a:lnTo>
                    <a:pt x="1920113" y="0"/>
                  </a:lnTo>
                  <a:lnTo>
                    <a:pt x="1920113" y="236347"/>
                  </a:lnTo>
                  <a:lnTo>
                    <a:pt x="0" y="236347"/>
                  </a:lnTo>
                  <a:close/>
                </a:path>
              </a:pathLst>
            </a:custGeom>
            <a:solidFill>
              <a:srgbClr val="0D274E"/>
            </a:solidFill>
          </p:spPr>
        </p:sp>
      </p:grpSp>
      <p:grpSp>
        <p:nvGrpSpPr>
          <p:cNvPr name="Group 27" id="27"/>
          <p:cNvGrpSpPr/>
          <p:nvPr/>
        </p:nvGrpSpPr>
        <p:grpSpPr>
          <a:xfrm rot="0">
            <a:off x="14702790" y="6343364"/>
            <a:ext cx="2714063" cy="465268"/>
            <a:chOff x="0" y="0"/>
            <a:chExt cx="3618751" cy="620357"/>
          </a:xfrm>
        </p:grpSpPr>
        <p:sp>
          <p:nvSpPr>
            <p:cNvPr name="Freeform 28" id="28"/>
            <p:cNvSpPr/>
            <p:nvPr/>
          </p:nvSpPr>
          <p:spPr>
            <a:xfrm flipH="false" flipV="false" rot="0">
              <a:off x="0" y="0"/>
              <a:ext cx="3618738" cy="620268"/>
            </a:xfrm>
            <a:custGeom>
              <a:avLst/>
              <a:gdLst/>
              <a:ahLst/>
              <a:cxnLst/>
              <a:rect r="r" b="b" t="t" l="l"/>
              <a:pathLst>
                <a:path h="620268" w="3618738">
                  <a:moveTo>
                    <a:pt x="0" y="74422"/>
                  </a:moveTo>
                  <a:cubicBezTo>
                    <a:pt x="0" y="33274"/>
                    <a:pt x="33274" y="0"/>
                    <a:pt x="74422" y="0"/>
                  </a:cubicBezTo>
                  <a:lnTo>
                    <a:pt x="3544316" y="0"/>
                  </a:lnTo>
                  <a:cubicBezTo>
                    <a:pt x="3585464" y="0"/>
                    <a:pt x="3618738" y="33274"/>
                    <a:pt x="3618738" y="74422"/>
                  </a:cubicBezTo>
                  <a:lnTo>
                    <a:pt x="3618738" y="545846"/>
                  </a:lnTo>
                  <a:cubicBezTo>
                    <a:pt x="3618738" y="586994"/>
                    <a:pt x="3585464" y="620268"/>
                    <a:pt x="3544316" y="620268"/>
                  </a:cubicBezTo>
                  <a:lnTo>
                    <a:pt x="74422" y="620268"/>
                  </a:lnTo>
                  <a:cubicBezTo>
                    <a:pt x="33274" y="620395"/>
                    <a:pt x="0" y="586994"/>
                    <a:pt x="0" y="545846"/>
                  </a:cubicBezTo>
                  <a:close/>
                </a:path>
              </a:pathLst>
            </a:custGeom>
            <a:solidFill>
              <a:srgbClr val="0C4B91"/>
            </a:solidFill>
          </p:spPr>
        </p:sp>
      </p:grpSp>
      <p:grpSp>
        <p:nvGrpSpPr>
          <p:cNvPr name="Group 29" id="29"/>
          <p:cNvGrpSpPr/>
          <p:nvPr/>
        </p:nvGrpSpPr>
        <p:grpSpPr>
          <a:xfrm rot="0">
            <a:off x="14957574" y="6542761"/>
            <a:ext cx="288026" cy="44310"/>
            <a:chOff x="0" y="0"/>
            <a:chExt cx="384035" cy="59080"/>
          </a:xfrm>
        </p:grpSpPr>
        <p:sp>
          <p:nvSpPr>
            <p:cNvPr name="Freeform 30" id="30"/>
            <p:cNvSpPr/>
            <p:nvPr/>
          </p:nvSpPr>
          <p:spPr>
            <a:xfrm flipH="false" flipV="false" rot="0">
              <a:off x="0" y="0"/>
              <a:ext cx="384048" cy="59055"/>
            </a:xfrm>
            <a:custGeom>
              <a:avLst/>
              <a:gdLst/>
              <a:ahLst/>
              <a:cxnLst/>
              <a:rect r="r" b="b" t="t" l="l"/>
              <a:pathLst>
                <a:path h="59055" w="384048">
                  <a:moveTo>
                    <a:pt x="0" y="0"/>
                  </a:moveTo>
                  <a:lnTo>
                    <a:pt x="384048" y="0"/>
                  </a:lnTo>
                  <a:lnTo>
                    <a:pt x="384048" y="59055"/>
                  </a:lnTo>
                  <a:lnTo>
                    <a:pt x="0" y="59055"/>
                  </a:lnTo>
                  <a:close/>
                </a:path>
              </a:pathLst>
            </a:custGeom>
            <a:solidFill>
              <a:srgbClr val="FFFFFF"/>
            </a:solidFill>
          </p:spPr>
        </p:sp>
      </p:grpSp>
      <p:grpSp>
        <p:nvGrpSpPr>
          <p:cNvPr name="Group 31" id="31"/>
          <p:cNvGrpSpPr/>
          <p:nvPr/>
        </p:nvGrpSpPr>
        <p:grpSpPr>
          <a:xfrm rot="0">
            <a:off x="15533618" y="6542761"/>
            <a:ext cx="288026" cy="44310"/>
            <a:chOff x="0" y="0"/>
            <a:chExt cx="384035" cy="59080"/>
          </a:xfrm>
        </p:grpSpPr>
        <p:sp>
          <p:nvSpPr>
            <p:cNvPr name="Freeform 32" id="32"/>
            <p:cNvSpPr/>
            <p:nvPr/>
          </p:nvSpPr>
          <p:spPr>
            <a:xfrm flipH="false" flipV="false" rot="0">
              <a:off x="0" y="0"/>
              <a:ext cx="384048" cy="59055"/>
            </a:xfrm>
            <a:custGeom>
              <a:avLst/>
              <a:gdLst/>
              <a:ahLst/>
              <a:cxnLst/>
              <a:rect r="r" b="b" t="t" l="l"/>
              <a:pathLst>
                <a:path h="59055" w="384048">
                  <a:moveTo>
                    <a:pt x="0" y="0"/>
                  </a:moveTo>
                  <a:lnTo>
                    <a:pt x="384048" y="0"/>
                  </a:lnTo>
                  <a:lnTo>
                    <a:pt x="384048" y="59055"/>
                  </a:lnTo>
                  <a:lnTo>
                    <a:pt x="0" y="59055"/>
                  </a:lnTo>
                  <a:close/>
                </a:path>
              </a:pathLst>
            </a:custGeom>
            <a:solidFill>
              <a:srgbClr val="FFFFFF"/>
            </a:solidFill>
          </p:spPr>
        </p:sp>
      </p:grpSp>
      <p:grpSp>
        <p:nvGrpSpPr>
          <p:cNvPr name="Group 33" id="33"/>
          <p:cNvGrpSpPr/>
          <p:nvPr/>
        </p:nvGrpSpPr>
        <p:grpSpPr>
          <a:xfrm rot="0">
            <a:off x="16109671" y="6542761"/>
            <a:ext cx="288026" cy="44310"/>
            <a:chOff x="0" y="0"/>
            <a:chExt cx="384035" cy="59080"/>
          </a:xfrm>
        </p:grpSpPr>
        <p:sp>
          <p:nvSpPr>
            <p:cNvPr name="Freeform 34" id="34"/>
            <p:cNvSpPr/>
            <p:nvPr/>
          </p:nvSpPr>
          <p:spPr>
            <a:xfrm flipH="false" flipV="false" rot="0">
              <a:off x="0" y="0"/>
              <a:ext cx="384048" cy="59055"/>
            </a:xfrm>
            <a:custGeom>
              <a:avLst/>
              <a:gdLst/>
              <a:ahLst/>
              <a:cxnLst/>
              <a:rect r="r" b="b" t="t" l="l"/>
              <a:pathLst>
                <a:path h="59055" w="384048">
                  <a:moveTo>
                    <a:pt x="0" y="0"/>
                  </a:moveTo>
                  <a:lnTo>
                    <a:pt x="384048" y="0"/>
                  </a:lnTo>
                  <a:lnTo>
                    <a:pt x="384048" y="59055"/>
                  </a:lnTo>
                  <a:lnTo>
                    <a:pt x="0" y="59055"/>
                  </a:lnTo>
                  <a:close/>
                </a:path>
              </a:pathLst>
            </a:custGeom>
            <a:solidFill>
              <a:srgbClr val="FFFFFF"/>
            </a:solidFill>
          </p:spPr>
        </p:sp>
      </p:grpSp>
      <p:grpSp>
        <p:nvGrpSpPr>
          <p:cNvPr name="Group 35" id="35"/>
          <p:cNvGrpSpPr/>
          <p:nvPr/>
        </p:nvGrpSpPr>
        <p:grpSpPr>
          <a:xfrm rot="0">
            <a:off x="16685714" y="6542761"/>
            <a:ext cx="288026" cy="44310"/>
            <a:chOff x="0" y="0"/>
            <a:chExt cx="384035" cy="59080"/>
          </a:xfrm>
        </p:grpSpPr>
        <p:sp>
          <p:nvSpPr>
            <p:cNvPr name="Freeform 36" id="36"/>
            <p:cNvSpPr/>
            <p:nvPr/>
          </p:nvSpPr>
          <p:spPr>
            <a:xfrm flipH="false" flipV="false" rot="0">
              <a:off x="0" y="0"/>
              <a:ext cx="384048" cy="59055"/>
            </a:xfrm>
            <a:custGeom>
              <a:avLst/>
              <a:gdLst/>
              <a:ahLst/>
              <a:cxnLst/>
              <a:rect r="r" b="b" t="t" l="l"/>
              <a:pathLst>
                <a:path h="59055" w="384048">
                  <a:moveTo>
                    <a:pt x="0" y="0"/>
                  </a:moveTo>
                  <a:lnTo>
                    <a:pt x="384048" y="0"/>
                  </a:lnTo>
                  <a:lnTo>
                    <a:pt x="384048" y="59055"/>
                  </a:lnTo>
                  <a:lnTo>
                    <a:pt x="0" y="59055"/>
                  </a:lnTo>
                  <a:close/>
                </a:path>
              </a:pathLst>
            </a:custGeom>
            <a:solidFill>
              <a:srgbClr val="FFFFFF"/>
            </a:solidFill>
          </p:spPr>
        </p:sp>
      </p:grpSp>
      <p:sp>
        <p:nvSpPr>
          <p:cNvPr name="Freeform 37" id="37"/>
          <p:cNvSpPr/>
          <p:nvPr/>
        </p:nvSpPr>
        <p:spPr>
          <a:xfrm flipH="false" flipV="false" rot="0">
            <a:off x="14814547" y="4859922"/>
            <a:ext cx="2324376" cy="1028271"/>
          </a:xfrm>
          <a:custGeom>
            <a:avLst/>
            <a:gdLst/>
            <a:ahLst/>
            <a:cxnLst/>
            <a:rect r="r" b="b" t="t" l="l"/>
            <a:pathLst>
              <a:path h="1028271" w="2324376">
                <a:moveTo>
                  <a:pt x="0" y="0"/>
                </a:moveTo>
                <a:lnTo>
                  <a:pt x="2324376" y="0"/>
                </a:lnTo>
                <a:lnTo>
                  <a:pt x="2324376" y="1028271"/>
                </a:lnTo>
                <a:lnTo>
                  <a:pt x="0" y="10282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38" id="38"/>
          <p:cNvGrpSpPr/>
          <p:nvPr/>
        </p:nvGrpSpPr>
        <p:grpSpPr>
          <a:xfrm rot="0">
            <a:off x="15102564" y="5081473"/>
            <a:ext cx="817797" cy="485461"/>
            <a:chOff x="0" y="0"/>
            <a:chExt cx="1090397" cy="647281"/>
          </a:xfrm>
        </p:grpSpPr>
        <p:sp>
          <p:nvSpPr>
            <p:cNvPr name="Freeform 39" id="39"/>
            <p:cNvSpPr/>
            <p:nvPr/>
          </p:nvSpPr>
          <p:spPr>
            <a:xfrm flipH="false" flipV="false" rot="0">
              <a:off x="0" y="0"/>
              <a:ext cx="1090422" cy="647319"/>
            </a:xfrm>
            <a:custGeom>
              <a:avLst/>
              <a:gdLst/>
              <a:ahLst/>
              <a:cxnLst/>
              <a:rect r="r" b="b" t="t" l="l"/>
              <a:pathLst>
                <a:path h="647319" w="1090422">
                  <a:moveTo>
                    <a:pt x="0" y="0"/>
                  </a:moveTo>
                  <a:lnTo>
                    <a:pt x="1090422" y="0"/>
                  </a:lnTo>
                  <a:lnTo>
                    <a:pt x="1090422" y="647319"/>
                  </a:lnTo>
                  <a:lnTo>
                    <a:pt x="0" y="647319"/>
                  </a:lnTo>
                  <a:close/>
                </a:path>
              </a:pathLst>
            </a:custGeom>
            <a:solidFill>
              <a:srgbClr val="E4F1FD"/>
            </a:solidFill>
            <a:ln w="14288" cap="sq">
              <a:solidFill>
                <a:srgbClr val="0C4B91"/>
              </a:solidFill>
              <a:prstDash val="solid"/>
              <a:miter/>
            </a:ln>
          </p:spPr>
        </p:sp>
      </p:grpSp>
      <p:grpSp>
        <p:nvGrpSpPr>
          <p:cNvPr name="Group 40" id="40"/>
          <p:cNvGrpSpPr/>
          <p:nvPr/>
        </p:nvGrpSpPr>
        <p:grpSpPr>
          <a:xfrm rot="0">
            <a:off x="16099574" y="5081473"/>
            <a:ext cx="551926" cy="485461"/>
            <a:chOff x="0" y="0"/>
            <a:chExt cx="735902" cy="647281"/>
          </a:xfrm>
        </p:grpSpPr>
        <p:sp>
          <p:nvSpPr>
            <p:cNvPr name="Freeform 41" id="41"/>
            <p:cNvSpPr/>
            <p:nvPr/>
          </p:nvSpPr>
          <p:spPr>
            <a:xfrm flipH="false" flipV="false" rot="0">
              <a:off x="0" y="0"/>
              <a:ext cx="735965" cy="647319"/>
            </a:xfrm>
            <a:custGeom>
              <a:avLst/>
              <a:gdLst/>
              <a:ahLst/>
              <a:cxnLst/>
              <a:rect r="r" b="b" t="t" l="l"/>
              <a:pathLst>
                <a:path h="647319" w="735965">
                  <a:moveTo>
                    <a:pt x="0" y="0"/>
                  </a:moveTo>
                  <a:lnTo>
                    <a:pt x="735965" y="0"/>
                  </a:lnTo>
                  <a:lnTo>
                    <a:pt x="735965" y="647319"/>
                  </a:lnTo>
                  <a:lnTo>
                    <a:pt x="0" y="647319"/>
                  </a:lnTo>
                  <a:close/>
                </a:path>
              </a:pathLst>
            </a:custGeom>
            <a:solidFill>
              <a:srgbClr val="E4F1FD"/>
            </a:solidFill>
            <a:ln w="14288" cap="sq">
              <a:solidFill>
                <a:srgbClr val="0C4B91"/>
              </a:solidFill>
              <a:prstDash val="solid"/>
              <a:miter/>
            </a:ln>
          </p:spPr>
        </p:sp>
      </p:grpSp>
      <p:grpSp>
        <p:nvGrpSpPr>
          <p:cNvPr name="Group 42" id="42"/>
          <p:cNvGrpSpPr/>
          <p:nvPr/>
        </p:nvGrpSpPr>
        <p:grpSpPr>
          <a:xfrm rot="0">
            <a:off x="15145903" y="5678691"/>
            <a:ext cx="332337" cy="332337"/>
            <a:chOff x="0" y="0"/>
            <a:chExt cx="443116" cy="443116"/>
          </a:xfrm>
        </p:grpSpPr>
        <p:sp>
          <p:nvSpPr>
            <p:cNvPr name="Freeform 43" id="43"/>
            <p:cNvSpPr/>
            <p:nvPr/>
          </p:nvSpPr>
          <p:spPr>
            <a:xfrm flipH="false" flipV="false" rot="0">
              <a:off x="0" y="0"/>
              <a:ext cx="443103" cy="443103"/>
            </a:xfrm>
            <a:custGeom>
              <a:avLst/>
              <a:gdLst/>
              <a:ahLst/>
              <a:cxnLst/>
              <a:rect r="r" b="b" t="t" l="l"/>
              <a:pathLst>
                <a:path h="443103" w="443103">
                  <a:moveTo>
                    <a:pt x="0" y="221615"/>
                  </a:moveTo>
                  <a:cubicBezTo>
                    <a:pt x="0" y="99187"/>
                    <a:pt x="99187" y="0"/>
                    <a:pt x="221615" y="0"/>
                  </a:cubicBezTo>
                  <a:cubicBezTo>
                    <a:pt x="344043" y="0"/>
                    <a:pt x="443103" y="99187"/>
                    <a:pt x="443103" y="221615"/>
                  </a:cubicBezTo>
                  <a:cubicBezTo>
                    <a:pt x="443103" y="344043"/>
                    <a:pt x="343916" y="443103"/>
                    <a:pt x="221615" y="443103"/>
                  </a:cubicBezTo>
                  <a:cubicBezTo>
                    <a:pt x="99314" y="443103"/>
                    <a:pt x="0" y="343916"/>
                    <a:pt x="0" y="221615"/>
                  </a:cubicBezTo>
                  <a:close/>
                </a:path>
              </a:pathLst>
            </a:custGeom>
            <a:solidFill>
              <a:srgbClr val="0D274E"/>
            </a:solidFill>
          </p:spPr>
        </p:sp>
      </p:grpSp>
      <p:grpSp>
        <p:nvGrpSpPr>
          <p:cNvPr name="Group 44" id="44"/>
          <p:cNvGrpSpPr/>
          <p:nvPr/>
        </p:nvGrpSpPr>
        <p:grpSpPr>
          <a:xfrm rot="0">
            <a:off x="16364455" y="5678691"/>
            <a:ext cx="332337" cy="332337"/>
            <a:chOff x="0" y="0"/>
            <a:chExt cx="443116" cy="443116"/>
          </a:xfrm>
        </p:grpSpPr>
        <p:sp>
          <p:nvSpPr>
            <p:cNvPr name="Freeform 45" id="45"/>
            <p:cNvSpPr/>
            <p:nvPr/>
          </p:nvSpPr>
          <p:spPr>
            <a:xfrm flipH="false" flipV="false" rot="0">
              <a:off x="0" y="0"/>
              <a:ext cx="443103" cy="443103"/>
            </a:xfrm>
            <a:custGeom>
              <a:avLst/>
              <a:gdLst/>
              <a:ahLst/>
              <a:cxnLst/>
              <a:rect r="r" b="b" t="t" l="l"/>
              <a:pathLst>
                <a:path h="443103" w="443103">
                  <a:moveTo>
                    <a:pt x="0" y="221615"/>
                  </a:moveTo>
                  <a:cubicBezTo>
                    <a:pt x="0" y="99187"/>
                    <a:pt x="99187" y="0"/>
                    <a:pt x="221615" y="0"/>
                  </a:cubicBezTo>
                  <a:cubicBezTo>
                    <a:pt x="344043" y="0"/>
                    <a:pt x="443103" y="99187"/>
                    <a:pt x="443103" y="221615"/>
                  </a:cubicBezTo>
                  <a:cubicBezTo>
                    <a:pt x="443103" y="344043"/>
                    <a:pt x="343916" y="443103"/>
                    <a:pt x="221615" y="443103"/>
                  </a:cubicBezTo>
                  <a:cubicBezTo>
                    <a:pt x="99314" y="443103"/>
                    <a:pt x="0" y="343916"/>
                    <a:pt x="0" y="221615"/>
                  </a:cubicBezTo>
                  <a:close/>
                </a:path>
              </a:pathLst>
            </a:custGeom>
            <a:solidFill>
              <a:srgbClr val="0D274E"/>
            </a:solidFill>
          </p:spPr>
        </p:sp>
      </p:grpSp>
      <p:grpSp>
        <p:nvGrpSpPr>
          <p:cNvPr name="Group 46" id="46"/>
          <p:cNvGrpSpPr/>
          <p:nvPr/>
        </p:nvGrpSpPr>
        <p:grpSpPr>
          <a:xfrm rot="0">
            <a:off x="15666558" y="5047259"/>
            <a:ext cx="144008" cy="576043"/>
            <a:chOff x="0" y="0"/>
            <a:chExt cx="192011" cy="768058"/>
          </a:xfrm>
        </p:grpSpPr>
        <p:sp>
          <p:nvSpPr>
            <p:cNvPr name="Freeform 47" id="47"/>
            <p:cNvSpPr/>
            <p:nvPr/>
          </p:nvSpPr>
          <p:spPr>
            <a:xfrm flipH="false" flipV="false" rot="0">
              <a:off x="0" y="0"/>
              <a:ext cx="192024" cy="768096"/>
            </a:xfrm>
            <a:custGeom>
              <a:avLst/>
              <a:gdLst/>
              <a:ahLst/>
              <a:cxnLst/>
              <a:rect r="r" b="b" t="t" l="l"/>
              <a:pathLst>
                <a:path h="768096" w="192024">
                  <a:moveTo>
                    <a:pt x="0" y="0"/>
                  </a:moveTo>
                  <a:lnTo>
                    <a:pt x="192024" y="0"/>
                  </a:lnTo>
                  <a:lnTo>
                    <a:pt x="192024" y="768096"/>
                  </a:lnTo>
                  <a:lnTo>
                    <a:pt x="0" y="768096"/>
                  </a:lnTo>
                  <a:close/>
                </a:path>
              </a:pathLst>
            </a:custGeom>
            <a:solidFill>
              <a:srgbClr val="C54149"/>
            </a:solidFill>
          </p:spPr>
        </p:sp>
      </p:grpSp>
      <p:grpSp>
        <p:nvGrpSpPr>
          <p:cNvPr name="Group 48" id="48"/>
          <p:cNvGrpSpPr/>
          <p:nvPr/>
        </p:nvGrpSpPr>
        <p:grpSpPr>
          <a:xfrm rot="0">
            <a:off x="15444997" y="5268811"/>
            <a:ext cx="576043" cy="144008"/>
            <a:chOff x="0" y="0"/>
            <a:chExt cx="768058" cy="192011"/>
          </a:xfrm>
        </p:grpSpPr>
        <p:sp>
          <p:nvSpPr>
            <p:cNvPr name="Freeform 49" id="49"/>
            <p:cNvSpPr/>
            <p:nvPr/>
          </p:nvSpPr>
          <p:spPr>
            <a:xfrm flipH="false" flipV="false" rot="0">
              <a:off x="0" y="0"/>
              <a:ext cx="768096" cy="192024"/>
            </a:xfrm>
            <a:custGeom>
              <a:avLst/>
              <a:gdLst/>
              <a:ahLst/>
              <a:cxnLst/>
              <a:rect r="r" b="b" t="t" l="l"/>
              <a:pathLst>
                <a:path h="192024" w="768096">
                  <a:moveTo>
                    <a:pt x="0" y="0"/>
                  </a:moveTo>
                  <a:lnTo>
                    <a:pt x="768096" y="0"/>
                  </a:lnTo>
                  <a:lnTo>
                    <a:pt x="768096" y="192024"/>
                  </a:lnTo>
                  <a:lnTo>
                    <a:pt x="0" y="192024"/>
                  </a:lnTo>
                  <a:close/>
                </a:path>
              </a:pathLst>
            </a:custGeom>
            <a:solidFill>
              <a:srgbClr val="C54149"/>
            </a:solidFill>
          </p:spPr>
        </p:sp>
      </p:grpSp>
      <p:sp>
        <p:nvSpPr>
          <p:cNvPr name="TextBox 50" id="50"/>
          <p:cNvSpPr txBox="true"/>
          <p:nvPr/>
        </p:nvSpPr>
        <p:spPr>
          <a:xfrm rot="0">
            <a:off x="12335828" y="7654233"/>
            <a:ext cx="5177028" cy="435731"/>
          </a:xfrm>
          <a:prstGeom prst="rect">
            <a:avLst/>
          </a:prstGeom>
        </p:spPr>
        <p:txBody>
          <a:bodyPr anchor="t" rtlCol="false" tIns="0" lIns="0" bIns="0" rIns="0">
            <a:spAutoFit/>
          </a:bodyPr>
          <a:lstStyle/>
          <a:p>
            <a:pPr algn="ctr">
              <a:lnSpc>
                <a:spcPts val="2326"/>
              </a:lnSpc>
            </a:pPr>
            <a:r>
              <a:rPr lang="en-US" sz="1938" b="true">
                <a:solidFill>
                  <a:srgbClr val="0C4B91"/>
                </a:solidFill>
                <a:latin typeface="Aptos Bold"/>
                <a:ea typeface="Aptos Bold"/>
                <a:cs typeface="Aptos Bold"/>
                <a:sym typeface="Aptos Bold"/>
              </a:rPr>
              <a:t>SMARTER TIMING • FASTER RESPONSE</a:t>
            </a:r>
          </a:p>
        </p:txBody>
      </p:sp>
      <p:sp>
        <p:nvSpPr>
          <p:cNvPr name="TextBox 51" id="51"/>
          <p:cNvSpPr txBox="true"/>
          <p:nvPr/>
        </p:nvSpPr>
        <p:spPr>
          <a:xfrm rot="0">
            <a:off x="1118835" y="7922114"/>
            <a:ext cx="15622648" cy="1752495"/>
          </a:xfrm>
          <a:prstGeom prst="rect">
            <a:avLst/>
          </a:prstGeom>
        </p:spPr>
        <p:txBody>
          <a:bodyPr anchor="t" rtlCol="false" tIns="0" lIns="0" bIns="0" rIns="0">
            <a:spAutoFit/>
          </a:bodyPr>
          <a:lstStyle/>
          <a:p>
            <a:pPr algn="l">
              <a:lnSpc>
                <a:spcPts val="2942"/>
              </a:lnSpc>
            </a:pPr>
            <a:r>
              <a:rPr lang="en-US" sz="2451" b="true">
                <a:solidFill>
                  <a:srgbClr val="64748B"/>
                </a:solidFill>
                <a:latin typeface="Inter Bold"/>
                <a:ea typeface="Inter Bold"/>
                <a:cs typeface="Inter Bold"/>
                <a:sym typeface="Inter Bold"/>
              </a:rPr>
              <a:t>TEAM</a:t>
            </a:r>
          </a:p>
          <a:p>
            <a:pPr algn="l">
              <a:lnSpc>
                <a:spcPts val="2942"/>
              </a:lnSpc>
            </a:pPr>
          </a:p>
          <a:p>
            <a:pPr algn="l">
              <a:lnSpc>
                <a:spcPts val="4902"/>
              </a:lnSpc>
            </a:pPr>
            <a:r>
              <a:rPr lang="en-US" sz="2451" b="true">
                <a:solidFill>
                  <a:srgbClr val="64748B"/>
                </a:solidFill>
                <a:latin typeface="Inter Bold"/>
                <a:ea typeface="Inter Bold"/>
                <a:cs typeface="Inter Bold"/>
                <a:sym typeface="Inter Bold"/>
              </a:rPr>
              <a:t>141   Saish Kale                142  Dnyaneshwari Avhad            143  Rutuja Kharate         157  Pranav Khilari  </a:t>
            </a:r>
          </a:p>
          <a:p>
            <a:pPr algn="l">
              <a:lnSpc>
                <a:spcPts val="2942"/>
              </a:lnSpc>
            </a:pPr>
            <a:r>
              <a:rPr lang="en-US" sz="2451" b="true">
                <a:solidFill>
                  <a:srgbClr val="64748B"/>
                </a:solidFill>
                <a:latin typeface="Inter Bold"/>
                <a:ea typeface="Inter Bold"/>
                <a:cs typeface="Inter Bold"/>
                <a:sym typeface="Inter Bold"/>
              </a:rPr>
              <a:t>0125UCSM1141                0125UCSF1142                                   0125UCSF1143                  0126UCSM2011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31050" y="3959762"/>
            <a:ext cx="8785098" cy="1930460"/>
            <a:chOff x="0" y="0"/>
            <a:chExt cx="11713464" cy="2573947"/>
          </a:xfrm>
        </p:grpSpPr>
        <p:sp>
          <p:nvSpPr>
            <p:cNvPr name="Freeform 3" id="3"/>
            <p:cNvSpPr/>
            <p:nvPr/>
          </p:nvSpPr>
          <p:spPr>
            <a:xfrm flipH="false" flipV="false" rot="0">
              <a:off x="0" y="0"/>
              <a:ext cx="11713464" cy="2573909"/>
            </a:xfrm>
            <a:custGeom>
              <a:avLst/>
              <a:gdLst/>
              <a:ahLst/>
              <a:cxnLst/>
              <a:rect r="r" b="b" t="t" l="l"/>
              <a:pathLst>
                <a:path h="2573909" w="11713464">
                  <a:moveTo>
                    <a:pt x="0" y="205867"/>
                  </a:moveTo>
                  <a:cubicBezTo>
                    <a:pt x="0" y="92202"/>
                    <a:pt x="90424" y="0"/>
                    <a:pt x="202057" y="0"/>
                  </a:cubicBezTo>
                  <a:lnTo>
                    <a:pt x="11511407" y="0"/>
                  </a:lnTo>
                  <a:cubicBezTo>
                    <a:pt x="11623040" y="0"/>
                    <a:pt x="11713464" y="92202"/>
                    <a:pt x="11713464" y="205867"/>
                  </a:cubicBezTo>
                  <a:lnTo>
                    <a:pt x="11713464" y="2368042"/>
                  </a:lnTo>
                  <a:cubicBezTo>
                    <a:pt x="11713464" y="2481834"/>
                    <a:pt x="11623040" y="2573909"/>
                    <a:pt x="11511407" y="2573909"/>
                  </a:cubicBezTo>
                  <a:lnTo>
                    <a:pt x="202057" y="2573909"/>
                  </a:lnTo>
                  <a:cubicBezTo>
                    <a:pt x="90424" y="2573909"/>
                    <a:pt x="0" y="2481707"/>
                    <a:pt x="0" y="2368042"/>
                  </a:cubicBezTo>
                  <a:close/>
                </a:path>
              </a:pathLst>
            </a:custGeom>
            <a:solidFill>
              <a:srgbClr val="FEF2F2"/>
            </a:solidFill>
          </p:spPr>
        </p:sp>
      </p:grpSp>
      <p:grpSp>
        <p:nvGrpSpPr>
          <p:cNvPr name="Group 4" id="4"/>
          <p:cNvGrpSpPr/>
          <p:nvPr/>
        </p:nvGrpSpPr>
        <p:grpSpPr>
          <a:xfrm rot="0">
            <a:off x="1375039" y="4191229"/>
            <a:ext cx="404812" cy="652234"/>
            <a:chOff x="0" y="0"/>
            <a:chExt cx="539750" cy="869645"/>
          </a:xfrm>
        </p:grpSpPr>
        <p:sp>
          <p:nvSpPr>
            <p:cNvPr name="Freeform 5" id="5" descr="slide_3_Picture_4.png"/>
            <p:cNvSpPr/>
            <p:nvPr/>
          </p:nvSpPr>
          <p:spPr>
            <a:xfrm flipH="false" flipV="false" rot="0">
              <a:off x="0" y="0"/>
              <a:ext cx="539750" cy="869696"/>
            </a:xfrm>
            <a:custGeom>
              <a:avLst/>
              <a:gdLst/>
              <a:ahLst/>
              <a:cxnLst/>
              <a:rect r="r" b="b" t="t" l="l"/>
              <a:pathLst>
                <a:path h="869696" w="539750">
                  <a:moveTo>
                    <a:pt x="0" y="0"/>
                  </a:moveTo>
                  <a:lnTo>
                    <a:pt x="539750" y="0"/>
                  </a:lnTo>
                  <a:lnTo>
                    <a:pt x="539750" y="869696"/>
                  </a:lnTo>
                  <a:lnTo>
                    <a:pt x="0" y="869696"/>
                  </a:lnTo>
                  <a:lnTo>
                    <a:pt x="0" y="0"/>
                  </a:lnTo>
                  <a:close/>
                </a:path>
              </a:pathLst>
            </a:custGeom>
            <a:blipFill>
              <a:blip r:embed="rId2"/>
              <a:stretch>
                <a:fillRect l="-880" t="0" r="-879" b="5"/>
              </a:stretch>
            </a:blipFill>
          </p:spPr>
        </p:sp>
      </p:grpSp>
      <p:sp>
        <p:nvSpPr>
          <p:cNvPr name="TextBox 6" id="6"/>
          <p:cNvSpPr txBox="true"/>
          <p:nvPr/>
        </p:nvSpPr>
        <p:spPr>
          <a:xfrm rot="0">
            <a:off x="2138353" y="4129316"/>
            <a:ext cx="7546772" cy="1538288"/>
          </a:xfrm>
          <a:prstGeom prst="rect">
            <a:avLst/>
          </a:prstGeom>
        </p:spPr>
        <p:txBody>
          <a:bodyPr anchor="t" rtlCol="false" tIns="0" lIns="0" bIns="0" rIns="0">
            <a:spAutoFit/>
          </a:bodyPr>
          <a:lstStyle/>
          <a:p>
            <a:pPr algn="l">
              <a:lnSpc>
                <a:spcPts val="3415"/>
              </a:lnSpc>
            </a:pPr>
            <a:r>
              <a:rPr lang="en-US" sz="2846" b="true">
                <a:solidFill>
                  <a:srgbClr val="991B1B"/>
                </a:solidFill>
                <a:latin typeface="Times New Roman Bold"/>
                <a:ea typeface="Times New Roman Bold"/>
                <a:cs typeface="Times New Roman Bold"/>
                <a:sym typeface="Times New Roman Bold"/>
              </a:rPr>
              <a:t>Emergency Vehicles</a:t>
            </a:r>
          </a:p>
          <a:p>
            <a:pPr algn="l">
              <a:lnSpc>
                <a:spcPts val="3054"/>
              </a:lnSpc>
            </a:pPr>
            <a:r>
              <a:rPr lang="en-US" sz="2546">
                <a:solidFill>
                  <a:srgbClr val="991B1B"/>
                </a:solidFill>
                <a:latin typeface="Times New Roman MT"/>
                <a:ea typeface="Times New Roman MT"/>
                <a:cs typeface="Times New Roman MT"/>
                <a:sym typeface="Times New Roman MT"/>
              </a:rPr>
              <a:t>Ambulances, fire trucks, police vehicles and rescue units need quick, safe passage during emergencies.</a:t>
            </a:r>
          </a:p>
          <a:p>
            <a:pPr algn="l">
              <a:lnSpc>
                <a:spcPts val="2291"/>
              </a:lnSpc>
            </a:pPr>
          </a:p>
        </p:txBody>
      </p:sp>
      <p:sp>
        <p:nvSpPr>
          <p:cNvPr name="TextBox 7" id="7"/>
          <p:cNvSpPr txBox="true"/>
          <p:nvPr/>
        </p:nvSpPr>
        <p:spPr>
          <a:xfrm rot="0">
            <a:off x="10593781" y="9014289"/>
            <a:ext cx="7530398" cy="326298"/>
          </a:xfrm>
          <a:prstGeom prst="rect">
            <a:avLst/>
          </a:prstGeom>
        </p:spPr>
        <p:txBody>
          <a:bodyPr anchor="t" rtlCol="false" tIns="0" lIns="0" bIns="0" rIns="0">
            <a:spAutoFit/>
          </a:bodyPr>
          <a:lstStyle/>
          <a:p>
            <a:pPr algn="ctr">
              <a:lnSpc>
                <a:spcPts val="2584"/>
              </a:lnSpc>
            </a:pPr>
            <a:r>
              <a:rPr lang="en-US" sz="2154">
                <a:solidFill>
                  <a:srgbClr val="64748B"/>
                </a:solidFill>
                <a:latin typeface="Inter"/>
                <a:ea typeface="Inter"/>
                <a:cs typeface="Inter"/>
                <a:sym typeface="Inter"/>
              </a:rPr>
              <a:t>Emergency vehicle traversing pre-cleared green corridors</a:t>
            </a:r>
          </a:p>
        </p:txBody>
      </p:sp>
      <p:grpSp>
        <p:nvGrpSpPr>
          <p:cNvPr name="Group 8" id="8"/>
          <p:cNvGrpSpPr/>
          <p:nvPr/>
        </p:nvGrpSpPr>
        <p:grpSpPr>
          <a:xfrm rot="0">
            <a:off x="0" y="212512"/>
            <a:ext cx="18287524" cy="1069848"/>
            <a:chOff x="0" y="0"/>
            <a:chExt cx="24383365" cy="1426464"/>
          </a:xfrm>
        </p:grpSpPr>
        <p:sp>
          <p:nvSpPr>
            <p:cNvPr name="Freeform 9" id="9"/>
            <p:cNvSpPr/>
            <p:nvPr/>
          </p:nvSpPr>
          <p:spPr>
            <a:xfrm flipH="false" flipV="false" rot="0">
              <a:off x="0" y="0"/>
              <a:ext cx="24383364" cy="1426464"/>
            </a:xfrm>
            <a:custGeom>
              <a:avLst/>
              <a:gdLst/>
              <a:ahLst/>
              <a:cxnLst/>
              <a:rect r="r" b="b" t="t" l="l"/>
              <a:pathLst>
                <a:path h="1426464" w="24383364">
                  <a:moveTo>
                    <a:pt x="0" y="0"/>
                  </a:moveTo>
                  <a:lnTo>
                    <a:pt x="24383364" y="0"/>
                  </a:lnTo>
                  <a:lnTo>
                    <a:pt x="24383364" y="1426464"/>
                  </a:lnTo>
                  <a:lnTo>
                    <a:pt x="0" y="1426464"/>
                  </a:lnTo>
                  <a:close/>
                </a:path>
              </a:pathLst>
            </a:custGeom>
            <a:solidFill>
              <a:srgbClr val="115E59"/>
            </a:solidFill>
          </p:spPr>
        </p:sp>
      </p:grpSp>
      <p:grpSp>
        <p:nvGrpSpPr>
          <p:cNvPr name="Group 10" id="10"/>
          <p:cNvGrpSpPr/>
          <p:nvPr/>
        </p:nvGrpSpPr>
        <p:grpSpPr>
          <a:xfrm rot="0">
            <a:off x="16390620" y="212512"/>
            <a:ext cx="713232" cy="1069848"/>
            <a:chOff x="0" y="0"/>
            <a:chExt cx="950976" cy="1426464"/>
          </a:xfrm>
        </p:grpSpPr>
        <p:sp>
          <p:nvSpPr>
            <p:cNvPr name="Freeform 11" id="11"/>
            <p:cNvSpPr/>
            <p:nvPr/>
          </p:nvSpPr>
          <p:spPr>
            <a:xfrm flipH="false" flipV="false" rot="0">
              <a:off x="0" y="0"/>
              <a:ext cx="950976" cy="1426464"/>
            </a:xfrm>
            <a:custGeom>
              <a:avLst/>
              <a:gdLst/>
              <a:ahLst/>
              <a:cxnLst/>
              <a:rect r="r" b="b" t="t" l="l"/>
              <a:pathLst>
                <a:path h="1426464" w="950976">
                  <a:moveTo>
                    <a:pt x="0" y="1426464"/>
                  </a:moveTo>
                  <a:lnTo>
                    <a:pt x="237744" y="0"/>
                  </a:lnTo>
                  <a:lnTo>
                    <a:pt x="950976" y="0"/>
                  </a:lnTo>
                  <a:lnTo>
                    <a:pt x="713232" y="1426464"/>
                  </a:lnTo>
                  <a:close/>
                </a:path>
              </a:pathLst>
            </a:custGeom>
            <a:solidFill>
              <a:srgbClr val="F0FDF4"/>
            </a:solidFill>
          </p:spPr>
        </p:sp>
      </p:grpSp>
      <p:grpSp>
        <p:nvGrpSpPr>
          <p:cNvPr name="Group 12" id="12"/>
          <p:cNvGrpSpPr/>
          <p:nvPr/>
        </p:nvGrpSpPr>
        <p:grpSpPr>
          <a:xfrm rot="0">
            <a:off x="17035272" y="212512"/>
            <a:ext cx="754380" cy="1069848"/>
            <a:chOff x="0" y="0"/>
            <a:chExt cx="1005840" cy="1426464"/>
          </a:xfrm>
        </p:grpSpPr>
        <p:sp>
          <p:nvSpPr>
            <p:cNvPr name="Freeform 13" id="13"/>
            <p:cNvSpPr/>
            <p:nvPr/>
          </p:nvSpPr>
          <p:spPr>
            <a:xfrm flipH="false" flipV="false" rot="0">
              <a:off x="0" y="0"/>
              <a:ext cx="1005840" cy="1426464"/>
            </a:xfrm>
            <a:custGeom>
              <a:avLst/>
              <a:gdLst/>
              <a:ahLst/>
              <a:cxnLst/>
              <a:rect r="r" b="b" t="t" l="l"/>
              <a:pathLst>
                <a:path h="1426464" w="1005840">
                  <a:moveTo>
                    <a:pt x="0" y="1426464"/>
                  </a:moveTo>
                  <a:lnTo>
                    <a:pt x="251460" y="0"/>
                  </a:lnTo>
                  <a:lnTo>
                    <a:pt x="1005840" y="0"/>
                  </a:lnTo>
                  <a:lnTo>
                    <a:pt x="754380" y="1426464"/>
                  </a:lnTo>
                  <a:close/>
                </a:path>
              </a:pathLst>
            </a:custGeom>
            <a:solidFill>
              <a:srgbClr val="9FC7AA"/>
            </a:solidFill>
          </p:spPr>
        </p:sp>
      </p:grpSp>
      <p:grpSp>
        <p:nvGrpSpPr>
          <p:cNvPr name="Group 14" id="14"/>
          <p:cNvGrpSpPr/>
          <p:nvPr/>
        </p:nvGrpSpPr>
        <p:grpSpPr>
          <a:xfrm rot="0">
            <a:off x="0" y="9768249"/>
            <a:ext cx="18287524" cy="516293"/>
            <a:chOff x="0" y="0"/>
            <a:chExt cx="24383365" cy="688391"/>
          </a:xfrm>
        </p:grpSpPr>
        <p:sp>
          <p:nvSpPr>
            <p:cNvPr name="Freeform 15" id="15"/>
            <p:cNvSpPr/>
            <p:nvPr/>
          </p:nvSpPr>
          <p:spPr>
            <a:xfrm flipH="false" flipV="false" rot="0">
              <a:off x="0" y="-23"/>
              <a:ext cx="24383364" cy="688386"/>
            </a:xfrm>
            <a:custGeom>
              <a:avLst/>
              <a:gdLst/>
              <a:ahLst/>
              <a:cxnLst/>
              <a:rect r="r" b="b" t="t" l="l"/>
              <a:pathLst>
                <a:path h="688386" w="24383364">
                  <a:moveTo>
                    <a:pt x="0" y="83589"/>
                  </a:moveTo>
                  <a:cubicBezTo>
                    <a:pt x="8127746" y="-205971"/>
                    <a:pt x="16255619" y="373149"/>
                    <a:pt x="24383364" y="83589"/>
                  </a:cubicBezTo>
                  <a:lnTo>
                    <a:pt x="24383364" y="604797"/>
                  </a:lnTo>
                  <a:cubicBezTo>
                    <a:pt x="16255619" y="894357"/>
                    <a:pt x="8127746" y="315237"/>
                    <a:pt x="0" y="604797"/>
                  </a:cubicBezTo>
                  <a:close/>
                </a:path>
              </a:pathLst>
            </a:custGeom>
            <a:solidFill>
              <a:srgbClr val="9FC7AA"/>
            </a:solidFill>
          </p:spPr>
        </p:sp>
      </p:grpSp>
      <p:grpSp>
        <p:nvGrpSpPr>
          <p:cNvPr name="Group 16" id="16"/>
          <p:cNvGrpSpPr/>
          <p:nvPr/>
        </p:nvGrpSpPr>
        <p:grpSpPr>
          <a:xfrm rot="0">
            <a:off x="1050512" y="325755"/>
            <a:ext cx="14470380" cy="794795"/>
            <a:chOff x="0" y="0"/>
            <a:chExt cx="19293840" cy="1059726"/>
          </a:xfrm>
        </p:grpSpPr>
        <p:sp>
          <p:nvSpPr>
            <p:cNvPr name="Freeform 17" id="17"/>
            <p:cNvSpPr/>
            <p:nvPr/>
          </p:nvSpPr>
          <p:spPr>
            <a:xfrm flipH="false" flipV="false" rot="0">
              <a:off x="0" y="0"/>
              <a:ext cx="19293839" cy="1059688"/>
            </a:xfrm>
            <a:custGeom>
              <a:avLst/>
              <a:gdLst/>
              <a:ahLst/>
              <a:cxnLst/>
              <a:rect r="r" b="b" t="t" l="l"/>
              <a:pathLst>
                <a:path h="1059688" w="19293839">
                  <a:moveTo>
                    <a:pt x="0" y="0"/>
                  </a:moveTo>
                  <a:lnTo>
                    <a:pt x="19293839" y="0"/>
                  </a:lnTo>
                  <a:lnTo>
                    <a:pt x="19293839" y="1059688"/>
                  </a:lnTo>
                  <a:lnTo>
                    <a:pt x="0" y="1059688"/>
                  </a:lnTo>
                  <a:close/>
                </a:path>
              </a:pathLst>
            </a:custGeom>
            <a:blipFill>
              <a:blip r:embed="rId3">
                <a:alphaModFix amt="0"/>
              </a:blip>
              <a:stretch>
                <a:fillRect l="0" t="-304518" r="0" b="-304520"/>
              </a:stretch>
            </a:blipFill>
          </p:spPr>
        </p:sp>
      </p:grpSp>
      <p:grpSp>
        <p:nvGrpSpPr>
          <p:cNvPr name="Group 18" id="18"/>
          <p:cNvGrpSpPr/>
          <p:nvPr/>
        </p:nvGrpSpPr>
        <p:grpSpPr>
          <a:xfrm rot="0">
            <a:off x="1050512" y="311468"/>
            <a:ext cx="14470380" cy="809082"/>
            <a:chOff x="0" y="0"/>
            <a:chExt cx="19293840" cy="1078776"/>
          </a:xfrm>
        </p:grpSpPr>
        <p:sp>
          <p:nvSpPr>
            <p:cNvPr name="Freeform 19" id="19"/>
            <p:cNvSpPr/>
            <p:nvPr/>
          </p:nvSpPr>
          <p:spPr>
            <a:xfrm flipH="false" flipV="false" rot="0">
              <a:off x="0" y="0"/>
              <a:ext cx="19293839" cy="1078771"/>
            </a:xfrm>
            <a:custGeom>
              <a:avLst/>
              <a:gdLst/>
              <a:ahLst/>
              <a:cxnLst/>
              <a:rect r="r" b="b" t="t" l="l"/>
              <a:pathLst>
                <a:path h="1078771" w="19293839">
                  <a:moveTo>
                    <a:pt x="0" y="0"/>
                  </a:moveTo>
                  <a:lnTo>
                    <a:pt x="19293839" y="0"/>
                  </a:lnTo>
                  <a:lnTo>
                    <a:pt x="19293839" y="1078771"/>
                  </a:lnTo>
                  <a:lnTo>
                    <a:pt x="0" y="1078771"/>
                  </a:lnTo>
                  <a:close/>
                </a:path>
              </a:pathLst>
            </a:custGeom>
            <a:blipFill>
              <a:blip r:embed="rId4">
                <a:alphaModFix amt="0"/>
              </a:blip>
              <a:stretch>
                <a:fillRect l="0" t="-298489" r="0" b="-298490"/>
              </a:stretch>
            </a:blipFill>
          </p:spPr>
        </p:sp>
        <p:sp>
          <p:nvSpPr>
            <p:cNvPr name="TextBox 20" id="20"/>
            <p:cNvSpPr txBox="true"/>
            <p:nvPr/>
          </p:nvSpPr>
          <p:spPr>
            <a:xfrm>
              <a:off x="0" y="-19050"/>
              <a:ext cx="19293840" cy="1097826"/>
            </a:xfrm>
            <a:prstGeom prst="rect">
              <a:avLst/>
            </a:prstGeom>
          </p:spPr>
          <p:txBody>
            <a:bodyPr anchor="ctr" rtlCol="false" tIns="0" lIns="0" bIns="0" rIns="0"/>
            <a:lstStyle/>
            <a:p>
              <a:pPr algn="l">
                <a:lnSpc>
                  <a:spcPts val="4798"/>
                </a:lnSpc>
              </a:pPr>
              <a:r>
                <a:rPr lang="en-US" sz="3999" b="true">
                  <a:solidFill>
                    <a:srgbClr val="FFFFFF"/>
                  </a:solidFill>
                  <a:latin typeface="Times New Roman Bold"/>
                  <a:ea typeface="Times New Roman Bold"/>
                  <a:cs typeface="Times New Roman Bold"/>
                  <a:sym typeface="Times New Roman Bold"/>
                </a:rPr>
                <a:t>Introduction &amp; Problem Statement </a:t>
              </a:r>
            </a:p>
          </p:txBody>
        </p:sp>
      </p:grpSp>
      <p:grpSp>
        <p:nvGrpSpPr>
          <p:cNvPr name="Group 21" id="21"/>
          <p:cNvGrpSpPr/>
          <p:nvPr/>
        </p:nvGrpSpPr>
        <p:grpSpPr>
          <a:xfrm rot="0">
            <a:off x="931050" y="1496768"/>
            <a:ext cx="8785098" cy="2243966"/>
            <a:chOff x="0" y="0"/>
            <a:chExt cx="11713464" cy="2991955"/>
          </a:xfrm>
        </p:grpSpPr>
        <p:sp>
          <p:nvSpPr>
            <p:cNvPr name="Freeform 22" id="22"/>
            <p:cNvSpPr/>
            <p:nvPr/>
          </p:nvSpPr>
          <p:spPr>
            <a:xfrm flipH="false" flipV="false" rot="0">
              <a:off x="0" y="0"/>
              <a:ext cx="11713464" cy="2991993"/>
            </a:xfrm>
            <a:custGeom>
              <a:avLst/>
              <a:gdLst/>
              <a:ahLst/>
              <a:cxnLst/>
              <a:rect r="r" b="b" t="t" l="l"/>
              <a:pathLst>
                <a:path h="2991993" w="11713464">
                  <a:moveTo>
                    <a:pt x="0" y="239395"/>
                  </a:moveTo>
                  <a:cubicBezTo>
                    <a:pt x="0" y="107061"/>
                    <a:pt x="90424" y="0"/>
                    <a:pt x="202057" y="0"/>
                  </a:cubicBezTo>
                  <a:lnTo>
                    <a:pt x="11511407" y="0"/>
                  </a:lnTo>
                  <a:cubicBezTo>
                    <a:pt x="11623040" y="0"/>
                    <a:pt x="11713464" y="107061"/>
                    <a:pt x="11713464" y="239395"/>
                  </a:cubicBezTo>
                  <a:lnTo>
                    <a:pt x="11713464" y="2752598"/>
                  </a:lnTo>
                  <a:cubicBezTo>
                    <a:pt x="11713464" y="2884805"/>
                    <a:pt x="11623040" y="2991993"/>
                    <a:pt x="11511407" y="2991993"/>
                  </a:cubicBezTo>
                  <a:lnTo>
                    <a:pt x="202057" y="2991993"/>
                  </a:lnTo>
                  <a:cubicBezTo>
                    <a:pt x="90424" y="2991993"/>
                    <a:pt x="0" y="2884678"/>
                    <a:pt x="0" y="2752598"/>
                  </a:cubicBezTo>
                  <a:close/>
                </a:path>
              </a:pathLst>
            </a:custGeom>
            <a:solidFill>
              <a:srgbClr val="E4F1FD"/>
            </a:solidFill>
          </p:spPr>
        </p:sp>
      </p:grpSp>
      <p:grpSp>
        <p:nvGrpSpPr>
          <p:cNvPr name="Group 23" id="23"/>
          <p:cNvGrpSpPr/>
          <p:nvPr/>
        </p:nvGrpSpPr>
        <p:grpSpPr>
          <a:xfrm rot="0">
            <a:off x="2017185" y="1612459"/>
            <a:ext cx="6443624" cy="657225"/>
            <a:chOff x="0" y="0"/>
            <a:chExt cx="8591499" cy="876300"/>
          </a:xfrm>
        </p:grpSpPr>
        <p:sp>
          <p:nvSpPr>
            <p:cNvPr name="Freeform 24" id="24"/>
            <p:cNvSpPr/>
            <p:nvPr/>
          </p:nvSpPr>
          <p:spPr>
            <a:xfrm flipH="false" flipV="false" rot="0">
              <a:off x="0" y="0"/>
              <a:ext cx="8591550" cy="876300"/>
            </a:xfrm>
            <a:custGeom>
              <a:avLst/>
              <a:gdLst/>
              <a:ahLst/>
              <a:cxnLst/>
              <a:rect r="r" b="b" t="t" l="l"/>
              <a:pathLst>
                <a:path h="876300" w="8591550">
                  <a:moveTo>
                    <a:pt x="0" y="0"/>
                  </a:moveTo>
                  <a:lnTo>
                    <a:pt x="8591550" y="0"/>
                  </a:lnTo>
                  <a:lnTo>
                    <a:pt x="8591550" y="876300"/>
                  </a:lnTo>
                  <a:lnTo>
                    <a:pt x="0" y="876300"/>
                  </a:lnTo>
                  <a:close/>
                </a:path>
              </a:pathLst>
            </a:custGeom>
            <a:blipFill>
              <a:blip r:embed="rId3">
                <a:alphaModFix amt="0"/>
              </a:blip>
              <a:stretch>
                <a:fillRect l="0" t="-140904" r="0" b="-140904"/>
              </a:stretch>
            </a:blipFill>
          </p:spPr>
        </p:sp>
      </p:grpSp>
      <p:grpSp>
        <p:nvGrpSpPr>
          <p:cNvPr name="Group 25" id="25"/>
          <p:cNvGrpSpPr/>
          <p:nvPr/>
        </p:nvGrpSpPr>
        <p:grpSpPr>
          <a:xfrm rot="0">
            <a:off x="2017185" y="1592475"/>
            <a:ext cx="6443624" cy="677208"/>
            <a:chOff x="0" y="0"/>
            <a:chExt cx="8591499" cy="902945"/>
          </a:xfrm>
        </p:grpSpPr>
        <p:sp>
          <p:nvSpPr>
            <p:cNvPr name="Freeform 26" id="26"/>
            <p:cNvSpPr/>
            <p:nvPr/>
          </p:nvSpPr>
          <p:spPr>
            <a:xfrm flipH="false" flipV="false" rot="0">
              <a:off x="0" y="0"/>
              <a:ext cx="8591500" cy="902945"/>
            </a:xfrm>
            <a:custGeom>
              <a:avLst/>
              <a:gdLst/>
              <a:ahLst/>
              <a:cxnLst/>
              <a:rect r="r" b="b" t="t" l="l"/>
              <a:pathLst>
                <a:path h="902945" w="8591500">
                  <a:moveTo>
                    <a:pt x="0" y="0"/>
                  </a:moveTo>
                  <a:lnTo>
                    <a:pt x="8591500" y="0"/>
                  </a:lnTo>
                  <a:lnTo>
                    <a:pt x="8591500" y="902945"/>
                  </a:lnTo>
                  <a:lnTo>
                    <a:pt x="0" y="902945"/>
                  </a:lnTo>
                  <a:close/>
                </a:path>
              </a:pathLst>
            </a:custGeom>
            <a:blipFill>
              <a:blip r:embed="rId4">
                <a:alphaModFix amt="0"/>
              </a:blip>
              <a:stretch>
                <a:fillRect l="0" t="-135399" r="0" b="-135399"/>
              </a:stretch>
            </a:blipFill>
          </p:spPr>
        </p:sp>
        <p:sp>
          <p:nvSpPr>
            <p:cNvPr name="TextBox 27" id="27"/>
            <p:cNvSpPr txBox="true"/>
            <p:nvPr/>
          </p:nvSpPr>
          <p:spPr>
            <a:xfrm>
              <a:off x="0" y="-28575"/>
              <a:ext cx="8591499" cy="931520"/>
            </a:xfrm>
            <a:prstGeom prst="rect">
              <a:avLst/>
            </a:prstGeom>
          </p:spPr>
          <p:txBody>
            <a:bodyPr anchor="ctr" rtlCol="false" tIns="0" lIns="0" bIns="0" rIns="0"/>
            <a:lstStyle/>
            <a:p>
              <a:pPr algn="l">
                <a:lnSpc>
                  <a:spcPts val="3748"/>
                </a:lnSpc>
              </a:pPr>
              <a:r>
                <a:rPr lang="en-US" sz="3123" b="true">
                  <a:solidFill>
                    <a:srgbClr val="0D274E"/>
                  </a:solidFill>
                  <a:latin typeface="Times New Roman Bold"/>
                  <a:ea typeface="Times New Roman Bold"/>
                  <a:cs typeface="Times New Roman Bold"/>
                  <a:sym typeface="Times New Roman Bold"/>
                </a:rPr>
                <a:t>Why it matters</a:t>
              </a:r>
            </a:p>
          </p:txBody>
        </p:sp>
      </p:grpSp>
      <p:sp>
        <p:nvSpPr>
          <p:cNvPr name="TextBox 28" id="28"/>
          <p:cNvSpPr txBox="true"/>
          <p:nvPr/>
        </p:nvSpPr>
        <p:spPr>
          <a:xfrm rot="0">
            <a:off x="1608477" y="2311937"/>
            <a:ext cx="8212712" cy="1219200"/>
          </a:xfrm>
          <a:prstGeom prst="rect">
            <a:avLst/>
          </a:prstGeom>
        </p:spPr>
        <p:txBody>
          <a:bodyPr anchor="t" rtlCol="false" tIns="0" lIns="0" bIns="0" rIns="0">
            <a:spAutoFit/>
          </a:bodyPr>
          <a:lstStyle/>
          <a:p>
            <a:pPr algn="l">
              <a:lnSpc>
                <a:spcPts val="2459"/>
              </a:lnSpc>
            </a:pPr>
            <a:r>
              <a:rPr lang="en-US" sz="2049">
                <a:solidFill>
                  <a:srgbClr val="1B2B3F"/>
                </a:solidFill>
                <a:latin typeface="Lora"/>
                <a:ea typeface="Lora"/>
                <a:cs typeface="Lora"/>
                <a:sym typeface="Lora"/>
              </a:rPr>
              <a:t>1. Emergency vehicles such as ambulances, fire trucks, police vehicles, and rescue units require quick and safe passage during emergencies.</a:t>
            </a:r>
          </a:p>
          <a:p>
            <a:pPr algn="l">
              <a:lnSpc>
                <a:spcPts val="2459"/>
              </a:lnSpc>
            </a:pPr>
            <a:r>
              <a:rPr lang="en-US" sz="2049">
                <a:solidFill>
                  <a:srgbClr val="1B2B3F"/>
                </a:solidFill>
                <a:latin typeface="Lora"/>
                <a:ea typeface="Lora"/>
                <a:cs typeface="Lora"/>
                <a:sym typeface="Lora"/>
              </a:rPr>
              <a:t>2.  Repeated stops can delay critical medical and rescue response.</a:t>
            </a:r>
          </a:p>
        </p:txBody>
      </p:sp>
      <p:grpSp>
        <p:nvGrpSpPr>
          <p:cNvPr name="Group 29" id="29"/>
          <p:cNvGrpSpPr/>
          <p:nvPr/>
        </p:nvGrpSpPr>
        <p:grpSpPr>
          <a:xfrm rot="0">
            <a:off x="1337320" y="1700870"/>
            <a:ext cx="521208" cy="521208"/>
            <a:chOff x="0" y="0"/>
            <a:chExt cx="694944" cy="694944"/>
          </a:xfrm>
        </p:grpSpPr>
        <p:sp>
          <p:nvSpPr>
            <p:cNvPr name="Freeform 30" id="30"/>
            <p:cNvSpPr/>
            <p:nvPr/>
          </p:nvSpPr>
          <p:spPr>
            <a:xfrm flipH="false" flipV="false" rot="0">
              <a:off x="0" y="0"/>
              <a:ext cx="694944" cy="694944"/>
            </a:xfrm>
            <a:custGeom>
              <a:avLst/>
              <a:gdLst/>
              <a:ahLst/>
              <a:cxnLst/>
              <a:rect r="r" b="b" t="t" l="l"/>
              <a:pathLst>
                <a:path h="694944" w="694944">
                  <a:moveTo>
                    <a:pt x="0" y="347472"/>
                  </a:moveTo>
                  <a:cubicBezTo>
                    <a:pt x="0" y="155575"/>
                    <a:pt x="155575" y="0"/>
                    <a:pt x="347472" y="0"/>
                  </a:cubicBezTo>
                  <a:cubicBezTo>
                    <a:pt x="539369" y="0"/>
                    <a:pt x="694944" y="155575"/>
                    <a:pt x="694944" y="347472"/>
                  </a:cubicBezTo>
                  <a:cubicBezTo>
                    <a:pt x="694944" y="539369"/>
                    <a:pt x="539369" y="694944"/>
                    <a:pt x="347472" y="694944"/>
                  </a:cubicBezTo>
                  <a:cubicBezTo>
                    <a:pt x="155575" y="694944"/>
                    <a:pt x="0" y="539369"/>
                    <a:pt x="0" y="347472"/>
                  </a:cubicBezTo>
                  <a:close/>
                </a:path>
              </a:pathLst>
            </a:custGeom>
            <a:solidFill>
              <a:srgbClr val="0C4B91"/>
            </a:solidFill>
          </p:spPr>
        </p:sp>
      </p:grpSp>
      <p:grpSp>
        <p:nvGrpSpPr>
          <p:cNvPr name="Group 31" id="31"/>
          <p:cNvGrpSpPr/>
          <p:nvPr/>
        </p:nvGrpSpPr>
        <p:grpSpPr>
          <a:xfrm rot="0">
            <a:off x="1183738" y="1745599"/>
            <a:ext cx="828370" cy="450799"/>
            <a:chOff x="0" y="0"/>
            <a:chExt cx="1104494" cy="601066"/>
          </a:xfrm>
        </p:grpSpPr>
        <p:sp>
          <p:nvSpPr>
            <p:cNvPr name="Freeform 32" id="32"/>
            <p:cNvSpPr/>
            <p:nvPr/>
          </p:nvSpPr>
          <p:spPr>
            <a:xfrm flipH="false" flipV="false" rot="0">
              <a:off x="0" y="0"/>
              <a:ext cx="1104519" cy="601091"/>
            </a:xfrm>
            <a:custGeom>
              <a:avLst/>
              <a:gdLst/>
              <a:ahLst/>
              <a:cxnLst/>
              <a:rect r="r" b="b" t="t" l="l"/>
              <a:pathLst>
                <a:path h="601091" w="1104519">
                  <a:moveTo>
                    <a:pt x="0" y="0"/>
                  </a:moveTo>
                  <a:lnTo>
                    <a:pt x="1104519" y="0"/>
                  </a:lnTo>
                  <a:lnTo>
                    <a:pt x="1104519" y="601091"/>
                  </a:lnTo>
                  <a:lnTo>
                    <a:pt x="0" y="601091"/>
                  </a:lnTo>
                  <a:close/>
                </a:path>
              </a:pathLst>
            </a:custGeom>
            <a:blipFill>
              <a:blip r:embed="rId3">
                <a:alphaModFix amt="0"/>
              </a:blip>
              <a:stretch>
                <a:fillRect l="-19871" t="0" r="-19868" b="4"/>
              </a:stretch>
            </a:blipFill>
          </p:spPr>
        </p:sp>
      </p:grpSp>
      <p:grpSp>
        <p:nvGrpSpPr>
          <p:cNvPr name="Group 33" id="33"/>
          <p:cNvGrpSpPr/>
          <p:nvPr/>
        </p:nvGrpSpPr>
        <p:grpSpPr>
          <a:xfrm rot="0">
            <a:off x="1183738" y="1745599"/>
            <a:ext cx="828370" cy="450799"/>
            <a:chOff x="0" y="0"/>
            <a:chExt cx="1104494" cy="601066"/>
          </a:xfrm>
        </p:grpSpPr>
        <p:sp>
          <p:nvSpPr>
            <p:cNvPr name="Freeform 34" id="34"/>
            <p:cNvSpPr/>
            <p:nvPr/>
          </p:nvSpPr>
          <p:spPr>
            <a:xfrm flipH="false" flipV="false" rot="0">
              <a:off x="0" y="0"/>
              <a:ext cx="1104497" cy="601067"/>
            </a:xfrm>
            <a:custGeom>
              <a:avLst/>
              <a:gdLst/>
              <a:ahLst/>
              <a:cxnLst/>
              <a:rect r="r" b="b" t="t" l="l"/>
              <a:pathLst>
                <a:path h="601067" w="1104497">
                  <a:moveTo>
                    <a:pt x="0" y="0"/>
                  </a:moveTo>
                  <a:lnTo>
                    <a:pt x="1104497" y="0"/>
                  </a:lnTo>
                  <a:lnTo>
                    <a:pt x="1104497" y="601067"/>
                  </a:lnTo>
                  <a:lnTo>
                    <a:pt x="0" y="601067"/>
                  </a:lnTo>
                  <a:close/>
                </a:path>
              </a:pathLst>
            </a:custGeom>
            <a:blipFill>
              <a:blip r:embed="rId4">
                <a:alphaModFix amt="0"/>
              </a:blip>
              <a:stretch>
                <a:fillRect l="-19822" t="0" r="-19822" b="0"/>
              </a:stretch>
            </a:blipFill>
          </p:spPr>
        </p:sp>
        <p:sp>
          <p:nvSpPr>
            <p:cNvPr name="TextBox 35" id="35"/>
            <p:cNvSpPr txBox="true"/>
            <p:nvPr/>
          </p:nvSpPr>
          <p:spPr>
            <a:xfrm>
              <a:off x="0" y="0"/>
              <a:ext cx="1104494" cy="601066"/>
            </a:xfrm>
            <a:prstGeom prst="rect">
              <a:avLst/>
            </a:prstGeom>
          </p:spPr>
          <p:txBody>
            <a:bodyPr anchor="ctr" rtlCol="false" tIns="0" lIns="0" bIns="0" rIns="0"/>
            <a:lstStyle/>
            <a:p>
              <a:pPr algn="ctr">
                <a:lnSpc>
                  <a:spcPts val="2878"/>
                </a:lnSpc>
              </a:pPr>
              <a:r>
                <a:rPr lang="en-US" sz="2400" b="true">
                  <a:solidFill>
                    <a:srgbClr val="FFFFFF"/>
                  </a:solidFill>
                  <a:latin typeface="Aptos Bold"/>
                  <a:ea typeface="Aptos Bold"/>
                  <a:cs typeface="Aptos Bold"/>
                  <a:sym typeface="Aptos Bold"/>
                </a:rPr>
                <a:t>•</a:t>
              </a:r>
            </a:p>
          </p:txBody>
        </p:sp>
      </p:grpSp>
      <p:grpSp>
        <p:nvGrpSpPr>
          <p:cNvPr name="Group 36" id="36"/>
          <p:cNvGrpSpPr/>
          <p:nvPr/>
        </p:nvGrpSpPr>
        <p:grpSpPr>
          <a:xfrm rot="0">
            <a:off x="931050" y="7742758"/>
            <a:ext cx="8785098" cy="1515589"/>
            <a:chOff x="0" y="0"/>
            <a:chExt cx="11713464" cy="2020786"/>
          </a:xfrm>
        </p:grpSpPr>
        <p:sp>
          <p:nvSpPr>
            <p:cNvPr name="Freeform 37" id="37"/>
            <p:cNvSpPr/>
            <p:nvPr/>
          </p:nvSpPr>
          <p:spPr>
            <a:xfrm flipH="false" flipV="false" rot="0">
              <a:off x="0" y="0"/>
              <a:ext cx="11713464" cy="2020824"/>
            </a:xfrm>
            <a:custGeom>
              <a:avLst/>
              <a:gdLst/>
              <a:ahLst/>
              <a:cxnLst/>
              <a:rect r="r" b="b" t="t" l="l"/>
              <a:pathLst>
                <a:path h="2020824" w="11713464">
                  <a:moveTo>
                    <a:pt x="0" y="161671"/>
                  </a:moveTo>
                  <a:cubicBezTo>
                    <a:pt x="0" y="72390"/>
                    <a:pt x="90424" y="0"/>
                    <a:pt x="202057" y="0"/>
                  </a:cubicBezTo>
                  <a:lnTo>
                    <a:pt x="11511407" y="0"/>
                  </a:lnTo>
                  <a:cubicBezTo>
                    <a:pt x="11623040" y="0"/>
                    <a:pt x="11713464" y="72390"/>
                    <a:pt x="11713464" y="161671"/>
                  </a:cubicBezTo>
                  <a:lnTo>
                    <a:pt x="11713464" y="1859153"/>
                  </a:lnTo>
                  <a:cubicBezTo>
                    <a:pt x="11713464" y="1948434"/>
                    <a:pt x="11623040" y="2020824"/>
                    <a:pt x="11511407" y="2020824"/>
                  </a:cubicBezTo>
                  <a:lnTo>
                    <a:pt x="202057" y="2020824"/>
                  </a:lnTo>
                  <a:cubicBezTo>
                    <a:pt x="90424" y="2020824"/>
                    <a:pt x="0" y="1948307"/>
                    <a:pt x="0" y="1859153"/>
                  </a:cubicBezTo>
                  <a:close/>
                </a:path>
              </a:pathLst>
            </a:custGeom>
            <a:solidFill>
              <a:srgbClr val="F0F9FF"/>
            </a:solidFill>
          </p:spPr>
        </p:sp>
      </p:grpSp>
      <p:grpSp>
        <p:nvGrpSpPr>
          <p:cNvPr name="Group 38" id="38"/>
          <p:cNvGrpSpPr/>
          <p:nvPr/>
        </p:nvGrpSpPr>
        <p:grpSpPr>
          <a:xfrm rot="0">
            <a:off x="1210447" y="7944660"/>
            <a:ext cx="642642" cy="642642"/>
            <a:chOff x="0" y="0"/>
            <a:chExt cx="856856" cy="856856"/>
          </a:xfrm>
        </p:grpSpPr>
        <p:sp>
          <p:nvSpPr>
            <p:cNvPr name="Freeform 39" id="39" descr="slide_3_Picture_6.png"/>
            <p:cNvSpPr/>
            <p:nvPr/>
          </p:nvSpPr>
          <p:spPr>
            <a:xfrm flipH="false" flipV="false" rot="0">
              <a:off x="0" y="0"/>
              <a:ext cx="856869" cy="856869"/>
            </a:xfrm>
            <a:custGeom>
              <a:avLst/>
              <a:gdLst/>
              <a:ahLst/>
              <a:cxnLst/>
              <a:rect r="r" b="b" t="t" l="l"/>
              <a:pathLst>
                <a:path h="856869" w="856869">
                  <a:moveTo>
                    <a:pt x="0" y="0"/>
                  </a:moveTo>
                  <a:lnTo>
                    <a:pt x="856869" y="0"/>
                  </a:lnTo>
                  <a:lnTo>
                    <a:pt x="856869" y="856869"/>
                  </a:lnTo>
                  <a:lnTo>
                    <a:pt x="0" y="856869"/>
                  </a:lnTo>
                  <a:lnTo>
                    <a:pt x="0" y="0"/>
                  </a:lnTo>
                  <a:close/>
                </a:path>
              </a:pathLst>
            </a:custGeom>
            <a:blipFill>
              <a:blip r:embed="rId5"/>
              <a:stretch>
                <a:fillRect l="0" t="-892" r="1" b="-892"/>
              </a:stretch>
            </a:blipFill>
          </p:spPr>
        </p:sp>
      </p:grpSp>
      <p:sp>
        <p:nvSpPr>
          <p:cNvPr name="TextBox 40" id="40"/>
          <p:cNvSpPr txBox="true"/>
          <p:nvPr/>
        </p:nvSpPr>
        <p:spPr>
          <a:xfrm rot="0">
            <a:off x="2169385" y="7880737"/>
            <a:ext cx="7000627" cy="1257262"/>
          </a:xfrm>
          <a:prstGeom prst="rect">
            <a:avLst/>
          </a:prstGeom>
        </p:spPr>
        <p:txBody>
          <a:bodyPr anchor="t" rtlCol="false" tIns="0" lIns="0" bIns="0" rIns="0">
            <a:spAutoFit/>
          </a:bodyPr>
          <a:lstStyle/>
          <a:p>
            <a:pPr algn="l">
              <a:lnSpc>
                <a:spcPts val="2970"/>
              </a:lnSpc>
            </a:pPr>
            <a:r>
              <a:rPr lang="en-US" sz="2475" b="true">
                <a:solidFill>
                  <a:srgbClr val="0369A1"/>
                </a:solidFill>
                <a:latin typeface="Lora Bold"/>
                <a:ea typeface="Lora Bold"/>
                <a:cs typeface="Lora Bold"/>
                <a:sym typeface="Lora Bold"/>
              </a:rPr>
              <a:t>CRT-Based Green Corridor</a:t>
            </a:r>
          </a:p>
          <a:p>
            <a:pPr algn="l">
              <a:lnSpc>
                <a:spcPts val="2340"/>
              </a:lnSpc>
            </a:pPr>
            <a:r>
              <a:rPr lang="en-US" sz="1950">
                <a:solidFill>
                  <a:srgbClr val="075985"/>
                </a:solidFill>
                <a:latin typeface="Lora"/>
                <a:ea typeface="Lora"/>
                <a:cs typeface="Lora"/>
                <a:sym typeface="Lora"/>
              </a:rPr>
              <a:t>The Chinese Remainder Theorem (CRT) helps calculate suitable departure times to coordinate green signals along the route.</a:t>
            </a:r>
          </a:p>
        </p:txBody>
      </p:sp>
      <p:grpSp>
        <p:nvGrpSpPr>
          <p:cNvPr name="Group 41" id="41"/>
          <p:cNvGrpSpPr/>
          <p:nvPr/>
        </p:nvGrpSpPr>
        <p:grpSpPr>
          <a:xfrm rot="0">
            <a:off x="931050" y="6041631"/>
            <a:ext cx="8785098" cy="1468850"/>
            <a:chOff x="0" y="0"/>
            <a:chExt cx="11713464" cy="1958467"/>
          </a:xfrm>
        </p:grpSpPr>
        <p:sp>
          <p:nvSpPr>
            <p:cNvPr name="Freeform 42" id="42"/>
            <p:cNvSpPr/>
            <p:nvPr/>
          </p:nvSpPr>
          <p:spPr>
            <a:xfrm flipH="false" flipV="false" rot="0">
              <a:off x="0" y="0"/>
              <a:ext cx="11713464" cy="1958467"/>
            </a:xfrm>
            <a:custGeom>
              <a:avLst/>
              <a:gdLst/>
              <a:ahLst/>
              <a:cxnLst/>
              <a:rect r="r" b="b" t="t" l="l"/>
              <a:pathLst>
                <a:path h="1958467" w="11713464">
                  <a:moveTo>
                    <a:pt x="0" y="156718"/>
                  </a:moveTo>
                  <a:cubicBezTo>
                    <a:pt x="0" y="70104"/>
                    <a:pt x="90424" y="0"/>
                    <a:pt x="202057" y="0"/>
                  </a:cubicBezTo>
                  <a:lnTo>
                    <a:pt x="11511407" y="0"/>
                  </a:lnTo>
                  <a:cubicBezTo>
                    <a:pt x="11623040" y="0"/>
                    <a:pt x="11713464" y="70104"/>
                    <a:pt x="11713464" y="156718"/>
                  </a:cubicBezTo>
                  <a:lnTo>
                    <a:pt x="11713464" y="1801749"/>
                  </a:lnTo>
                  <a:cubicBezTo>
                    <a:pt x="11713464" y="1888363"/>
                    <a:pt x="11623040" y="1958467"/>
                    <a:pt x="11511407" y="1958467"/>
                  </a:cubicBezTo>
                  <a:lnTo>
                    <a:pt x="202057" y="1958467"/>
                  </a:lnTo>
                  <a:cubicBezTo>
                    <a:pt x="90424" y="1958467"/>
                    <a:pt x="0" y="1888236"/>
                    <a:pt x="0" y="1801749"/>
                  </a:cubicBezTo>
                  <a:close/>
                </a:path>
              </a:pathLst>
            </a:custGeom>
            <a:solidFill>
              <a:srgbClr val="FFF7ED"/>
            </a:solidFill>
          </p:spPr>
        </p:sp>
      </p:grpSp>
      <p:grpSp>
        <p:nvGrpSpPr>
          <p:cNvPr name="Group 43" id="43"/>
          <p:cNvGrpSpPr/>
          <p:nvPr/>
        </p:nvGrpSpPr>
        <p:grpSpPr>
          <a:xfrm rot="0">
            <a:off x="1262977" y="6184506"/>
            <a:ext cx="578968" cy="578968"/>
            <a:chOff x="0" y="0"/>
            <a:chExt cx="771957" cy="771957"/>
          </a:xfrm>
        </p:grpSpPr>
        <p:sp>
          <p:nvSpPr>
            <p:cNvPr name="Freeform 44" id="44" descr="slide_3_Picture_5.png"/>
            <p:cNvSpPr/>
            <p:nvPr/>
          </p:nvSpPr>
          <p:spPr>
            <a:xfrm flipH="false" flipV="false" rot="0">
              <a:off x="0" y="0"/>
              <a:ext cx="771906" cy="771906"/>
            </a:xfrm>
            <a:custGeom>
              <a:avLst/>
              <a:gdLst/>
              <a:ahLst/>
              <a:cxnLst/>
              <a:rect r="r" b="b" t="t" l="l"/>
              <a:pathLst>
                <a:path h="771906" w="771906">
                  <a:moveTo>
                    <a:pt x="0" y="0"/>
                  </a:moveTo>
                  <a:lnTo>
                    <a:pt x="771906" y="0"/>
                  </a:lnTo>
                  <a:lnTo>
                    <a:pt x="771906" y="771906"/>
                  </a:lnTo>
                  <a:lnTo>
                    <a:pt x="0" y="771906"/>
                  </a:lnTo>
                  <a:lnTo>
                    <a:pt x="0" y="0"/>
                  </a:lnTo>
                  <a:close/>
                </a:path>
              </a:pathLst>
            </a:custGeom>
            <a:blipFill>
              <a:blip r:embed="rId6"/>
              <a:stretch>
                <a:fillRect l="0" t="-893" r="-6" b="-899"/>
              </a:stretch>
            </a:blipFill>
          </p:spPr>
        </p:sp>
      </p:grpSp>
      <p:sp>
        <p:nvSpPr>
          <p:cNvPr name="TextBox 45" id="45"/>
          <p:cNvSpPr txBox="true"/>
          <p:nvPr/>
        </p:nvSpPr>
        <p:spPr>
          <a:xfrm rot="0">
            <a:off x="2105358" y="6051156"/>
            <a:ext cx="7219702" cy="1295362"/>
          </a:xfrm>
          <a:prstGeom prst="rect">
            <a:avLst/>
          </a:prstGeom>
        </p:spPr>
        <p:txBody>
          <a:bodyPr anchor="t" rtlCol="false" tIns="0" lIns="0" bIns="0" rIns="0">
            <a:spAutoFit/>
          </a:bodyPr>
          <a:lstStyle/>
          <a:p>
            <a:pPr algn="l">
              <a:lnSpc>
                <a:spcPts val="3092"/>
              </a:lnSpc>
            </a:pPr>
            <a:r>
              <a:rPr lang="en-US" sz="2576" b="true">
                <a:solidFill>
                  <a:srgbClr val="C2410C"/>
                </a:solidFill>
                <a:latin typeface="Lora Bold"/>
                <a:ea typeface="Lora Bold"/>
                <a:cs typeface="Lora Bold"/>
                <a:sym typeface="Lora Bold"/>
              </a:rPr>
              <a:t>Signal Delays</a:t>
            </a:r>
          </a:p>
          <a:p>
            <a:pPr algn="l">
              <a:lnSpc>
                <a:spcPts val="2459"/>
              </a:lnSpc>
            </a:pPr>
            <a:r>
              <a:rPr lang="en-US" sz="2051">
                <a:solidFill>
                  <a:srgbClr val="9A3412"/>
                </a:solidFill>
                <a:latin typeface="Lora"/>
                <a:ea typeface="Lora"/>
                <a:cs typeface="Lora"/>
                <a:sym typeface="Lora"/>
              </a:rPr>
              <a:t>Independent traffic signals and different cycle times can cause repeated stops and increase emergency response time.</a:t>
            </a:r>
          </a:p>
        </p:txBody>
      </p:sp>
      <p:sp>
        <p:nvSpPr>
          <p:cNvPr name="Freeform 46" id="46"/>
          <p:cNvSpPr/>
          <p:nvPr/>
        </p:nvSpPr>
        <p:spPr>
          <a:xfrm flipH="false" flipV="false" rot="0">
            <a:off x="10042970" y="1812788"/>
            <a:ext cx="8111223" cy="6605540"/>
          </a:xfrm>
          <a:custGeom>
            <a:avLst/>
            <a:gdLst/>
            <a:ahLst/>
            <a:cxnLst/>
            <a:rect r="r" b="b" t="t" l="l"/>
            <a:pathLst>
              <a:path h="6605540" w="8111223">
                <a:moveTo>
                  <a:pt x="0" y="0"/>
                </a:moveTo>
                <a:lnTo>
                  <a:pt x="8111223" y="0"/>
                </a:lnTo>
                <a:lnTo>
                  <a:pt x="8111223" y="6605540"/>
                </a:lnTo>
                <a:lnTo>
                  <a:pt x="0" y="6605540"/>
                </a:lnTo>
                <a:lnTo>
                  <a:pt x="0" y="0"/>
                </a:lnTo>
                <a:close/>
              </a:path>
            </a:pathLst>
          </a:custGeom>
          <a:blipFill>
            <a:blip r:embed="rId7">
              <a:extLst>
                <a:ext uri="{96DAC541-7B7A-43D3-8B79-37D633B846F1}">
                  <asvg:svgBlip xmlns:asvg="http://schemas.microsoft.com/office/drawing/2016/SVG/main" r:embed="rId8"/>
                </a:ext>
              </a:extLst>
            </a:blip>
            <a:stretch>
              <a:fillRect l="0" t="-83" r="0" b="-83"/>
            </a:stretch>
          </a:blipFill>
        </p:spPr>
      </p:sp>
      <p:sp>
        <p:nvSpPr>
          <p:cNvPr name="TextBox 47" id="47"/>
          <p:cNvSpPr txBox="true"/>
          <p:nvPr/>
        </p:nvSpPr>
        <p:spPr>
          <a:xfrm rot="0">
            <a:off x="10240470" y="2509847"/>
            <a:ext cx="7249754" cy="5572087"/>
          </a:xfrm>
          <a:prstGeom prst="rect">
            <a:avLst/>
          </a:prstGeom>
        </p:spPr>
        <p:txBody>
          <a:bodyPr anchor="t" rtlCol="false" tIns="0" lIns="0" bIns="0" rIns="0">
            <a:spAutoFit/>
          </a:bodyPr>
          <a:lstStyle/>
          <a:p>
            <a:pPr algn="l" marL="566512" indent="-188837" lvl="2">
              <a:lnSpc>
                <a:spcPts val="2973"/>
              </a:lnSpc>
              <a:buFont typeface="Arial"/>
              <a:buChar char="⚬"/>
            </a:pPr>
            <a:r>
              <a:rPr lang="en-US" sz="2478">
                <a:solidFill>
                  <a:srgbClr val="536577"/>
                </a:solidFill>
                <a:latin typeface="Lora"/>
                <a:ea typeface="Lora"/>
                <a:cs typeface="Lora"/>
                <a:sym typeface="Lora"/>
              </a:rPr>
              <a:t>Emergency Vehicle Priority Using Traffic Signal Synchronization (CRT-Based) </a:t>
            </a:r>
          </a:p>
          <a:p>
            <a:pPr algn="l" marL="566512" indent="-188837" lvl="2">
              <a:lnSpc>
                <a:spcPts val="2973"/>
              </a:lnSpc>
            </a:pPr>
          </a:p>
          <a:p>
            <a:pPr algn="l" marL="566512" indent="-188837" lvl="2">
              <a:lnSpc>
                <a:spcPts val="2973"/>
              </a:lnSpc>
              <a:buFont typeface="Arial"/>
              <a:buChar char="⚬"/>
            </a:pPr>
            <a:r>
              <a:rPr lang="en-US" sz="2478">
                <a:solidFill>
                  <a:srgbClr val="536577"/>
                </a:solidFill>
                <a:latin typeface="Lora"/>
                <a:ea typeface="Lora"/>
                <a:cs typeface="Lora"/>
                <a:sym typeface="Lora"/>
              </a:rPr>
              <a:t>This mini-project demonstrates how the Chinese Remainder Theorem (CRT) can be applied to real-time traffic signal control to give priority to emergency vehicles (ambulances, fire trucks, VIP convoys).</a:t>
            </a:r>
          </a:p>
          <a:p>
            <a:pPr algn="l" marL="566512" indent="-188837" lvl="2">
              <a:lnSpc>
                <a:spcPts val="2973"/>
              </a:lnSpc>
            </a:pPr>
          </a:p>
          <a:p>
            <a:pPr algn="l" marL="566512" indent="-188837" lvl="2">
              <a:lnSpc>
                <a:spcPts val="2973"/>
              </a:lnSpc>
              <a:buFont typeface="Arial"/>
              <a:buChar char="⚬"/>
            </a:pPr>
            <a:r>
              <a:rPr lang="en-US" sz="2478">
                <a:solidFill>
                  <a:srgbClr val="536577"/>
                </a:solidFill>
                <a:latin typeface="Lora"/>
                <a:ea typeface="Lora"/>
                <a:cs typeface="Lora"/>
                <a:sym typeface="Lora"/>
              </a:rPr>
              <a:t>By modeling traffic light cycles as modular congruences, the project calculates the optimal green signal timings along a route, allowing emergency vehicles to move without unnecessary stops, while still maintaining overall traffic flow.</a:t>
            </a:r>
          </a:p>
        </p:txBody>
      </p:sp>
      <p:grpSp>
        <p:nvGrpSpPr>
          <p:cNvPr name="Group 48" id="48"/>
          <p:cNvGrpSpPr/>
          <p:nvPr/>
        </p:nvGrpSpPr>
        <p:grpSpPr>
          <a:xfrm rot="0">
            <a:off x="10446715" y="1793224"/>
            <a:ext cx="6307188" cy="686219"/>
            <a:chOff x="0" y="0"/>
            <a:chExt cx="8409584" cy="914959"/>
          </a:xfrm>
        </p:grpSpPr>
        <p:sp>
          <p:nvSpPr>
            <p:cNvPr name="Freeform 49" id="49"/>
            <p:cNvSpPr/>
            <p:nvPr/>
          </p:nvSpPr>
          <p:spPr>
            <a:xfrm flipH="false" flipV="false" rot="0">
              <a:off x="0" y="0"/>
              <a:ext cx="8409559" cy="914908"/>
            </a:xfrm>
            <a:custGeom>
              <a:avLst/>
              <a:gdLst/>
              <a:ahLst/>
              <a:cxnLst/>
              <a:rect r="r" b="b" t="t" l="l"/>
              <a:pathLst>
                <a:path h="914908" w="8409559">
                  <a:moveTo>
                    <a:pt x="0" y="0"/>
                  </a:moveTo>
                  <a:lnTo>
                    <a:pt x="8409559" y="0"/>
                  </a:lnTo>
                  <a:lnTo>
                    <a:pt x="8409559" y="914908"/>
                  </a:lnTo>
                  <a:lnTo>
                    <a:pt x="0" y="914908"/>
                  </a:lnTo>
                  <a:close/>
                </a:path>
              </a:pathLst>
            </a:custGeom>
            <a:blipFill>
              <a:blip r:embed="rId3">
                <a:alphaModFix amt="0"/>
              </a:blip>
              <a:stretch>
                <a:fillRect l="0" t="-128974" r="0" b="-128979"/>
              </a:stretch>
            </a:blipFill>
          </p:spPr>
        </p:sp>
      </p:grpSp>
      <p:grpSp>
        <p:nvGrpSpPr>
          <p:cNvPr name="Group 50" id="50"/>
          <p:cNvGrpSpPr/>
          <p:nvPr/>
        </p:nvGrpSpPr>
        <p:grpSpPr>
          <a:xfrm rot="0">
            <a:off x="10446715" y="1772250"/>
            <a:ext cx="6307188" cy="707193"/>
            <a:chOff x="0" y="0"/>
            <a:chExt cx="8409584" cy="942924"/>
          </a:xfrm>
        </p:grpSpPr>
        <p:sp>
          <p:nvSpPr>
            <p:cNvPr name="Freeform 51" id="51"/>
            <p:cNvSpPr/>
            <p:nvPr/>
          </p:nvSpPr>
          <p:spPr>
            <a:xfrm flipH="false" flipV="false" rot="0">
              <a:off x="0" y="0"/>
              <a:ext cx="8409588" cy="942924"/>
            </a:xfrm>
            <a:custGeom>
              <a:avLst/>
              <a:gdLst/>
              <a:ahLst/>
              <a:cxnLst/>
              <a:rect r="r" b="b" t="t" l="l"/>
              <a:pathLst>
                <a:path h="942924" w="8409588">
                  <a:moveTo>
                    <a:pt x="0" y="0"/>
                  </a:moveTo>
                  <a:lnTo>
                    <a:pt x="8409588" y="0"/>
                  </a:lnTo>
                  <a:lnTo>
                    <a:pt x="8409588" y="942924"/>
                  </a:lnTo>
                  <a:lnTo>
                    <a:pt x="0" y="942924"/>
                  </a:lnTo>
                  <a:close/>
                </a:path>
              </a:pathLst>
            </a:custGeom>
            <a:blipFill>
              <a:blip r:embed="rId4">
                <a:alphaModFix amt="0"/>
              </a:blip>
              <a:stretch>
                <a:fillRect l="0" t="-123779" r="0" b="-123779"/>
              </a:stretch>
            </a:blipFill>
          </p:spPr>
        </p:sp>
        <p:sp>
          <p:nvSpPr>
            <p:cNvPr name="TextBox 52" id="52"/>
            <p:cNvSpPr txBox="true"/>
            <p:nvPr/>
          </p:nvSpPr>
          <p:spPr>
            <a:xfrm>
              <a:off x="0" y="-28575"/>
              <a:ext cx="8409584" cy="971499"/>
            </a:xfrm>
            <a:prstGeom prst="rect">
              <a:avLst/>
            </a:prstGeom>
          </p:spPr>
          <p:txBody>
            <a:bodyPr anchor="ctr" rtlCol="false" tIns="0" lIns="0" bIns="0" rIns="0"/>
            <a:lstStyle/>
            <a:p>
              <a:pPr algn="l">
                <a:lnSpc>
                  <a:spcPts val="4109"/>
                </a:lnSpc>
              </a:pPr>
              <a:r>
                <a:rPr lang="en-US" sz="3423" b="true">
                  <a:solidFill>
                    <a:srgbClr val="0D274E"/>
                  </a:solidFill>
                  <a:latin typeface="Times New Roman Bold"/>
                  <a:ea typeface="Times New Roman Bold"/>
                  <a:cs typeface="Times New Roman Bold"/>
                  <a:sym typeface="Times New Roman Bold"/>
                </a:rPr>
                <a:t>Problem Statement </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37094" y="3140850"/>
            <a:ext cx="5022275" cy="5731345"/>
            <a:chOff x="0" y="0"/>
            <a:chExt cx="6696367" cy="7641793"/>
          </a:xfrm>
        </p:grpSpPr>
        <p:sp>
          <p:nvSpPr>
            <p:cNvPr name="Freeform 3" id="3"/>
            <p:cNvSpPr/>
            <p:nvPr/>
          </p:nvSpPr>
          <p:spPr>
            <a:xfrm flipH="false" flipV="false" rot="0">
              <a:off x="0" y="0"/>
              <a:ext cx="6696328" cy="7641844"/>
            </a:xfrm>
            <a:custGeom>
              <a:avLst/>
              <a:gdLst/>
              <a:ahLst/>
              <a:cxnLst/>
              <a:rect r="r" b="b" t="t" l="l"/>
              <a:pathLst>
                <a:path h="7641844" w="6696328">
                  <a:moveTo>
                    <a:pt x="0" y="611251"/>
                  </a:moveTo>
                  <a:cubicBezTo>
                    <a:pt x="0" y="273685"/>
                    <a:pt x="86233" y="0"/>
                    <a:pt x="192659" y="0"/>
                  </a:cubicBezTo>
                  <a:lnTo>
                    <a:pt x="6503670" y="0"/>
                  </a:lnTo>
                  <a:cubicBezTo>
                    <a:pt x="6610096" y="0"/>
                    <a:pt x="6696328" y="273685"/>
                    <a:pt x="6696328" y="611251"/>
                  </a:cubicBezTo>
                  <a:lnTo>
                    <a:pt x="6696328" y="7030593"/>
                  </a:lnTo>
                  <a:cubicBezTo>
                    <a:pt x="6696328" y="7368160"/>
                    <a:pt x="6610096" y="7641844"/>
                    <a:pt x="6503670" y="7641844"/>
                  </a:cubicBezTo>
                  <a:lnTo>
                    <a:pt x="192659" y="7641844"/>
                  </a:lnTo>
                  <a:cubicBezTo>
                    <a:pt x="86233" y="7641844"/>
                    <a:pt x="0" y="7368159"/>
                    <a:pt x="0" y="7030593"/>
                  </a:cubicBezTo>
                  <a:close/>
                </a:path>
              </a:pathLst>
            </a:custGeom>
            <a:solidFill>
              <a:srgbClr val="F0FDFA"/>
            </a:solidFill>
          </p:spPr>
        </p:sp>
      </p:grpSp>
      <p:sp>
        <p:nvSpPr>
          <p:cNvPr name="TextBox 4" id="4"/>
          <p:cNvSpPr txBox="true"/>
          <p:nvPr/>
        </p:nvSpPr>
        <p:spPr>
          <a:xfrm rot="0">
            <a:off x="12798876" y="3516011"/>
            <a:ext cx="4698721" cy="4333875"/>
          </a:xfrm>
          <a:prstGeom prst="rect">
            <a:avLst/>
          </a:prstGeom>
        </p:spPr>
        <p:txBody>
          <a:bodyPr anchor="t" rtlCol="false" tIns="0" lIns="0" bIns="0" rIns="0">
            <a:spAutoFit/>
          </a:bodyPr>
          <a:lstStyle/>
          <a:p>
            <a:pPr algn="l" marL="455832" indent="-151944" lvl="2">
              <a:lnSpc>
                <a:spcPts val="2392"/>
              </a:lnSpc>
              <a:buFont typeface="Arial"/>
              <a:buChar char="⚬"/>
            </a:pPr>
            <a:r>
              <a:rPr lang="en-US" sz="1994">
                <a:solidFill>
                  <a:srgbClr val="0F766E"/>
                </a:solidFill>
                <a:latin typeface="Lora"/>
                <a:ea typeface="Lora"/>
                <a:cs typeface="Lora"/>
                <a:sym typeface="Lora"/>
              </a:rPr>
              <a:t>Traffic signals at different intersections operate with different cycle times and timings. When emergency vehicles such as ambulances, fire trucks, police vehicles, and rescue units travel through multiple intersections, they may encounter red signals and have to stop repeatedly.</a:t>
            </a:r>
          </a:p>
          <a:p>
            <a:pPr algn="l" marL="455832" indent="-151944" lvl="2">
              <a:lnSpc>
                <a:spcPts val="2392"/>
              </a:lnSpc>
            </a:pPr>
          </a:p>
          <a:p>
            <a:pPr algn="l" marL="455832" indent="-151944" lvl="2">
              <a:lnSpc>
                <a:spcPts val="2392"/>
              </a:lnSpc>
              <a:buFont typeface="Arial"/>
              <a:buChar char="⚬"/>
            </a:pPr>
            <a:r>
              <a:rPr lang="en-US" sz="1994">
                <a:solidFill>
                  <a:srgbClr val="0F766E"/>
                </a:solidFill>
                <a:latin typeface="Lora"/>
                <a:ea typeface="Lora"/>
                <a:cs typeface="Lora"/>
                <a:sym typeface="Lora"/>
              </a:rPr>
              <a:t>These delays can increase emergency response time and make it difficult for emergency vehicles to reach their destinations quickly.</a:t>
            </a:r>
          </a:p>
          <a:p>
            <a:pPr algn="l" marL="455832" indent="-151944" lvl="2">
              <a:lnSpc>
                <a:spcPts val="1674"/>
              </a:lnSpc>
            </a:pPr>
          </a:p>
        </p:txBody>
      </p:sp>
      <p:sp>
        <p:nvSpPr>
          <p:cNvPr name="TextBox 5" id="5"/>
          <p:cNvSpPr txBox="true"/>
          <p:nvPr/>
        </p:nvSpPr>
        <p:spPr>
          <a:xfrm rot="0">
            <a:off x="12637094" y="2397090"/>
            <a:ext cx="5216157" cy="457200"/>
          </a:xfrm>
          <a:prstGeom prst="rect">
            <a:avLst/>
          </a:prstGeom>
        </p:spPr>
        <p:txBody>
          <a:bodyPr anchor="t" rtlCol="false" tIns="0" lIns="0" bIns="0" rIns="0">
            <a:spAutoFit/>
          </a:bodyPr>
          <a:lstStyle/>
          <a:p>
            <a:pPr algn="l">
              <a:lnSpc>
                <a:spcPts val="3602"/>
              </a:lnSpc>
            </a:pPr>
            <a:r>
              <a:rPr lang="en-US" sz="3002" b="true">
                <a:solidFill>
                  <a:srgbClr val="047857"/>
                </a:solidFill>
                <a:latin typeface="Lora Bold"/>
                <a:ea typeface="Lora Bold"/>
                <a:cs typeface="Lora Bold"/>
                <a:sym typeface="Lora Bold"/>
              </a:rPr>
              <a:t>Problem</a:t>
            </a:r>
          </a:p>
        </p:txBody>
      </p:sp>
      <p:sp>
        <p:nvSpPr>
          <p:cNvPr name="Freeform 6" id="6"/>
          <p:cNvSpPr/>
          <p:nvPr/>
        </p:nvSpPr>
        <p:spPr>
          <a:xfrm flipH="false" flipV="false" rot="0">
            <a:off x="287255" y="2603468"/>
            <a:ext cx="5710466" cy="1748390"/>
          </a:xfrm>
          <a:custGeom>
            <a:avLst/>
            <a:gdLst/>
            <a:ahLst/>
            <a:cxnLst/>
            <a:rect r="r" b="b" t="t" l="l"/>
            <a:pathLst>
              <a:path h="1748390" w="5710466">
                <a:moveTo>
                  <a:pt x="0" y="0"/>
                </a:moveTo>
                <a:lnTo>
                  <a:pt x="5710466" y="0"/>
                </a:lnTo>
                <a:lnTo>
                  <a:pt x="5710466" y="1748390"/>
                </a:lnTo>
                <a:lnTo>
                  <a:pt x="0" y="17483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444884" y="2749934"/>
            <a:ext cx="661759" cy="630746"/>
            <a:chOff x="0" y="0"/>
            <a:chExt cx="882345" cy="840994"/>
          </a:xfrm>
        </p:grpSpPr>
        <p:sp>
          <p:nvSpPr>
            <p:cNvPr name="Freeform 8" id="8"/>
            <p:cNvSpPr/>
            <p:nvPr/>
          </p:nvSpPr>
          <p:spPr>
            <a:xfrm flipH="false" flipV="false" rot="0">
              <a:off x="0" y="0"/>
              <a:ext cx="882396" cy="840994"/>
            </a:xfrm>
            <a:custGeom>
              <a:avLst/>
              <a:gdLst/>
              <a:ahLst/>
              <a:cxnLst/>
              <a:rect r="r" b="b" t="t" l="l"/>
              <a:pathLst>
                <a:path h="840994" w="882396">
                  <a:moveTo>
                    <a:pt x="0" y="140208"/>
                  </a:moveTo>
                  <a:cubicBezTo>
                    <a:pt x="0" y="62738"/>
                    <a:pt x="53086" y="0"/>
                    <a:pt x="118618" y="0"/>
                  </a:cubicBezTo>
                  <a:lnTo>
                    <a:pt x="763778" y="0"/>
                  </a:lnTo>
                  <a:cubicBezTo>
                    <a:pt x="829310" y="0"/>
                    <a:pt x="882396" y="62738"/>
                    <a:pt x="882396" y="140208"/>
                  </a:cubicBezTo>
                  <a:lnTo>
                    <a:pt x="882396" y="700786"/>
                  </a:lnTo>
                  <a:cubicBezTo>
                    <a:pt x="882396" y="778256"/>
                    <a:pt x="829310" y="840994"/>
                    <a:pt x="763778" y="840994"/>
                  </a:cubicBezTo>
                  <a:lnTo>
                    <a:pt x="118618" y="840994"/>
                  </a:lnTo>
                  <a:cubicBezTo>
                    <a:pt x="53086" y="840994"/>
                    <a:pt x="0" y="778256"/>
                    <a:pt x="0" y="700786"/>
                  </a:cubicBezTo>
                  <a:close/>
                </a:path>
              </a:pathLst>
            </a:custGeom>
            <a:solidFill>
              <a:srgbClr val="007E77"/>
            </a:solidFill>
          </p:spPr>
        </p:sp>
      </p:grpSp>
      <p:sp>
        <p:nvSpPr>
          <p:cNvPr name="TextBox 9" id="9"/>
          <p:cNvSpPr txBox="true"/>
          <p:nvPr/>
        </p:nvSpPr>
        <p:spPr>
          <a:xfrm rot="0">
            <a:off x="550269" y="2933948"/>
            <a:ext cx="481232" cy="304086"/>
          </a:xfrm>
          <a:prstGeom prst="rect">
            <a:avLst/>
          </a:prstGeom>
        </p:spPr>
        <p:txBody>
          <a:bodyPr anchor="t" rtlCol="false" tIns="0" lIns="0" bIns="0" rIns="0">
            <a:spAutoFit/>
          </a:bodyPr>
          <a:lstStyle/>
          <a:p>
            <a:pPr algn="ctr">
              <a:lnSpc>
                <a:spcPts val="2575"/>
              </a:lnSpc>
            </a:pPr>
            <a:r>
              <a:rPr lang="en-US" sz="2147" b="true">
                <a:solidFill>
                  <a:srgbClr val="FFFFFF"/>
                </a:solidFill>
                <a:latin typeface="Aptos Bold"/>
                <a:ea typeface="Aptos Bold"/>
                <a:cs typeface="Aptos Bold"/>
                <a:sym typeface="Aptos Bold"/>
              </a:rPr>
              <a:t>01</a:t>
            </a:r>
          </a:p>
        </p:txBody>
      </p:sp>
      <p:sp>
        <p:nvSpPr>
          <p:cNvPr name="TextBox 10" id="10"/>
          <p:cNvSpPr txBox="true"/>
          <p:nvPr/>
        </p:nvSpPr>
        <p:spPr>
          <a:xfrm rot="0">
            <a:off x="1348864" y="2775680"/>
            <a:ext cx="4988233" cy="392039"/>
          </a:xfrm>
          <a:prstGeom prst="rect">
            <a:avLst/>
          </a:prstGeom>
        </p:spPr>
        <p:txBody>
          <a:bodyPr anchor="t" rtlCol="false" tIns="0" lIns="0" bIns="0" rIns="0">
            <a:spAutoFit/>
          </a:bodyPr>
          <a:lstStyle/>
          <a:p>
            <a:pPr algn="l">
              <a:lnSpc>
                <a:spcPts val="3138"/>
              </a:lnSpc>
            </a:pPr>
            <a:r>
              <a:rPr lang="en-US" sz="2615" b="true">
                <a:solidFill>
                  <a:srgbClr val="1B2A41"/>
                </a:solidFill>
                <a:latin typeface="Aptos Bold"/>
                <a:ea typeface="Aptos Bold"/>
                <a:cs typeface="Aptos Bold"/>
                <a:sym typeface="Aptos Bold"/>
              </a:rPr>
              <a:t>Reduce response delays</a:t>
            </a:r>
          </a:p>
        </p:txBody>
      </p:sp>
      <p:sp>
        <p:nvSpPr>
          <p:cNvPr name="TextBox 11" id="11"/>
          <p:cNvSpPr txBox="true"/>
          <p:nvPr/>
        </p:nvSpPr>
        <p:spPr>
          <a:xfrm rot="0">
            <a:off x="1348864" y="3380680"/>
            <a:ext cx="4355830" cy="641518"/>
          </a:xfrm>
          <a:prstGeom prst="rect">
            <a:avLst/>
          </a:prstGeom>
        </p:spPr>
        <p:txBody>
          <a:bodyPr anchor="t" rtlCol="false" tIns="0" lIns="0" bIns="0" rIns="0">
            <a:spAutoFit/>
          </a:bodyPr>
          <a:lstStyle/>
          <a:p>
            <a:pPr algn="l">
              <a:lnSpc>
                <a:spcPts val="2557"/>
              </a:lnSpc>
            </a:pPr>
            <a:r>
              <a:rPr lang="en-US" sz="2129">
                <a:solidFill>
                  <a:srgbClr val="536577"/>
                </a:solidFill>
                <a:latin typeface="Aptos"/>
                <a:ea typeface="Aptos"/>
                <a:cs typeface="Aptos"/>
                <a:sym typeface="Aptos"/>
              </a:rPr>
              <a:t>Coordinate signals along emergency routes to reduce unnecessary stops.</a:t>
            </a:r>
          </a:p>
        </p:txBody>
      </p:sp>
      <p:sp>
        <p:nvSpPr>
          <p:cNvPr name="Freeform 12" id="12"/>
          <p:cNvSpPr/>
          <p:nvPr/>
        </p:nvSpPr>
        <p:spPr>
          <a:xfrm flipH="false" flipV="false" rot="0">
            <a:off x="6524854" y="2603621"/>
            <a:ext cx="5545074" cy="1805730"/>
          </a:xfrm>
          <a:custGeom>
            <a:avLst/>
            <a:gdLst/>
            <a:ahLst/>
            <a:cxnLst/>
            <a:rect r="r" b="b" t="t" l="l"/>
            <a:pathLst>
              <a:path h="1805730" w="5545074">
                <a:moveTo>
                  <a:pt x="0" y="0"/>
                </a:moveTo>
                <a:lnTo>
                  <a:pt x="5545074" y="0"/>
                </a:lnTo>
                <a:lnTo>
                  <a:pt x="5545074" y="1805730"/>
                </a:lnTo>
                <a:lnTo>
                  <a:pt x="0" y="18057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3" id="13"/>
          <p:cNvGrpSpPr/>
          <p:nvPr/>
        </p:nvGrpSpPr>
        <p:grpSpPr>
          <a:xfrm rot="0">
            <a:off x="6737918" y="2832087"/>
            <a:ext cx="610562" cy="555088"/>
            <a:chOff x="0" y="0"/>
            <a:chExt cx="814083" cy="740118"/>
          </a:xfrm>
        </p:grpSpPr>
        <p:sp>
          <p:nvSpPr>
            <p:cNvPr name="Freeform 14" id="14"/>
            <p:cNvSpPr/>
            <p:nvPr/>
          </p:nvSpPr>
          <p:spPr>
            <a:xfrm flipH="false" flipV="false" rot="0">
              <a:off x="0" y="0"/>
              <a:ext cx="814197" cy="740029"/>
            </a:xfrm>
            <a:custGeom>
              <a:avLst/>
              <a:gdLst/>
              <a:ahLst/>
              <a:cxnLst/>
              <a:rect r="r" b="b" t="t" l="l"/>
              <a:pathLst>
                <a:path h="740029" w="814197">
                  <a:moveTo>
                    <a:pt x="0" y="123317"/>
                  </a:moveTo>
                  <a:cubicBezTo>
                    <a:pt x="0" y="55245"/>
                    <a:pt x="49022" y="0"/>
                    <a:pt x="109474" y="0"/>
                  </a:cubicBezTo>
                  <a:lnTo>
                    <a:pt x="704723" y="0"/>
                  </a:lnTo>
                  <a:cubicBezTo>
                    <a:pt x="765175" y="0"/>
                    <a:pt x="814197" y="55245"/>
                    <a:pt x="814197" y="123317"/>
                  </a:cubicBezTo>
                  <a:lnTo>
                    <a:pt x="814197" y="616712"/>
                  </a:lnTo>
                  <a:cubicBezTo>
                    <a:pt x="814197" y="684911"/>
                    <a:pt x="765175" y="740029"/>
                    <a:pt x="704723" y="740029"/>
                  </a:cubicBezTo>
                  <a:lnTo>
                    <a:pt x="109474" y="740029"/>
                  </a:lnTo>
                  <a:cubicBezTo>
                    <a:pt x="49022" y="740156"/>
                    <a:pt x="0" y="684911"/>
                    <a:pt x="0" y="616712"/>
                  </a:cubicBezTo>
                  <a:close/>
                </a:path>
              </a:pathLst>
            </a:custGeom>
            <a:solidFill>
              <a:srgbClr val="97C9A6"/>
            </a:solidFill>
          </p:spPr>
        </p:sp>
      </p:grpSp>
      <p:sp>
        <p:nvSpPr>
          <p:cNvPr name="TextBox 15" id="15"/>
          <p:cNvSpPr txBox="true"/>
          <p:nvPr/>
        </p:nvSpPr>
        <p:spPr>
          <a:xfrm rot="0">
            <a:off x="6913264" y="2995460"/>
            <a:ext cx="435216" cy="304333"/>
          </a:xfrm>
          <a:prstGeom prst="rect">
            <a:avLst/>
          </a:prstGeom>
        </p:spPr>
        <p:txBody>
          <a:bodyPr anchor="t" rtlCol="false" tIns="0" lIns="0" bIns="0" rIns="0">
            <a:spAutoFit/>
          </a:bodyPr>
          <a:lstStyle/>
          <a:p>
            <a:pPr algn="ctr">
              <a:lnSpc>
                <a:spcPts val="2590"/>
              </a:lnSpc>
            </a:pPr>
            <a:r>
              <a:rPr lang="en-US" sz="2157" b="true">
                <a:solidFill>
                  <a:srgbClr val="FFFFFF"/>
                </a:solidFill>
                <a:latin typeface="Aptos Bold"/>
                <a:ea typeface="Aptos Bold"/>
                <a:cs typeface="Aptos Bold"/>
                <a:sym typeface="Aptos Bold"/>
              </a:rPr>
              <a:t>02</a:t>
            </a:r>
          </a:p>
        </p:txBody>
      </p:sp>
      <p:sp>
        <p:nvSpPr>
          <p:cNvPr name="TextBox 16" id="16"/>
          <p:cNvSpPr txBox="true"/>
          <p:nvPr/>
        </p:nvSpPr>
        <p:spPr>
          <a:xfrm rot="0">
            <a:off x="7555287" y="2835240"/>
            <a:ext cx="4510307" cy="440426"/>
          </a:xfrm>
          <a:prstGeom prst="rect">
            <a:avLst/>
          </a:prstGeom>
        </p:spPr>
        <p:txBody>
          <a:bodyPr anchor="t" rtlCol="false" tIns="0" lIns="0" bIns="0" rIns="0">
            <a:spAutoFit/>
          </a:bodyPr>
          <a:lstStyle/>
          <a:p>
            <a:pPr algn="l">
              <a:lnSpc>
                <a:spcPts val="3318"/>
              </a:lnSpc>
            </a:pPr>
            <a:r>
              <a:rPr lang="en-US" sz="2765" b="true">
                <a:solidFill>
                  <a:srgbClr val="1B2A41"/>
                </a:solidFill>
                <a:latin typeface="Aptos Bold"/>
                <a:ea typeface="Aptos Bold"/>
                <a:cs typeface="Aptos Bold"/>
                <a:sym typeface="Aptos Bold"/>
              </a:rPr>
              <a:t>Model signal timings</a:t>
            </a:r>
          </a:p>
        </p:txBody>
      </p:sp>
      <p:sp>
        <p:nvSpPr>
          <p:cNvPr name="TextBox 17" id="17"/>
          <p:cNvSpPr txBox="true"/>
          <p:nvPr/>
        </p:nvSpPr>
        <p:spPr>
          <a:xfrm rot="0">
            <a:off x="7555287" y="3318415"/>
            <a:ext cx="4461072" cy="1028948"/>
          </a:xfrm>
          <a:prstGeom prst="rect">
            <a:avLst/>
          </a:prstGeom>
        </p:spPr>
        <p:txBody>
          <a:bodyPr anchor="t" rtlCol="false" tIns="0" lIns="0" bIns="0" rIns="0">
            <a:spAutoFit/>
          </a:bodyPr>
          <a:lstStyle/>
          <a:p>
            <a:pPr algn="l">
              <a:lnSpc>
                <a:spcPts val="2735"/>
              </a:lnSpc>
            </a:pPr>
            <a:r>
              <a:rPr lang="en-US" sz="2279">
                <a:solidFill>
                  <a:srgbClr val="536577"/>
                </a:solidFill>
                <a:latin typeface="Aptos"/>
                <a:ea typeface="Aptos"/>
                <a:cs typeface="Aptos"/>
                <a:sym typeface="Aptos"/>
              </a:rPr>
              <a:t>Represent cycle lengths, offsets and travel times with modular congruences.</a:t>
            </a:r>
          </a:p>
        </p:txBody>
      </p:sp>
      <p:sp>
        <p:nvSpPr>
          <p:cNvPr name="Freeform 18" id="18"/>
          <p:cNvSpPr/>
          <p:nvPr/>
        </p:nvSpPr>
        <p:spPr>
          <a:xfrm flipH="false" flipV="false" rot="0">
            <a:off x="331499" y="4774521"/>
            <a:ext cx="5714457" cy="1662598"/>
          </a:xfrm>
          <a:custGeom>
            <a:avLst/>
            <a:gdLst/>
            <a:ahLst/>
            <a:cxnLst/>
            <a:rect r="r" b="b" t="t" l="l"/>
            <a:pathLst>
              <a:path h="1662598" w="5714457">
                <a:moveTo>
                  <a:pt x="0" y="0"/>
                </a:moveTo>
                <a:lnTo>
                  <a:pt x="5714457" y="0"/>
                </a:lnTo>
                <a:lnTo>
                  <a:pt x="5714457" y="1662598"/>
                </a:lnTo>
                <a:lnTo>
                  <a:pt x="0" y="16625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9" id="19"/>
          <p:cNvGrpSpPr/>
          <p:nvPr/>
        </p:nvGrpSpPr>
        <p:grpSpPr>
          <a:xfrm rot="0">
            <a:off x="515969" y="4974774"/>
            <a:ext cx="603685" cy="529447"/>
            <a:chOff x="0" y="0"/>
            <a:chExt cx="804913" cy="705930"/>
          </a:xfrm>
        </p:grpSpPr>
        <p:sp>
          <p:nvSpPr>
            <p:cNvPr name="Freeform 20" id="20"/>
            <p:cNvSpPr/>
            <p:nvPr/>
          </p:nvSpPr>
          <p:spPr>
            <a:xfrm flipH="false" flipV="false" rot="0">
              <a:off x="0" y="0"/>
              <a:ext cx="804926" cy="705866"/>
            </a:xfrm>
            <a:custGeom>
              <a:avLst/>
              <a:gdLst/>
              <a:ahLst/>
              <a:cxnLst/>
              <a:rect r="r" b="b" t="t" l="l"/>
              <a:pathLst>
                <a:path h="705866" w="804926">
                  <a:moveTo>
                    <a:pt x="0" y="117602"/>
                  </a:moveTo>
                  <a:cubicBezTo>
                    <a:pt x="0" y="52705"/>
                    <a:pt x="48387" y="0"/>
                    <a:pt x="108204" y="0"/>
                  </a:cubicBezTo>
                  <a:lnTo>
                    <a:pt x="696722" y="0"/>
                  </a:lnTo>
                  <a:cubicBezTo>
                    <a:pt x="756539" y="0"/>
                    <a:pt x="804926" y="52705"/>
                    <a:pt x="804926" y="117602"/>
                  </a:cubicBezTo>
                  <a:lnTo>
                    <a:pt x="804926" y="588264"/>
                  </a:lnTo>
                  <a:cubicBezTo>
                    <a:pt x="804926" y="653288"/>
                    <a:pt x="756539" y="705866"/>
                    <a:pt x="696722" y="705866"/>
                  </a:cubicBezTo>
                  <a:lnTo>
                    <a:pt x="108204" y="705866"/>
                  </a:lnTo>
                  <a:cubicBezTo>
                    <a:pt x="48387" y="705866"/>
                    <a:pt x="0" y="653288"/>
                    <a:pt x="0" y="588264"/>
                  </a:cubicBezTo>
                  <a:close/>
                </a:path>
              </a:pathLst>
            </a:custGeom>
            <a:solidFill>
              <a:srgbClr val="F08F4F"/>
            </a:solidFill>
          </p:spPr>
        </p:sp>
      </p:grpSp>
      <p:sp>
        <p:nvSpPr>
          <p:cNvPr name="TextBox 21" id="21"/>
          <p:cNvSpPr txBox="true"/>
          <p:nvPr/>
        </p:nvSpPr>
        <p:spPr>
          <a:xfrm rot="0">
            <a:off x="680561" y="5112429"/>
            <a:ext cx="274482" cy="661807"/>
          </a:xfrm>
          <a:prstGeom prst="rect">
            <a:avLst/>
          </a:prstGeom>
        </p:spPr>
        <p:txBody>
          <a:bodyPr anchor="t" rtlCol="false" tIns="0" lIns="0" bIns="0" rIns="0">
            <a:spAutoFit/>
          </a:bodyPr>
          <a:lstStyle/>
          <a:p>
            <a:pPr algn="ctr">
              <a:lnSpc>
                <a:spcPts val="2639"/>
              </a:lnSpc>
            </a:pPr>
            <a:r>
              <a:rPr lang="en-US" sz="2199" b="true">
                <a:solidFill>
                  <a:srgbClr val="FFFFFF"/>
                </a:solidFill>
                <a:latin typeface="Aptos Bold"/>
                <a:ea typeface="Aptos Bold"/>
                <a:cs typeface="Aptos Bold"/>
                <a:sym typeface="Aptos Bold"/>
              </a:rPr>
              <a:t>03</a:t>
            </a:r>
          </a:p>
        </p:txBody>
      </p:sp>
      <p:sp>
        <p:nvSpPr>
          <p:cNvPr name="TextBox 22" id="22"/>
          <p:cNvSpPr txBox="true"/>
          <p:nvPr/>
        </p:nvSpPr>
        <p:spPr>
          <a:xfrm rot="0">
            <a:off x="1324118" y="4995958"/>
            <a:ext cx="4459472" cy="419148"/>
          </a:xfrm>
          <a:prstGeom prst="rect">
            <a:avLst/>
          </a:prstGeom>
        </p:spPr>
        <p:txBody>
          <a:bodyPr anchor="t" rtlCol="false" tIns="0" lIns="0" bIns="0" rIns="0">
            <a:spAutoFit/>
          </a:bodyPr>
          <a:lstStyle/>
          <a:p>
            <a:pPr algn="l">
              <a:lnSpc>
                <a:spcPts val="3334"/>
              </a:lnSpc>
            </a:pPr>
            <a:r>
              <a:rPr lang="en-US" sz="2778" b="true">
                <a:solidFill>
                  <a:srgbClr val="1B2A41"/>
                </a:solidFill>
                <a:latin typeface="Aptos Bold"/>
                <a:ea typeface="Aptos Bold"/>
                <a:cs typeface="Aptos Bold"/>
                <a:sym typeface="Aptos Bold"/>
              </a:rPr>
              <a:t>Validate green windows</a:t>
            </a:r>
          </a:p>
        </p:txBody>
      </p:sp>
      <p:sp>
        <p:nvSpPr>
          <p:cNvPr name="TextBox 23" id="23"/>
          <p:cNvSpPr txBox="true"/>
          <p:nvPr/>
        </p:nvSpPr>
        <p:spPr>
          <a:xfrm rot="0">
            <a:off x="1324118" y="5493629"/>
            <a:ext cx="4410780" cy="1025804"/>
          </a:xfrm>
          <a:prstGeom prst="rect">
            <a:avLst/>
          </a:prstGeom>
        </p:spPr>
        <p:txBody>
          <a:bodyPr anchor="t" rtlCol="false" tIns="0" lIns="0" bIns="0" rIns="0">
            <a:spAutoFit/>
          </a:bodyPr>
          <a:lstStyle/>
          <a:p>
            <a:pPr algn="l">
              <a:lnSpc>
                <a:spcPts val="2778"/>
              </a:lnSpc>
            </a:pPr>
            <a:r>
              <a:rPr lang="en-US" sz="2316">
                <a:solidFill>
                  <a:srgbClr val="536577"/>
                </a:solidFill>
                <a:latin typeface="Aptos"/>
                <a:ea typeface="Aptos"/>
                <a:cs typeface="Aptos"/>
                <a:sym typeface="Aptos"/>
              </a:rPr>
              <a:t>Check that arrivals fit within each intersection’s permitted green phase.</a:t>
            </a:r>
          </a:p>
        </p:txBody>
      </p:sp>
      <p:sp>
        <p:nvSpPr>
          <p:cNvPr name="Freeform 24" id="24"/>
          <p:cNvSpPr/>
          <p:nvPr/>
        </p:nvSpPr>
        <p:spPr>
          <a:xfrm flipH="false" flipV="false" rot="0">
            <a:off x="6551686" y="4813497"/>
            <a:ext cx="5517585" cy="1709604"/>
          </a:xfrm>
          <a:custGeom>
            <a:avLst/>
            <a:gdLst/>
            <a:ahLst/>
            <a:cxnLst/>
            <a:rect r="r" b="b" t="t" l="l"/>
            <a:pathLst>
              <a:path h="1709604" w="5517585">
                <a:moveTo>
                  <a:pt x="0" y="0"/>
                </a:moveTo>
                <a:lnTo>
                  <a:pt x="5517584" y="0"/>
                </a:lnTo>
                <a:lnTo>
                  <a:pt x="5517584" y="1709604"/>
                </a:lnTo>
                <a:lnTo>
                  <a:pt x="0" y="17096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5" id="25"/>
          <p:cNvGrpSpPr/>
          <p:nvPr/>
        </p:nvGrpSpPr>
        <p:grpSpPr>
          <a:xfrm rot="0">
            <a:off x="6729498" y="4967888"/>
            <a:ext cx="582949" cy="470373"/>
            <a:chOff x="0" y="0"/>
            <a:chExt cx="777265" cy="627164"/>
          </a:xfrm>
        </p:grpSpPr>
        <p:sp>
          <p:nvSpPr>
            <p:cNvPr name="Freeform 26" id="26"/>
            <p:cNvSpPr/>
            <p:nvPr/>
          </p:nvSpPr>
          <p:spPr>
            <a:xfrm flipH="false" flipV="false" rot="0">
              <a:off x="0" y="0"/>
              <a:ext cx="777367" cy="627126"/>
            </a:xfrm>
            <a:custGeom>
              <a:avLst/>
              <a:gdLst/>
              <a:ahLst/>
              <a:cxnLst/>
              <a:rect r="r" b="b" t="t" l="l"/>
              <a:pathLst>
                <a:path h="627126" w="777367">
                  <a:moveTo>
                    <a:pt x="0" y="104521"/>
                  </a:moveTo>
                  <a:cubicBezTo>
                    <a:pt x="0" y="46736"/>
                    <a:pt x="46736" y="0"/>
                    <a:pt x="104521" y="0"/>
                  </a:cubicBezTo>
                  <a:lnTo>
                    <a:pt x="672846" y="0"/>
                  </a:lnTo>
                  <a:cubicBezTo>
                    <a:pt x="730504" y="0"/>
                    <a:pt x="777367" y="46736"/>
                    <a:pt x="777367" y="104521"/>
                  </a:cubicBezTo>
                  <a:lnTo>
                    <a:pt x="777367" y="522605"/>
                  </a:lnTo>
                  <a:cubicBezTo>
                    <a:pt x="777367" y="580390"/>
                    <a:pt x="730631" y="627126"/>
                    <a:pt x="672846" y="627126"/>
                  </a:cubicBezTo>
                  <a:lnTo>
                    <a:pt x="104521" y="627126"/>
                  </a:lnTo>
                  <a:cubicBezTo>
                    <a:pt x="46736" y="627126"/>
                    <a:pt x="0" y="580390"/>
                    <a:pt x="0" y="522605"/>
                  </a:cubicBezTo>
                  <a:close/>
                </a:path>
              </a:pathLst>
            </a:custGeom>
            <a:solidFill>
              <a:srgbClr val="007E77"/>
            </a:solidFill>
          </p:spPr>
        </p:sp>
      </p:grpSp>
      <p:sp>
        <p:nvSpPr>
          <p:cNvPr name="TextBox 27" id="27"/>
          <p:cNvSpPr txBox="true"/>
          <p:nvPr/>
        </p:nvSpPr>
        <p:spPr>
          <a:xfrm rot="0">
            <a:off x="6785915" y="5070338"/>
            <a:ext cx="470125" cy="293980"/>
          </a:xfrm>
          <a:prstGeom prst="rect">
            <a:avLst/>
          </a:prstGeom>
        </p:spPr>
        <p:txBody>
          <a:bodyPr anchor="t" rtlCol="false" tIns="0" lIns="0" bIns="0" rIns="0">
            <a:spAutoFit/>
          </a:bodyPr>
          <a:lstStyle/>
          <a:p>
            <a:pPr algn="ctr">
              <a:lnSpc>
                <a:spcPts val="2344"/>
              </a:lnSpc>
            </a:pPr>
            <a:r>
              <a:rPr lang="en-US" sz="1953" b="true">
                <a:solidFill>
                  <a:srgbClr val="FFFFFF"/>
                </a:solidFill>
                <a:latin typeface="Aptos Bold"/>
                <a:ea typeface="Aptos Bold"/>
                <a:cs typeface="Aptos Bold"/>
                <a:sym typeface="Aptos Bold"/>
              </a:rPr>
              <a:t>05</a:t>
            </a:r>
          </a:p>
        </p:txBody>
      </p:sp>
      <p:sp>
        <p:nvSpPr>
          <p:cNvPr name="TextBox 28" id="28"/>
          <p:cNvSpPr txBox="true"/>
          <p:nvPr/>
        </p:nvSpPr>
        <p:spPr>
          <a:xfrm rot="0">
            <a:off x="7509910" y="4986709"/>
            <a:ext cx="4306329" cy="372380"/>
          </a:xfrm>
          <a:prstGeom prst="rect">
            <a:avLst/>
          </a:prstGeom>
        </p:spPr>
        <p:txBody>
          <a:bodyPr anchor="t" rtlCol="false" tIns="0" lIns="0" bIns="0" rIns="0">
            <a:spAutoFit/>
          </a:bodyPr>
          <a:lstStyle/>
          <a:p>
            <a:pPr algn="l">
              <a:lnSpc>
                <a:spcPts val="2962"/>
              </a:lnSpc>
            </a:pPr>
            <a:r>
              <a:rPr lang="en-US" sz="2469" b="true">
                <a:solidFill>
                  <a:srgbClr val="1B2A41"/>
                </a:solidFill>
                <a:latin typeface="Aptos Bold"/>
                <a:ea typeface="Aptos Bold"/>
                <a:cs typeface="Aptos Bold"/>
                <a:sym typeface="Aptos Bold"/>
              </a:rPr>
              <a:t>Support all emergency units</a:t>
            </a:r>
          </a:p>
        </p:txBody>
      </p:sp>
      <p:sp>
        <p:nvSpPr>
          <p:cNvPr name="TextBox 29" id="29"/>
          <p:cNvSpPr txBox="true"/>
          <p:nvPr/>
        </p:nvSpPr>
        <p:spPr>
          <a:xfrm rot="0">
            <a:off x="7509910" y="5428859"/>
            <a:ext cx="4259313" cy="911352"/>
          </a:xfrm>
          <a:prstGeom prst="rect">
            <a:avLst/>
          </a:prstGeom>
        </p:spPr>
        <p:txBody>
          <a:bodyPr anchor="t" rtlCol="false" tIns="0" lIns="0" bIns="0" rIns="0">
            <a:spAutoFit/>
          </a:bodyPr>
          <a:lstStyle/>
          <a:p>
            <a:pPr algn="l">
              <a:lnSpc>
                <a:spcPts val="2468"/>
              </a:lnSpc>
            </a:pPr>
            <a:r>
              <a:rPr lang="en-US" sz="2057">
                <a:solidFill>
                  <a:srgbClr val="536577"/>
                </a:solidFill>
                <a:latin typeface="Aptos"/>
                <a:ea typeface="Aptos"/>
                <a:cs typeface="Aptos"/>
                <a:sym typeface="Aptos"/>
              </a:rPr>
              <a:t>Include ambulances, fire and rescue, police and authorized emergency convoys.</a:t>
            </a:r>
          </a:p>
        </p:txBody>
      </p:sp>
      <p:sp>
        <p:nvSpPr>
          <p:cNvPr name="Freeform 30" id="30"/>
          <p:cNvSpPr/>
          <p:nvPr/>
        </p:nvSpPr>
        <p:spPr>
          <a:xfrm flipH="false" flipV="false" rot="0">
            <a:off x="288074" y="6947059"/>
            <a:ext cx="5713533" cy="1685277"/>
          </a:xfrm>
          <a:custGeom>
            <a:avLst/>
            <a:gdLst/>
            <a:ahLst/>
            <a:cxnLst/>
            <a:rect r="r" b="b" t="t" l="l"/>
            <a:pathLst>
              <a:path h="1685277" w="5713533">
                <a:moveTo>
                  <a:pt x="0" y="0"/>
                </a:moveTo>
                <a:lnTo>
                  <a:pt x="5713533" y="0"/>
                </a:lnTo>
                <a:lnTo>
                  <a:pt x="5713533" y="1685277"/>
                </a:lnTo>
                <a:lnTo>
                  <a:pt x="0" y="168527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31" id="31"/>
          <p:cNvGrpSpPr/>
          <p:nvPr/>
        </p:nvGrpSpPr>
        <p:grpSpPr>
          <a:xfrm rot="0">
            <a:off x="472078" y="7101449"/>
            <a:ext cx="603685" cy="470373"/>
            <a:chOff x="0" y="0"/>
            <a:chExt cx="804913" cy="627164"/>
          </a:xfrm>
        </p:grpSpPr>
        <p:sp>
          <p:nvSpPr>
            <p:cNvPr name="Freeform 32" id="32"/>
            <p:cNvSpPr/>
            <p:nvPr/>
          </p:nvSpPr>
          <p:spPr>
            <a:xfrm flipH="false" flipV="false" rot="0">
              <a:off x="0" y="0"/>
              <a:ext cx="804926" cy="627126"/>
            </a:xfrm>
            <a:custGeom>
              <a:avLst/>
              <a:gdLst/>
              <a:ahLst/>
              <a:cxnLst/>
              <a:rect r="r" b="b" t="t" l="l"/>
              <a:pathLst>
                <a:path h="627126" w="804926">
                  <a:moveTo>
                    <a:pt x="0" y="104521"/>
                  </a:moveTo>
                  <a:cubicBezTo>
                    <a:pt x="0" y="46736"/>
                    <a:pt x="48387" y="0"/>
                    <a:pt x="108204" y="0"/>
                  </a:cubicBezTo>
                  <a:lnTo>
                    <a:pt x="696722" y="0"/>
                  </a:lnTo>
                  <a:cubicBezTo>
                    <a:pt x="756539" y="0"/>
                    <a:pt x="804926" y="46736"/>
                    <a:pt x="804926" y="104521"/>
                  </a:cubicBezTo>
                  <a:lnTo>
                    <a:pt x="804926" y="522605"/>
                  </a:lnTo>
                  <a:cubicBezTo>
                    <a:pt x="804926" y="580390"/>
                    <a:pt x="756539" y="627126"/>
                    <a:pt x="696722" y="627126"/>
                  </a:cubicBezTo>
                  <a:lnTo>
                    <a:pt x="108204" y="627126"/>
                  </a:lnTo>
                  <a:cubicBezTo>
                    <a:pt x="48387" y="627126"/>
                    <a:pt x="0" y="580390"/>
                    <a:pt x="0" y="522605"/>
                  </a:cubicBezTo>
                  <a:close/>
                </a:path>
              </a:pathLst>
            </a:custGeom>
            <a:solidFill>
              <a:srgbClr val="97C9A6"/>
            </a:solidFill>
          </p:spPr>
        </p:sp>
      </p:grpSp>
      <p:sp>
        <p:nvSpPr>
          <p:cNvPr name="TextBox 33" id="33"/>
          <p:cNvSpPr txBox="true"/>
          <p:nvPr/>
        </p:nvSpPr>
        <p:spPr>
          <a:xfrm rot="0">
            <a:off x="530504" y="7198652"/>
            <a:ext cx="486842" cy="303781"/>
          </a:xfrm>
          <a:prstGeom prst="rect">
            <a:avLst/>
          </a:prstGeom>
        </p:spPr>
        <p:txBody>
          <a:bodyPr anchor="t" rtlCol="false" tIns="0" lIns="0" bIns="0" rIns="0">
            <a:spAutoFit/>
          </a:bodyPr>
          <a:lstStyle/>
          <a:p>
            <a:pPr algn="ctr">
              <a:lnSpc>
                <a:spcPts val="2468"/>
              </a:lnSpc>
            </a:pPr>
            <a:r>
              <a:rPr lang="en-US" sz="2057" b="true">
                <a:solidFill>
                  <a:srgbClr val="FFFFFF"/>
                </a:solidFill>
                <a:latin typeface="Aptos Bold"/>
                <a:ea typeface="Aptos Bold"/>
                <a:cs typeface="Aptos Bold"/>
                <a:sym typeface="Aptos Bold"/>
              </a:rPr>
              <a:t>06</a:t>
            </a:r>
          </a:p>
        </p:txBody>
      </p:sp>
      <p:sp>
        <p:nvSpPr>
          <p:cNvPr name="TextBox 34" id="34"/>
          <p:cNvSpPr txBox="true"/>
          <p:nvPr/>
        </p:nvSpPr>
        <p:spPr>
          <a:xfrm rot="0">
            <a:off x="1280236" y="7136930"/>
            <a:ext cx="4459472" cy="365512"/>
          </a:xfrm>
          <a:prstGeom prst="rect">
            <a:avLst/>
          </a:prstGeom>
        </p:spPr>
        <p:txBody>
          <a:bodyPr anchor="t" rtlCol="false" tIns="0" lIns="0" bIns="0" rIns="0">
            <a:spAutoFit/>
          </a:bodyPr>
          <a:lstStyle/>
          <a:p>
            <a:pPr algn="l">
              <a:lnSpc>
                <a:spcPts val="3085"/>
              </a:lnSpc>
            </a:pPr>
            <a:r>
              <a:rPr lang="en-US" sz="2571" b="true">
                <a:solidFill>
                  <a:srgbClr val="1B2A41"/>
                </a:solidFill>
                <a:latin typeface="Aptos Bold"/>
                <a:ea typeface="Aptos Bold"/>
                <a:cs typeface="Aptos Bold"/>
                <a:sym typeface="Aptos Bold"/>
              </a:rPr>
              <a:t>Maintain safe traffic flow</a:t>
            </a:r>
          </a:p>
        </p:txBody>
      </p:sp>
      <p:sp>
        <p:nvSpPr>
          <p:cNvPr name="TextBox 35" id="35"/>
          <p:cNvSpPr txBox="true"/>
          <p:nvPr/>
        </p:nvSpPr>
        <p:spPr>
          <a:xfrm rot="0">
            <a:off x="1280236" y="7602598"/>
            <a:ext cx="4410780" cy="953481"/>
          </a:xfrm>
          <a:prstGeom prst="rect">
            <a:avLst/>
          </a:prstGeom>
        </p:spPr>
        <p:txBody>
          <a:bodyPr anchor="t" rtlCol="false" tIns="0" lIns="0" bIns="0" rIns="0">
            <a:spAutoFit/>
          </a:bodyPr>
          <a:lstStyle/>
          <a:p>
            <a:pPr algn="l">
              <a:lnSpc>
                <a:spcPts val="2592"/>
              </a:lnSpc>
            </a:pPr>
            <a:r>
              <a:rPr lang="en-US" sz="2160">
                <a:solidFill>
                  <a:srgbClr val="536577"/>
                </a:solidFill>
                <a:latin typeface="Aptos"/>
                <a:ea typeface="Aptos"/>
                <a:cs typeface="Aptos"/>
                <a:sym typeface="Aptos"/>
              </a:rPr>
              <a:t>Balance priority passage with intersection safety and surrounding traffic.</a:t>
            </a:r>
          </a:p>
        </p:txBody>
      </p:sp>
      <p:sp>
        <p:nvSpPr>
          <p:cNvPr name="Freeform 36" id="36"/>
          <p:cNvSpPr/>
          <p:nvPr/>
        </p:nvSpPr>
        <p:spPr>
          <a:xfrm flipH="false" flipV="false" rot="0">
            <a:off x="6551686" y="6925332"/>
            <a:ext cx="5517585" cy="1648825"/>
          </a:xfrm>
          <a:custGeom>
            <a:avLst/>
            <a:gdLst/>
            <a:ahLst/>
            <a:cxnLst/>
            <a:rect r="r" b="b" t="t" l="l"/>
            <a:pathLst>
              <a:path h="1648825" w="5517585">
                <a:moveTo>
                  <a:pt x="0" y="0"/>
                </a:moveTo>
                <a:lnTo>
                  <a:pt x="5517584" y="0"/>
                </a:lnTo>
                <a:lnTo>
                  <a:pt x="5517584" y="1648825"/>
                </a:lnTo>
                <a:lnTo>
                  <a:pt x="0" y="164882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37" id="37"/>
          <p:cNvGrpSpPr/>
          <p:nvPr/>
        </p:nvGrpSpPr>
        <p:grpSpPr>
          <a:xfrm rot="0">
            <a:off x="6855066" y="7124309"/>
            <a:ext cx="582949" cy="470373"/>
            <a:chOff x="0" y="0"/>
            <a:chExt cx="777265" cy="627164"/>
          </a:xfrm>
        </p:grpSpPr>
        <p:sp>
          <p:nvSpPr>
            <p:cNvPr name="Freeform 38" id="38"/>
            <p:cNvSpPr/>
            <p:nvPr/>
          </p:nvSpPr>
          <p:spPr>
            <a:xfrm flipH="false" flipV="false" rot="0">
              <a:off x="0" y="0"/>
              <a:ext cx="777367" cy="627126"/>
            </a:xfrm>
            <a:custGeom>
              <a:avLst/>
              <a:gdLst/>
              <a:ahLst/>
              <a:cxnLst/>
              <a:rect r="r" b="b" t="t" l="l"/>
              <a:pathLst>
                <a:path h="627126" w="777367">
                  <a:moveTo>
                    <a:pt x="0" y="104521"/>
                  </a:moveTo>
                  <a:cubicBezTo>
                    <a:pt x="0" y="46736"/>
                    <a:pt x="46736" y="0"/>
                    <a:pt x="104521" y="0"/>
                  </a:cubicBezTo>
                  <a:lnTo>
                    <a:pt x="672846" y="0"/>
                  </a:lnTo>
                  <a:cubicBezTo>
                    <a:pt x="730504" y="0"/>
                    <a:pt x="777367" y="46736"/>
                    <a:pt x="777367" y="104521"/>
                  </a:cubicBezTo>
                  <a:lnTo>
                    <a:pt x="777367" y="522605"/>
                  </a:lnTo>
                  <a:cubicBezTo>
                    <a:pt x="777367" y="580390"/>
                    <a:pt x="730631" y="627126"/>
                    <a:pt x="672846" y="627126"/>
                  </a:cubicBezTo>
                  <a:lnTo>
                    <a:pt x="104521" y="627126"/>
                  </a:lnTo>
                  <a:cubicBezTo>
                    <a:pt x="46736" y="627126"/>
                    <a:pt x="0" y="580390"/>
                    <a:pt x="0" y="522605"/>
                  </a:cubicBezTo>
                  <a:close/>
                </a:path>
              </a:pathLst>
            </a:custGeom>
            <a:solidFill>
              <a:srgbClr val="4499CF"/>
            </a:solidFill>
          </p:spPr>
        </p:sp>
      </p:grpSp>
      <p:sp>
        <p:nvSpPr>
          <p:cNvPr name="TextBox 39" id="39"/>
          <p:cNvSpPr txBox="true"/>
          <p:nvPr/>
        </p:nvSpPr>
        <p:spPr>
          <a:xfrm rot="0">
            <a:off x="6911473" y="7225541"/>
            <a:ext cx="470125" cy="293980"/>
          </a:xfrm>
          <a:prstGeom prst="rect">
            <a:avLst/>
          </a:prstGeom>
        </p:spPr>
        <p:txBody>
          <a:bodyPr anchor="t" rtlCol="false" tIns="0" lIns="0" bIns="0" rIns="0">
            <a:spAutoFit/>
          </a:bodyPr>
          <a:lstStyle/>
          <a:p>
            <a:pPr algn="ctr">
              <a:lnSpc>
                <a:spcPts val="2344"/>
              </a:lnSpc>
            </a:pPr>
            <a:r>
              <a:rPr lang="en-US" sz="1953" b="true">
                <a:solidFill>
                  <a:srgbClr val="FFFFFF"/>
                </a:solidFill>
                <a:latin typeface="Aptos Bold"/>
                <a:ea typeface="Aptos Bold"/>
                <a:cs typeface="Aptos Bold"/>
                <a:sym typeface="Aptos Bold"/>
              </a:rPr>
              <a:t>03</a:t>
            </a:r>
          </a:p>
        </p:txBody>
      </p:sp>
      <p:sp>
        <p:nvSpPr>
          <p:cNvPr name="TextBox 40" id="40"/>
          <p:cNvSpPr txBox="true"/>
          <p:nvPr/>
        </p:nvSpPr>
        <p:spPr>
          <a:xfrm rot="0">
            <a:off x="7635469" y="7143131"/>
            <a:ext cx="4306329" cy="372380"/>
          </a:xfrm>
          <a:prstGeom prst="rect">
            <a:avLst/>
          </a:prstGeom>
        </p:spPr>
        <p:txBody>
          <a:bodyPr anchor="t" rtlCol="false" tIns="0" lIns="0" bIns="0" rIns="0">
            <a:spAutoFit/>
          </a:bodyPr>
          <a:lstStyle/>
          <a:p>
            <a:pPr algn="l">
              <a:lnSpc>
                <a:spcPts val="2962"/>
              </a:lnSpc>
            </a:pPr>
            <a:r>
              <a:rPr lang="en-US" sz="2469" b="true">
                <a:solidFill>
                  <a:srgbClr val="1B2A41"/>
                </a:solidFill>
                <a:latin typeface="Aptos Bold"/>
                <a:ea typeface="Aptos Bold"/>
                <a:cs typeface="Aptos Bold"/>
                <a:sym typeface="Aptos Bold"/>
              </a:rPr>
              <a:t>Apply CRT</a:t>
            </a:r>
          </a:p>
        </p:txBody>
      </p:sp>
      <p:sp>
        <p:nvSpPr>
          <p:cNvPr name="TextBox 41" id="41"/>
          <p:cNvSpPr txBox="true"/>
          <p:nvPr/>
        </p:nvSpPr>
        <p:spPr>
          <a:xfrm rot="0">
            <a:off x="7635469" y="7585281"/>
            <a:ext cx="4259313" cy="607571"/>
          </a:xfrm>
          <a:prstGeom prst="rect">
            <a:avLst/>
          </a:prstGeom>
        </p:spPr>
        <p:txBody>
          <a:bodyPr anchor="t" rtlCol="false" tIns="0" lIns="0" bIns="0" rIns="0">
            <a:spAutoFit/>
          </a:bodyPr>
          <a:lstStyle/>
          <a:p>
            <a:pPr algn="l">
              <a:lnSpc>
                <a:spcPts val="2468"/>
              </a:lnSpc>
            </a:pPr>
            <a:r>
              <a:rPr lang="en-US" sz="2057">
                <a:solidFill>
                  <a:srgbClr val="536577"/>
                </a:solidFill>
                <a:latin typeface="Aptos"/>
                <a:ea typeface="Aptos"/>
                <a:cs typeface="Aptos"/>
                <a:sym typeface="Aptos"/>
              </a:rPr>
              <a:t>Calculate suitable departure times that align repeating signal conditions.</a:t>
            </a:r>
          </a:p>
        </p:txBody>
      </p:sp>
      <p:grpSp>
        <p:nvGrpSpPr>
          <p:cNvPr name="Group 42" id="42"/>
          <p:cNvGrpSpPr/>
          <p:nvPr/>
        </p:nvGrpSpPr>
        <p:grpSpPr>
          <a:xfrm rot="0">
            <a:off x="0" y="212512"/>
            <a:ext cx="18287524" cy="1069848"/>
            <a:chOff x="0" y="0"/>
            <a:chExt cx="24383365" cy="1426464"/>
          </a:xfrm>
        </p:grpSpPr>
        <p:sp>
          <p:nvSpPr>
            <p:cNvPr name="Freeform 43" id="43"/>
            <p:cNvSpPr/>
            <p:nvPr/>
          </p:nvSpPr>
          <p:spPr>
            <a:xfrm flipH="false" flipV="false" rot="0">
              <a:off x="0" y="0"/>
              <a:ext cx="24383364" cy="1426464"/>
            </a:xfrm>
            <a:custGeom>
              <a:avLst/>
              <a:gdLst/>
              <a:ahLst/>
              <a:cxnLst/>
              <a:rect r="r" b="b" t="t" l="l"/>
              <a:pathLst>
                <a:path h="1426464" w="24383364">
                  <a:moveTo>
                    <a:pt x="0" y="0"/>
                  </a:moveTo>
                  <a:lnTo>
                    <a:pt x="24383364" y="0"/>
                  </a:lnTo>
                  <a:lnTo>
                    <a:pt x="24383364" y="1426464"/>
                  </a:lnTo>
                  <a:lnTo>
                    <a:pt x="0" y="1426464"/>
                  </a:lnTo>
                  <a:close/>
                </a:path>
              </a:pathLst>
            </a:custGeom>
            <a:solidFill>
              <a:srgbClr val="115E59"/>
            </a:solidFill>
          </p:spPr>
        </p:sp>
      </p:grpSp>
      <p:sp>
        <p:nvSpPr>
          <p:cNvPr name="TextBox 44" id="44"/>
          <p:cNvSpPr txBox="true"/>
          <p:nvPr/>
        </p:nvSpPr>
        <p:spPr>
          <a:xfrm rot="0">
            <a:off x="703697" y="435778"/>
            <a:ext cx="13909291" cy="666750"/>
          </a:xfrm>
          <a:prstGeom prst="rect">
            <a:avLst/>
          </a:prstGeom>
        </p:spPr>
        <p:txBody>
          <a:bodyPr anchor="t" rtlCol="false" tIns="0" lIns="0" bIns="0" rIns="0">
            <a:spAutoFit/>
          </a:bodyPr>
          <a:lstStyle/>
          <a:p>
            <a:pPr algn="l">
              <a:lnSpc>
                <a:spcPts val="5235"/>
              </a:lnSpc>
            </a:pPr>
            <a:r>
              <a:rPr lang="en-US" sz="4362" b="true">
                <a:solidFill>
                  <a:srgbClr val="FFFFFF"/>
                </a:solidFill>
                <a:latin typeface="Lora Bold"/>
                <a:ea typeface="Lora Bold"/>
                <a:cs typeface="Lora Bold"/>
                <a:sym typeface="Lora Bold"/>
              </a:rPr>
              <a:t>Objectives</a:t>
            </a:r>
          </a:p>
        </p:txBody>
      </p:sp>
      <p:grpSp>
        <p:nvGrpSpPr>
          <p:cNvPr name="Group 45" id="45"/>
          <p:cNvGrpSpPr/>
          <p:nvPr/>
        </p:nvGrpSpPr>
        <p:grpSpPr>
          <a:xfrm rot="0">
            <a:off x="16390620" y="212512"/>
            <a:ext cx="713232" cy="1069848"/>
            <a:chOff x="0" y="0"/>
            <a:chExt cx="950976" cy="1426464"/>
          </a:xfrm>
        </p:grpSpPr>
        <p:sp>
          <p:nvSpPr>
            <p:cNvPr name="Freeform 46" id="46"/>
            <p:cNvSpPr/>
            <p:nvPr/>
          </p:nvSpPr>
          <p:spPr>
            <a:xfrm flipH="false" flipV="false" rot="0">
              <a:off x="0" y="0"/>
              <a:ext cx="950976" cy="1426464"/>
            </a:xfrm>
            <a:custGeom>
              <a:avLst/>
              <a:gdLst/>
              <a:ahLst/>
              <a:cxnLst/>
              <a:rect r="r" b="b" t="t" l="l"/>
              <a:pathLst>
                <a:path h="1426464" w="950976">
                  <a:moveTo>
                    <a:pt x="0" y="1426464"/>
                  </a:moveTo>
                  <a:lnTo>
                    <a:pt x="237744" y="0"/>
                  </a:lnTo>
                  <a:lnTo>
                    <a:pt x="950976" y="0"/>
                  </a:lnTo>
                  <a:lnTo>
                    <a:pt x="713232" y="1426464"/>
                  </a:lnTo>
                  <a:close/>
                </a:path>
              </a:pathLst>
            </a:custGeom>
            <a:solidFill>
              <a:srgbClr val="F0FDF4"/>
            </a:solidFill>
          </p:spPr>
        </p:sp>
      </p:grpSp>
      <p:grpSp>
        <p:nvGrpSpPr>
          <p:cNvPr name="Group 47" id="47"/>
          <p:cNvGrpSpPr/>
          <p:nvPr/>
        </p:nvGrpSpPr>
        <p:grpSpPr>
          <a:xfrm rot="0">
            <a:off x="17035272" y="212512"/>
            <a:ext cx="754380" cy="1069848"/>
            <a:chOff x="0" y="0"/>
            <a:chExt cx="1005840" cy="1426464"/>
          </a:xfrm>
        </p:grpSpPr>
        <p:sp>
          <p:nvSpPr>
            <p:cNvPr name="Freeform 48" id="48"/>
            <p:cNvSpPr/>
            <p:nvPr/>
          </p:nvSpPr>
          <p:spPr>
            <a:xfrm flipH="false" flipV="false" rot="0">
              <a:off x="0" y="0"/>
              <a:ext cx="1005840" cy="1426464"/>
            </a:xfrm>
            <a:custGeom>
              <a:avLst/>
              <a:gdLst/>
              <a:ahLst/>
              <a:cxnLst/>
              <a:rect r="r" b="b" t="t" l="l"/>
              <a:pathLst>
                <a:path h="1426464" w="1005840">
                  <a:moveTo>
                    <a:pt x="0" y="1426464"/>
                  </a:moveTo>
                  <a:lnTo>
                    <a:pt x="251460" y="0"/>
                  </a:lnTo>
                  <a:lnTo>
                    <a:pt x="1005840" y="0"/>
                  </a:lnTo>
                  <a:lnTo>
                    <a:pt x="754380" y="1426464"/>
                  </a:lnTo>
                  <a:close/>
                </a:path>
              </a:pathLst>
            </a:custGeom>
            <a:solidFill>
              <a:srgbClr val="9FC7AA"/>
            </a:solidFill>
          </p:spPr>
        </p:sp>
      </p:grpSp>
      <p:grpSp>
        <p:nvGrpSpPr>
          <p:cNvPr name="Group 49" id="49"/>
          <p:cNvGrpSpPr/>
          <p:nvPr/>
        </p:nvGrpSpPr>
        <p:grpSpPr>
          <a:xfrm rot="0">
            <a:off x="0" y="9768249"/>
            <a:ext cx="18287524" cy="516293"/>
            <a:chOff x="0" y="0"/>
            <a:chExt cx="24383365" cy="688391"/>
          </a:xfrm>
        </p:grpSpPr>
        <p:sp>
          <p:nvSpPr>
            <p:cNvPr name="Freeform 50" id="50"/>
            <p:cNvSpPr/>
            <p:nvPr/>
          </p:nvSpPr>
          <p:spPr>
            <a:xfrm flipH="false" flipV="false" rot="0">
              <a:off x="0" y="-23"/>
              <a:ext cx="24383364" cy="688386"/>
            </a:xfrm>
            <a:custGeom>
              <a:avLst/>
              <a:gdLst/>
              <a:ahLst/>
              <a:cxnLst/>
              <a:rect r="r" b="b" t="t" l="l"/>
              <a:pathLst>
                <a:path h="688386" w="24383364">
                  <a:moveTo>
                    <a:pt x="0" y="83589"/>
                  </a:moveTo>
                  <a:cubicBezTo>
                    <a:pt x="8127746" y="-205971"/>
                    <a:pt x="16255619" y="373149"/>
                    <a:pt x="24383364" y="83589"/>
                  </a:cubicBezTo>
                  <a:lnTo>
                    <a:pt x="24383364" y="604797"/>
                  </a:lnTo>
                  <a:cubicBezTo>
                    <a:pt x="16255619" y="894357"/>
                    <a:pt x="8127746" y="315237"/>
                    <a:pt x="0" y="604797"/>
                  </a:cubicBezTo>
                  <a:close/>
                </a:path>
              </a:pathLst>
            </a:custGeom>
            <a:solidFill>
              <a:srgbClr val="9FC7AA"/>
            </a:solid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07053" y="4116591"/>
            <a:ext cx="7824216" cy="5423411"/>
            <a:chOff x="0" y="0"/>
            <a:chExt cx="10432288" cy="7231215"/>
          </a:xfrm>
        </p:grpSpPr>
        <p:sp>
          <p:nvSpPr>
            <p:cNvPr name="Freeform 3" id="3"/>
            <p:cNvSpPr/>
            <p:nvPr/>
          </p:nvSpPr>
          <p:spPr>
            <a:xfrm flipH="false" flipV="false" rot="0">
              <a:off x="0" y="0"/>
              <a:ext cx="10432288" cy="7231253"/>
            </a:xfrm>
            <a:custGeom>
              <a:avLst/>
              <a:gdLst/>
              <a:ahLst/>
              <a:cxnLst/>
              <a:rect r="r" b="b" t="t" l="l"/>
              <a:pathLst>
                <a:path h="7231253" w="10432288">
                  <a:moveTo>
                    <a:pt x="0" y="578485"/>
                  </a:moveTo>
                  <a:cubicBezTo>
                    <a:pt x="0" y="258953"/>
                    <a:pt x="301498" y="0"/>
                    <a:pt x="673481" y="0"/>
                  </a:cubicBezTo>
                  <a:lnTo>
                    <a:pt x="9758807" y="0"/>
                  </a:lnTo>
                  <a:cubicBezTo>
                    <a:pt x="10130789" y="0"/>
                    <a:pt x="10432288" y="258953"/>
                    <a:pt x="10432288" y="578485"/>
                  </a:cubicBezTo>
                  <a:lnTo>
                    <a:pt x="10432288" y="6652768"/>
                  </a:lnTo>
                  <a:cubicBezTo>
                    <a:pt x="10432288" y="6972300"/>
                    <a:pt x="10130789" y="7231253"/>
                    <a:pt x="9758807" y="7231253"/>
                  </a:cubicBezTo>
                  <a:lnTo>
                    <a:pt x="673481" y="7231253"/>
                  </a:lnTo>
                  <a:cubicBezTo>
                    <a:pt x="301498" y="7231380"/>
                    <a:pt x="0" y="6972300"/>
                    <a:pt x="0" y="6652768"/>
                  </a:cubicBezTo>
                  <a:close/>
                </a:path>
              </a:pathLst>
            </a:custGeom>
            <a:solidFill>
              <a:srgbClr val="F0F9FF"/>
            </a:solidFill>
          </p:spPr>
        </p:sp>
      </p:grpSp>
      <p:sp>
        <p:nvSpPr>
          <p:cNvPr name="TextBox 4" id="4"/>
          <p:cNvSpPr txBox="true"/>
          <p:nvPr/>
        </p:nvSpPr>
        <p:spPr>
          <a:xfrm rot="0">
            <a:off x="1509941" y="4502363"/>
            <a:ext cx="7000627" cy="1019175"/>
          </a:xfrm>
          <a:prstGeom prst="rect">
            <a:avLst/>
          </a:prstGeom>
        </p:spPr>
        <p:txBody>
          <a:bodyPr anchor="t" rtlCol="false" tIns="0" lIns="0" bIns="0" rIns="0">
            <a:spAutoFit/>
          </a:bodyPr>
          <a:lstStyle/>
          <a:p>
            <a:pPr algn="l">
              <a:lnSpc>
                <a:spcPts val="3241"/>
              </a:lnSpc>
            </a:pPr>
            <a:r>
              <a:rPr lang="en-US" sz="2702" b="true">
                <a:solidFill>
                  <a:srgbClr val="0369A1"/>
                </a:solidFill>
                <a:latin typeface="Inter Bold"/>
                <a:ea typeface="Inter Bold"/>
                <a:cs typeface="Inter Bold"/>
                <a:sym typeface="Inter Bold"/>
              </a:rPr>
              <a:t>Modeling Periodic Cycles (Clock Math)</a:t>
            </a:r>
          </a:p>
          <a:p>
            <a:pPr algn="l">
              <a:lnSpc>
                <a:spcPts val="2430"/>
              </a:lnSpc>
            </a:pPr>
            <a:r>
              <a:rPr lang="en-US" sz="2025">
                <a:solidFill>
                  <a:srgbClr val="075985"/>
                </a:solidFill>
                <a:latin typeface="Inter"/>
                <a:ea typeface="Inter"/>
                <a:cs typeface="Inter"/>
                <a:sym typeface="Inter"/>
              </a:rPr>
              <a:t>Traffic cycles reset after C seconds. Values wrap periodically around the modulus.</a:t>
            </a:r>
          </a:p>
        </p:txBody>
      </p:sp>
      <p:sp>
        <p:nvSpPr>
          <p:cNvPr name="Freeform 5" id="5"/>
          <p:cNvSpPr/>
          <p:nvPr/>
        </p:nvSpPr>
        <p:spPr>
          <a:xfrm flipH="false" flipV="false" rot="0">
            <a:off x="1394841" y="5715838"/>
            <a:ext cx="6870354" cy="3556740"/>
          </a:xfrm>
          <a:custGeom>
            <a:avLst/>
            <a:gdLst/>
            <a:ahLst/>
            <a:cxnLst/>
            <a:rect r="r" b="b" t="t" l="l"/>
            <a:pathLst>
              <a:path h="3556740" w="6870354">
                <a:moveTo>
                  <a:pt x="0" y="0"/>
                </a:moveTo>
                <a:lnTo>
                  <a:pt x="6870354" y="0"/>
                </a:lnTo>
                <a:lnTo>
                  <a:pt x="6870354" y="3556740"/>
                </a:lnTo>
                <a:lnTo>
                  <a:pt x="0" y="35567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895656" y="6020705"/>
            <a:ext cx="6451559" cy="2628900"/>
          </a:xfrm>
          <a:prstGeom prst="rect">
            <a:avLst/>
          </a:prstGeom>
        </p:spPr>
        <p:txBody>
          <a:bodyPr anchor="t" rtlCol="false" tIns="0" lIns="0" bIns="0" rIns="0">
            <a:spAutoFit/>
          </a:bodyPr>
          <a:lstStyle/>
          <a:p>
            <a:pPr algn="l">
              <a:lnSpc>
                <a:spcPts val="2702"/>
              </a:lnSpc>
            </a:pPr>
            <a:r>
              <a:rPr lang="en-US" sz="2250" b="true">
                <a:solidFill>
                  <a:srgbClr val="0F766E"/>
                </a:solidFill>
                <a:latin typeface="Inter Bold"/>
                <a:ea typeface="Inter Bold"/>
                <a:cs typeface="Inter Bold"/>
                <a:sym typeface="Inter Bold"/>
              </a:rPr>
              <a:t>Congruence Notation</a:t>
            </a:r>
          </a:p>
          <a:p>
            <a:pPr algn="l">
              <a:lnSpc>
                <a:spcPts val="2702"/>
              </a:lnSpc>
            </a:pPr>
          </a:p>
          <a:p>
            <a:pPr algn="ctr">
              <a:lnSpc>
                <a:spcPts val="5043"/>
              </a:lnSpc>
            </a:pPr>
            <a:r>
              <a:rPr lang="en-US" sz="4203" b="true">
                <a:solidFill>
                  <a:srgbClr val="047857"/>
                </a:solidFill>
                <a:latin typeface="Fira Code Bold"/>
                <a:ea typeface="Fira Code Bold"/>
                <a:cs typeface="Fira Code Bold"/>
                <a:sym typeface="Fira Code Bold"/>
              </a:rPr>
              <a:t>x ≡ a (mod m)</a:t>
            </a:r>
          </a:p>
          <a:p>
            <a:pPr algn="ctr">
              <a:lnSpc>
                <a:spcPts val="5042"/>
              </a:lnSpc>
            </a:pPr>
          </a:p>
          <a:p>
            <a:pPr algn="l">
              <a:lnSpc>
                <a:spcPts val="2581"/>
              </a:lnSpc>
            </a:pPr>
            <a:r>
              <a:rPr lang="en-US" sz="2151">
                <a:solidFill>
                  <a:srgbClr val="115E59"/>
                </a:solidFill>
                <a:latin typeface="Inter"/>
                <a:ea typeface="Inter"/>
                <a:cs typeface="Inter"/>
                <a:sym typeface="Inter"/>
              </a:rPr>
              <a:t>x and a leave identical remainders when divided by m.</a:t>
            </a:r>
          </a:p>
        </p:txBody>
      </p:sp>
      <p:grpSp>
        <p:nvGrpSpPr>
          <p:cNvPr name="Group 7" id="7"/>
          <p:cNvGrpSpPr/>
          <p:nvPr/>
        </p:nvGrpSpPr>
        <p:grpSpPr>
          <a:xfrm rot="0">
            <a:off x="9334176" y="2951245"/>
            <a:ext cx="7824216" cy="6314218"/>
            <a:chOff x="0" y="0"/>
            <a:chExt cx="10432288" cy="8418957"/>
          </a:xfrm>
        </p:grpSpPr>
        <p:sp>
          <p:nvSpPr>
            <p:cNvPr name="Freeform 8" id="8"/>
            <p:cNvSpPr/>
            <p:nvPr/>
          </p:nvSpPr>
          <p:spPr>
            <a:xfrm flipH="false" flipV="false" rot="0">
              <a:off x="0" y="0"/>
              <a:ext cx="10432288" cy="8418957"/>
            </a:xfrm>
            <a:custGeom>
              <a:avLst/>
              <a:gdLst/>
              <a:ahLst/>
              <a:cxnLst/>
              <a:rect r="r" b="b" t="t" l="l"/>
              <a:pathLst>
                <a:path h="8418957" w="10432288">
                  <a:moveTo>
                    <a:pt x="0" y="673481"/>
                  </a:moveTo>
                  <a:cubicBezTo>
                    <a:pt x="0" y="301498"/>
                    <a:pt x="301498" y="0"/>
                    <a:pt x="673481" y="0"/>
                  </a:cubicBezTo>
                  <a:lnTo>
                    <a:pt x="9758807" y="0"/>
                  </a:lnTo>
                  <a:cubicBezTo>
                    <a:pt x="10130789" y="0"/>
                    <a:pt x="10432288" y="301498"/>
                    <a:pt x="10432288" y="673481"/>
                  </a:cubicBezTo>
                  <a:lnTo>
                    <a:pt x="10432288" y="7745476"/>
                  </a:lnTo>
                  <a:cubicBezTo>
                    <a:pt x="10432288" y="8117459"/>
                    <a:pt x="10130789" y="8418957"/>
                    <a:pt x="9758807" y="8418957"/>
                  </a:cubicBezTo>
                  <a:lnTo>
                    <a:pt x="673481" y="8418957"/>
                  </a:lnTo>
                  <a:cubicBezTo>
                    <a:pt x="301498" y="8419084"/>
                    <a:pt x="0" y="8117459"/>
                    <a:pt x="0" y="7745476"/>
                  </a:cubicBezTo>
                  <a:close/>
                </a:path>
              </a:pathLst>
            </a:custGeom>
            <a:solidFill>
              <a:srgbClr val="F0FDF4"/>
            </a:solidFill>
          </p:spPr>
        </p:sp>
      </p:grpSp>
      <p:sp>
        <p:nvSpPr>
          <p:cNvPr name="TextBox 9" id="9"/>
          <p:cNvSpPr txBox="true"/>
          <p:nvPr/>
        </p:nvSpPr>
        <p:spPr>
          <a:xfrm rot="0">
            <a:off x="9745970" y="3294412"/>
            <a:ext cx="7000627" cy="1098137"/>
          </a:xfrm>
          <a:prstGeom prst="rect">
            <a:avLst/>
          </a:prstGeom>
        </p:spPr>
        <p:txBody>
          <a:bodyPr anchor="t" rtlCol="false" tIns="0" lIns="0" bIns="0" rIns="0">
            <a:spAutoFit/>
          </a:bodyPr>
          <a:lstStyle/>
          <a:p>
            <a:pPr algn="l">
              <a:lnSpc>
                <a:spcPts val="3241"/>
              </a:lnSpc>
            </a:pPr>
            <a:r>
              <a:rPr lang="en-US" sz="2702" b="true">
                <a:solidFill>
                  <a:srgbClr val="047857"/>
                </a:solidFill>
                <a:latin typeface="Inter Bold"/>
                <a:ea typeface="Inter Bold"/>
                <a:cs typeface="Inter Bold"/>
                <a:sym typeface="Inter Bold"/>
              </a:rPr>
              <a:t>Chinese Remainder Theorem (CRT)</a:t>
            </a:r>
          </a:p>
          <a:p>
            <a:pPr algn="l">
              <a:lnSpc>
                <a:spcPts val="2430"/>
              </a:lnSpc>
            </a:pPr>
            <a:r>
              <a:rPr lang="en-US" sz="2025">
                <a:solidFill>
                  <a:srgbClr val="065F46"/>
                </a:solidFill>
                <a:latin typeface="Inter"/>
                <a:ea typeface="Inter"/>
                <a:cs typeface="Inter"/>
                <a:sym typeface="Inter"/>
              </a:rPr>
              <a:t>Solves simultaneous modular constraints for unified synchronization.</a:t>
            </a:r>
          </a:p>
        </p:txBody>
      </p:sp>
      <p:sp>
        <p:nvSpPr>
          <p:cNvPr name="Freeform 10" id="10"/>
          <p:cNvSpPr/>
          <p:nvPr/>
        </p:nvSpPr>
        <p:spPr>
          <a:xfrm flipH="false" flipV="false" rot="0">
            <a:off x="9729292" y="4719037"/>
            <a:ext cx="7033936" cy="1886436"/>
          </a:xfrm>
          <a:custGeom>
            <a:avLst/>
            <a:gdLst/>
            <a:ahLst/>
            <a:cxnLst/>
            <a:rect r="r" b="b" t="t" l="l"/>
            <a:pathLst>
              <a:path h="1886436" w="7033936">
                <a:moveTo>
                  <a:pt x="0" y="0"/>
                </a:moveTo>
                <a:lnTo>
                  <a:pt x="7033936" y="0"/>
                </a:lnTo>
                <a:lnTo>
                  <a:pt x="7033936" y="1886436"/>
                </a:lnTo>
                <a:lnTo>
                  <a:pt x="0" y="18864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10089147" y="5147520"/>
            <a:ext cx="398050" cy="453009"/>
            <a:chOff x="0" y="0"/>
            <a:chExt cx="530733" cy="604012"/>
          </a:xfrm>
        </p:grpSpPr>
        <p:sp>
          <p:nvSpPr>
            <p:cNvPr name="Freeform 12" id="12" descr="slide_6_Picture_5.png"/>
            <p:cNvSpPr/>
            <p:nvPr/>
          </p:nvSpPr>
          <p:spPr>
            <a:xfrm flipH="false" flipV="false" rot="0">
              <a:off x="0" y="0"/>
              <a:ext cx="530733" cy="604012"/>
            </a:xfrm>
            <a:custGeom>
              <a:avLst/>
              <a:gdLst/>
              <a:ahLst/>
              <a:cxnLst/>
              <a:rect r="r" b="b" t="t" l="l"/>
              <a:pathLst>
                <a:path h="604012" w="530733">
                  <a:moveTo>
                    <a:pt x="0" y="0"/>
                  </a:moveTo>
                  <a:lnTo>
                    <a:pt x="530733" y="0"/>
                  </a:lnTo>
                  <a:lnTo>
                    <a:pt x="530733" y="604012"/>
                  </a:lnTo>
                  <a:lnTo>
                    <a:pt x="0" y="604012"/>
                  </a:lnTo>
                  <a:lnTo>
                    <a:pt x="0" y="0"/>
                  </a:lnTo>
                  <a:close/>
                </a:path>
              </a:pathLst>
            </a:custGeom>
            <a:blipFill>
              <a:blip r:embed="rId6"/>
              <a:stretch>
                <a:fillRect l="0" t="-1778" r="0" b="-1778"/>
              </a:stretch>
            </a:blipFill>
          </p:spPr>
        </p:sp>
      </p:grpSp>
      <p:sp>
        <p:nvSpPr>
          <p:cNvPr name="TextBox 13" id="13"/>
          <p:cNvSpPr txBox="true"/>
          <p:nvPr/>
        </p:nvSpPr>
        <p:spPr>
          <a:xfrm rot="0">
            <a:off x="10706843" y="5034372"/>
            <a:ext cx="5765225" cy="1141514"/>
          </a:xfrm>
          <a:prstGeom prst="rect">
            <a:avLst/>
          </a:prstGeom>
        </p:spPr>
        <p:txBody>
          <a:bodyPr anchor="t" rtlCol="false" tIns="0" lIns="0" bIns="0" rIns="0">
            <a:spAutoFit/>
          </a:bodyPr>
          <a:lstStyle/>
          <a:p>
            <a:pPr algn="l">
              <a:lnSpc>
                <a:spcPts val="3286"/>
              </a:lnSpc>
            </a:pPr>
            <a:r>
              <a:rPr lang="en-US" sz="2250" b="true">
                <a:solidFill>
                  <a:srgbClr val="0F172A"/>
                </a:solidFill>
                <a:latin typeface="Inter Bold"/>
                <a:ea typeface="Inter Bold"/>
                <a:cs typeface="Inter Bold"/>
                <a:sym typeface="Inter Bold"/>
              </a:rPr>
              <a:t>The Logic</a:t>
            </a:r>
          </a:p>
          <a:p>
            <a:pPr algn="l">
              <a:lnSpc>
                <a:spcPts val="2738"/>
              </a:lnSpc>
            </a:pPr>
            <a:r>
              <a:rPr lang="en-US" sz="1875">
                <a:solidFill>
                  <a:srgbClr val="64748B"/>
                </a:solidFill>
                <a:latin typeface="Inter"/>
                <a:ea typeface="Inter"/>
                <a:cs typeface="Inter"/>
                <a:sym typeface="Inter"/>
              </a:rPr>
              <a:t>Yields a single timeline value satisfying all known remainders simultaneously.</a:t>
            </a:r>
          </a:p>
        </p:txBody>
      </p:sp>
      <p:sp>
        <p:nvSpPr>
          <p:cNvPr name="Freeform 14" id="14"/>
          <p:cNvSpPr/>
          <p:nvPr/>
        </p:nvSpPr>
        <p:spPr>
          <a:xfrm flipH="false" flipV="false" rot="0">
            <a:off x="9729292" y="6846675"/>
            <a:ext cx="7034032" cy="1955111"/>
          </a:xfrm>
          <a:custGeom>
            <a:avLst/>
            <a:gdLst/>
            <a:ahLst/>
            <a:cxnLst/>
            <a:rect r="r" b="b" t="t" l="l"/>
            <a:pathLst>
              <a:path h="1955111" w="7034032">
                <a:moveTo>
                  <a:pt x="0" y="0"/>
                </a:moveTo>
                <a:lnTo>
                  <a:pt x="7034032" y="0"/>
                </a:lnTo>
                <a:lnTo>
                  <a:pt x="7034032" y="1955111"/>
                </a:lnTo>
                <a:lnTo>
                  <a:pt x="0" y="195511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5" id="15"/>
          <p:cNvGrpSpPr/>
          <p:nvPr/>
        </p:nvGrpSpPr>
        <p:grpSpPr>
          <a:xfrm rot="0">
            <a:off x="10089147" y="7151018"/>
            <a:ext cx="453009" cy="453009"/>
            <a:chOff x="0" y="0"/>
            <a:chExt cx="604012" cy="604012"/>
          </a:xfrm>
        </p:grpSpPr>
        <p:sp>
          <p:nvSpPr>
            <p:cNvPr name="Freeform 16" id="16" descr="slide_6_Picture_6.png"/>
            <p:cNvSpPr/>
            <p:nvPr/>
          </p:nvSpPr>
          <p:spPr>
            <a:xfrm flipH="false" flipV="false" rot="0">
              <a:off x="0" y="0"/>
              <a:ext cx="604012" cy="604012"/>
            </a:xfrm>
            <a:custGeom>
              <a:avLst/>
              <a:gdLst/>
              <a:ahLst/>
              <a:cxnLst/>
              <a:rect r="r" b="b" t="t" l="l"/>
              <a:pathLst>
                <a:path h="604012" w="604012">
                  <a:moveTo>
                    <a:pt x="0" y="0"/>
                  </a:moveTo>
                  <a:lnTo>
                    <a:pt x="604012" y="0"/>
                  </a:lnTo>
                  <a:lnTo>
                    <a:pt x="604012" y="604012"/>
                  </a:lnTo>
                  <a:lnTo>
                    <a:pt x="0" y="604012"/>
                  </a:lnTo>
                  <a:lnTo>
                    <a:pt x="0" y="0"/>
                  </a:lnTo>
                  <a:close/>
                </a:path>
              </a:pathLst>
            </a:custGeom>
            <a:blipFill>
              <a:blip r:embed="rId9"/>
              <a:stretch>
                <a:fillRect l="0" t="-1562" r="0" b="-1562"/>
              </a:stretch>
            </a:blipFill>
          </p:spPr>
        </p:sp>
      </p:grpSp>
      <p:sp>
        <p:nvSpPr>
          <p:cNvPr name="TextBox 17" id="17"/>
          <p:cNvSpPr txBox="true"/>
          <p:nvPr/>
        </p:nvSpPr>
        <p:spPr>
          <a:xfrm rot="0">
            <a:off x="10706843" y="7512968"/>
            <a:ext cx="5765225" cy="871614"/>
          </a:xfrm>
          <a:prstGeom prst="rect">
            <a:avLst/>
          </a:prstGeom>
        </p:spPr>
        <p:txBody>
          <a:bodyPr anchor="t" rtlCol="false" tIns="0" lIns="0" bIns="0" rIns="0">
            <a:spAutoFit/>
          </a:bodyPr>
          <a:lstStyle/>
          <a:p>
            <a:pPr algn="l">
              <a:lnSpc>
                <a:spcPts val="1125"/>
              </a:lnSpc>
            </a:pPr>
            <a:r>
              <a:rPr lang="en-US" sz="2250" b="true">
                <a:solidFill>
                  <a:srgbClr val="0F172A"/>
                </a:solidFill>
                <a:latin typeface="Inter Bold"/>
                <a:ea typeface="Inter Bold"/>
                <a:cs typeface="Inter Bold"/>
                <a:sym typeface="Inter Bold"/>
              </a:rPr>
              <a:t>The Condition</a:t>
            </a:r>
          </a:p>
          <a:p>
            <a:pPr algn="l">
              <a:lnSpc>
                <a:spcPts val="2701"/>
              </a:lnSpc>
            </a:pPr>
          </a:p>
          <a:p>
            <a:pPr algn="l">
              <a:lnSpc>
                <a:spcPts val="2250"/>
              </a:lnSpc>
            </a:pPr>
            <a:r>
              <a:rPr lang="en-US" sz="1875">
                <a:solidFill>
                  <a:srgbClr val="64748B"/>
                </a:solidFill>
                <a:latin typeface="Inter"/>
                <a:ea typeface="Inter"/>
                <a:cs typeface="Inter"/>
                <a:sym typeface="Inter"/>
              </a:rPr>
              <a:t>Moduli must be pairwise coprime (gcd(mᵢ, mⱼ) = 1) for guaranteed unique mathematical solutions.</a:t>
            </a:r>
          </a:p>
        </p:txBody>
      </p:sp>
      <p:grpSp>
        <p:nvGrpSpPr>
          <p:cNvPr name="Group 18" id="18"/>
          <p:cNvGrpSpPr/>
          <p:nvPr/>
        </p:nvGrpSpPr>
        <p:grpSpPr>
          <a:xfrm rot="0">
            <a:off x="0" y="212512"/>
            <a:ext cx="18287524" cy="1069848"/>
            <a:chOff x="0" y="0"/>
            <a:chExt cx="24383365" cy="1426464"/>
          </a:xfrm>
        </p:grpSpPr>
        <p:sp>
          <p:nvSpPr>
            <p:cNvPr name="Freeform 19" id="19"/>
            <p:cNvSpPr/>
            <p:nvPr/>
          </p:nvSpPr>
          <p:spPr>
            <a:xfrm flipH="false" flipV="false" rot="0">
              <a:off x="0" y="0"/>
              <a:ext cx="24383364" cy="1426464"/>
            </a:xfrm>
            <a:custGeom>
              <a:avLst/>
              <a:gdLst/>
              <a:ahLst/>
              <a:cxnLst/>
              <a:rect r="r" b="b" t="t" l="l"/>
              <a:pathLst>
                <a:path h="1426464" w="24383364">
                  <a:moveTo>
                    <a:pt x="0" y="0"/>
                  </a:moveTo>
                  <a:lnTo>
                    <a:pt x="24383364" y="0"/>
                  </a:lnTo>
                  <a:lnTo>
                    <a:pt x="24383364" y="1426464"/>
                  </a:lnTo>
                  <a:lnTo>
                    <a:pt x="0" y="1426464"/>
                  </a:lnTo>
                  <a:close/>
                </a:path>
              </a:pathLst>
            </a:custGeom>
            <a:solidFill>
              <a:srgbClr val="115E59"/>
            </a:solidFill>
          </p:spPr>
        </p:sp>
      </p:grpSp>
      <p:sp>
        <p:nvSpPr>
          <p:cNvPr name="TextBox 20" id="20"/>
          <p:cNvSpPr txBox="true"/>
          <p:nvPr/>
        </p:nvSpPr>
        <p:spPr>
          <a:xfrm rot="0">
            <a:off x="703697" y="435778"/>
            <a:ext cx="13909291" cy="666750"/>
          </a:xfrm>
          <a:prstGeom prst="rect">
            <a:avLst/>
          </a:prstGeom>
        </p:spPr>
        <p:txBody>
          <a:bodyPr anchor="t" rtlCol="false" tIns="0" lIns="0" bIns="0" rIns="0">
            <a:spAutoFit/>
          </a:bodyPr>
          <a:lstStyle/>
          <a:p>
            <a:pPr algn="l">
              <a:lnSpc>
                <a:spcPts val="5235"/>
              </a:lnSpc>
            </a:pPr>
            <a:r>
              <a:rPr lang="en-US" sz="4362" b="true">
                <a:solidFill>
                  <a:srgbClr val="FFFFFF"/>
                </a:solidFill>
                <a:latin typeface="Lora Bold"/>
                <a:ea typeface="Lora Bold"/>
                <a:cs typeface="Lora Bold"/>
                <a:sym typeface="Lora Bold"/>
              </a:rPr>
              <a:t>Chinese Remainder Theorem (CRT)</a:t>
            </a:r>
          </a:p>
        </p:txBody>
      </p:sp>
      <p:grpSp>
        <p:nvGrpSpPr>
          <p:cNvPr name="Group 21" id="21"/>
          <p:cNvGrpSpPr/>
          <p:nvPr/>
        </p:nvGrpSpPr>
        <p:grpSpPr>
          <a:xfrm rot="0">
            <a:off x="16390620" y="212512"/>
            <a:ext cx="713232" cy="1069848"/>
            <a:chOff x="0" y="0"/>
            <a:chExt cx="950976" cy="1426464"/>
          </a:xfrm>
        </p:grpSpPr>
        <p:sp>
          <p:nvSpPr>
            <p:cNvPr name="Freeform 22" id="22"/>
            <p:cNvSpPr/>
            <p:nvPr/>
          </p:nvSpPr>
          <p:spPr>
            <a:xfrm flipH="false" flipV="false" rot="0">
              <a:off x="0" y="0"/>
              <a:ext cx="950976" cy="1426464"/>
            </a:xfrm>
            <a:custGeom>
              <a:avLst/>
              <a:gdLst/>
              <a:ahLst/>
              <a:cxnLst/>
              <a:rect r="r" b="b" t="t" l="l"/>
              <a:pathLst>
                <a:path h="1426464" w="950976">
                  <a:moveTo>
                    <a:pt x="0" y="1426464"/>
                  </a:moveTo>
                  <a:lnTo>
                    <a:pt x="237744" y="0"/>
                  </a:lnTo>
                  <a:lnTo>
                    <a:pt x="950976" y="0"/>
                  </a:lnTo>
                  <a:lnTo>
                    <a:pt x="713232" y="1426464"/>
                  </a:lnTo>
                  <a:close/>
                </a:path>
              </a:pathLst>
            </a:custGeom>
            <a:solidFill>
              <a:srgbClr val="F0FDF4"/>
            </a:solidFill>
          </p:spPr>
        </p:sp>
      </p:grpSp>
      <p:grpSp>
        <p:nvGrpSpPr>
          <p:cNvPr name="Group 23" id="23"/>
          <p:cNvGrpSpPr/>
          <p:nvPr/>
        </p:nvGrpSpPr>
        <p:grpSpPr>
          <a:xfrm rot="0">
            <a:off x="17035272" y="212512"/>
            <a:ext cx="754380" cy="1069848"/>
            <a:chOff x="0" y="0"/>
            <a:chExt cx="1005840" cy="1426464"/>
          </a:xfrm>
        </p:grpSpPr>
        <p:sp>
          <p:nvSpPr>
            <p:cNvPr name="Freeform 24" id="24"/>
            <p:cNvSpPr/>
            <p:nvPr/>
          </p:nvSpPr>
          <p:spPr>
            <a:xfrm flipH="false" flipV="false" rot="0">
              <a:off x="0" y="0"/>
              <a:ext cx="1005840" cy="1426464"/>
            </a:xfrm>
            <a:custGeom>
              <a:avLst/>
              <a:gdLst/>
              <a:ahLst/>
              <a:cxnLst/>
              <a:rect r="r" b="b" t="t" l="l"/>
              <a:pathLst>
                <a:path h="1426464" w="1005840">
                  <a:moveTo>
                    <a:pt x="0" y="1426464"/>
                  </a:moveTo>
                  <a:lnTo>
                    <a:pt x="251460" y="0"/>
                  </a:lnTo>
                  <a:lnTo>
                    <a:pt x="1005840" y="0"/>
                  </a:lnTo>
                  <a:lnTo>
                    <a:pt x="754380" y="1426464"/>
                  </a:lnTo>
                  <a:close/>
                </a:path>
              </a:pathLst>
            </a:custGeom>
            <a:solidFill>
              <a:srgbClr val="9FC7AA"/>
            </a:solidFill>
          </p:spPr>
        </p:sp>
      </p:grpSp>
      <p:grpSp>
        <p:nvGrpSpPr>
          <p:cNvPr name="Group 25" id="25"/>
          <p:cNvGrpSpPr/>
          <p:nvPr/>
        </p:nvGrpSpPr>
        <p:grpSpPr>
          <a:xfrm rot="0">
            <a:off x="0" y="9777774"/>
            <a:ext cx="18287524" cy="516293"/>
            <a:chOff x="0" y="0"/>
            <a:chExt cx="24383365" cy="688391"/>
          </a:xfrm>
        </p:grpSpPr>
        <p:sp>
          <p:nvSpPr>
            <p:cNvPr name="Freeform 26" id="26"/>
            <p:cNvSpPr/>
            <p:nvPr/>
          </p:nvSpPr>
          <p:spPr>
            <a:xfrm flipH="false" flipV="false" rot="0">
              <a:off x="0" y="-23"/>
              <a:ext cx="24383364" cy="688386"/>
            </a:xfrm>
            <a:custGeom>
              <a:avLst/>
              <a:gdLst/>
              <a:ahLst/>
              <a:cxnLst/>
              <a:rect r="r" b="b" t="t" l="l"/>
              <a:pathLst>
                <a:path h="688386" w="24383364">
                  <a:moveTo>
                    <a:pt x="0" y="83589"/>
                  </a:moveTo>
                  <a:cubicBezTo>
                    <a:pt x="8127746" y="-205971"/>
                    <a:pt x="16255619" y="373149"/>
                    <a:pt x="24383364" y="83589"/>
                  </a:cubicBezTo>
                  <a:lnTo>
                    <a:pt x="24383364" y="604797"/>
                  </a:lnTo>
                  <a:cubicBezTo>
                    <a:pt x="16255619" y="894357"/>
                    <a:pt x="8127746" y="315237"/>
                    <a:pt x="0" y="604797"/>
                  </a:cubicBezTo>
                  <a:close/>
                </a:path>
              </a:pathLst>
            </a:custGeom>
            <a:solidFill>
              <a:srgbClr val="9FC7AA"/>
            </a:solidFill>
          </p:spPr>
        </p:sp>
      </p:grpSp>
      <p:sp>
        <p:nvSpPr>
          <p:cNvPr name="Freeform 27" id="27"/>
          <p:cNvSpPr/>
          <p:nvPr/>
        </p:nvSpPr>
        <p:spPr>
          <a:xfrm flipH="false" flipV="false" rot="0">
            <a:off x="1023585" y="1650921"/>
            <a:ext cx="7612809" cy="2099300"/>
          </a:xfrm>
          <a:custGeom>
            <a:avLst/>
            <a:gdLst/>
            <a:ahLst/>
            <a:cxnLst/>
            <a:rect r="r" b="b" t="t" l="l"/>
            <a:pathLst>
              <a:path h="2099300" w="7612809">
                <a:moveTo>
                  <a:pt x="0" y="0"/>
                </a:moveTo>
                <a:lnTo>
                  <a:pt x="7612809" y="0"/>
                </a:lnTo>
                <a:lnTo>
                  <a:pt x="7612809" y="2099300"/>
                </a:lnTo>
                <a:lnTo>
                  <a:pt x="0" y="20993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28" id="28"/>
          <p:cNvGrpSpPr/>
          <p:nvPr/>
        </p:nvGrpSpPr>
        <p:grpSpPr>
          <a:xfrm rot="0">
            <a:off x="1271035" y="1898371"/>
            <a:ext cx="811235" cy="654225"/>
            <a:chOff x="0" y="0"/>
            <a:chExt cx="1081646" cy="872300"/>
          </a:xfrm>
        </p:grpSpPr>
        <p:sp>
          <p:nvSpPr>
            <p:cNvPr name="Freeform 29" id="29"/>
            <p:cNvSpPr/>
            <p:nvPr/>
          </p:nvSpPr>
          <p:spPr>
            <a:xfrm flipH="false" flipV="false" rot="0">
              <a:off x="0" y="0"/>
              <a:ext cx="1081659" cy="872363"/>
            </a:xfrm>
            <a:custGeom>
              <a:avLst/>
              <a:gdLst/>
              <a:ahLst/>
              <a:cxnLst/>
              <a:rect r="r" b="b" t="t" l="l"/>
              <a:pathLst>
                <a:path h="872363" w="1081659">
                  <a:moveTo>
                    <a:pt x="0" y="145415"/>
                  </a:moveTo>
                  <a:cubicBezTo>
                    <a:pt x="0" y="65024"/>
                    <a:pt x="65024" y="0"/>
                    <a:pt x="145415" y="0"/>
                  </a:cubicBezTo>
                  <a:lnTo>
                    <a:pt x="936244" y="0"/>
                  </a:lnTo>
                  <a:cubicBezTo>
                    <a:pt x="1016508" y="0"/>
                    <a:pt x="1081659" y="65024"/>
                    <a:pt x="1081659" y="145415"/>
                  </a:cubicBezTo>
                  <a:lnTo>
                    <a:pt x="1081659" y="726948"/>
                  </a:lnTo>
                  <a:cubicBezTo>
                    <a:pt x="1081659" y="807212"/>
                    <a:pt x="1016635" y="872363"/>
                    <a:pt x="936244" y="872363"/>
                  </a:cubicBezTo>
                  <a:lnTo>
                    <a:pt x="145415" y="872363"/>
                  </a:lnTo>
                  <a:cubicBezTo>
                    <a:pt x="65024" y="872236"/>
                    <a:pt x="0" y="807212"/>
                    <a:pt x="0" y="726948"/>
                  </a:cubicBezTo>
                  <a:close/>
                </a:path>
              </a:pathLst>
            </a:custGeom>
            <a:solidFill>
              <a:srgbClr val="007E77"/>
            </a:solidFill>
          </p:spPr>
        </p:sp>
      </p:grpSp>
      <p:sp>
        <p:nvSpPr>
          <p:cNvPr name="TextBox 30" id="30"/>
          <p:cNvSpPr txBox="true"/>
          <p:nvPr/>
        </p:nvSpPr>
        <p:spPr>
          <a:xfrm rot="0">
            <a:off x="1349540" y="2068468"/>
            <a:ext cx="654225" cy="371475"/>
          </a:xfrm>
          <a:prstGeom prst="rect">
            <a:avLst/>
          </a:prstGeom>
        </p:spPr>
        <p:txBody>
          <a:bodyPr anchor="t" rtlCol="false" tIns="0" lIns="0" bIns="0" rIns="0">
            <a:spAutoFit/>
          </a:bodyPr>
          <a:lstStyle/>
          <a:p>
            <a:pPr algn="ctr">
              <a:lnSpc>
                <a:spcPts val="2968"/>
              </a:lnSpc>
            </a:pPr>
            <a:r>
              <a:rPr lang="en-US" sz="2474" b="true">
                <a:solidFill>
                  <a:srgbClr val="FFFFFF"/>
                </a:solidFill>
                <a:latin typeface="Aptos Bold"/>
                <a:ea typeface="Aptos Bold"/>
                <a:cs typeface="Aptos Bold"/>
                <a:sym typeface="Aptos Bold"/>
              </a:rPr>
              <a:t>01</a:t>
            </a:r>
          </a:p>
        </p:txBody>
      </p:sp>
      <p:sp>
        <p:nvSpPr>
          <p:cNvPr name="TextBox 31" id="31"/>
          <p:cNvSpPr txBox="true"/>
          <p:nvPr/>
        </p:nvSpPr>
        <p:spPr>
          <a:xfrm rot="0">
            <a:off x="2357037" y="1924536"/>
            <a:ext cx="5927236" cy="409575"/>
          </a:xfrm>
          <a:prstGeom prst="rect">
            <a:avLst/>
          </a:prstGeom>
        </p:spPr>
        <p:txBody>
          <a:bodyPr anchor="t" rtlCol="false" tIns="0" lIns="0" bIns="0" rIns="0">
            <a:spAutoFit/>
          </a:bodyPr>
          <a:lstStyle/>
          <a:p>
            <a:pPr algn="l">
              <a:lnSpc>
                <a:spcPts val="3226"/>
              </a:lnSpc>
            </a:pPr>
            <a:r>
              <a:rPr lang="en-US" sz="2688" b="true">
                <a:solidFill>
                  <a:srgbClr val="1B2A41"/>
                </a:solidFill>
                <a:latin typeface="Aptos Bold"/>
                <a:ea typeface="Aptos Bold"/>
                <a:cs typeface="Aptos Bold"/>
                <a:sym typeface="Aptos Bold"/>
              </a:rPr>
              <a:t>What CRT does</a:t>
            </a:r>
          </a:p>
        </p:txBody>
      </p:sp>
      <p:sp>
        <p:nvSpPr>
          <p:cNvPr name="TextBox 32" id="32"/>
          <p:cNvSpPr txBox="true"/>
          <p:nvPr/>
        </p:nvSpPr>
        <p:spPr>
          <a:xfrm rot="0">
            <a:off x="2357037" y="2539498"/>
            <a:ext cx="5861818" cy="1028700"/>
          </a:xfrm>
          <a:prstGeom prst="rect">
            <a:avLst/>
          </a:prstGeom>
        </p:spPr>
        <p:txBody>
          <a:bodyPr anchor="t" rtlCol="false" tIns="0" lIns="0" bIns="0" rIns="0">
            <a:spAutoFit/>
          </a:bodyPr>
          <a:lstStyle/>
          <a:p>
            <a:pPr algn="l">
              <a:lnSpc>
                <a:spcPts val="2763"/>
              </a:lnSpc>
            </a:pPr>
            <a:r>
              <a:rPr lang="en-US" sz="2303">
                <a:solidFill>
                  <a:srgbClr val="536577"/>
                </a:solidFill>
                <a:latin typeface="Aptos"/>
                <a:ea typeface="Aptos"/>
                <a:cs typeface="Aptos"/>
                <a:sym typeface="Aptos"/>
              </a:rPr>
              <a:t>Solves simultaneous congruences to find a time that satisfies multiple repeating signal cycles.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81449" y="2934557"/>
            <a:ext cx="4700502" cy="6347660"/>
          </a:xfrm>
          <a:custGeom>
            <a:avLst/>
            <a:gdLst/>
            <a:ahLst/>
            <a:cxnLst/>
            <a:rect r="r" b="b" t="t" l="l"/>
            <a:pathLst>
              <a:path h="6347660" w="4700502">
                <a:moveTo>
                  <a:pt x="0" y="0"/>
                </a:moveTo>
                <a:lnTo>
                  <a:pt x="4700502" y="0"/>
                </a:lnTo>
                <a:lnTo>
                  <a:pt x="4700502" y="6347660"/>
                </a:lnTo>
                <a:lnTo>
                  <a:pt x="0" y="63476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372676" y="3206734"/>
            <a:ext cx="4118019" cy="705383"/>
          </a:xfrm>
          <a:prstGeom prst="rect">
            <a:avLst/>
          </a:prstGeom>
        </p:spPr>
        <p:txBody>
          <a:bodyPr anchor="t" rtlCol="false" tIns="0" lIns="0" bIns="0" rIns="0">
            <a:spAutoFit/>
          </a:bodyPr>
          <a:lstStyle/>
          <a:p>
            <a:pPr algn="l">
              <a:lnSpc>
                <a:spcPts val="2702"/>
              </a:lnSpc>
            </a:pPr>
            <a:r>
              <a:rPr lang="en-US" sz="2250" b="true">
                <a:solidFill>
                  <a:srgbClr val="0F172A"/>
                </a:solidFill>
                <a:latin typeface="Inter Bold"/>
                <a:ea typeface="Inter Bold"/>
                <a:cs typeface="Inter Bold"/>
                <a:sym typeface="Inter Bold"/>
              </a:rPr>
              <a:t>1. Intersection Congruences</a:t>
            </a:r>
          </a:p>
        </p:txBody>
      </p:sp>
      <p:sp>
        <p:nvSpPr>
          <p:cNvPr name="Freeform 4" id="4"/>
          <p:cNvSpPr/>
          <p:nvPr/>
        </p:nvSpPr>
        <p:spPr>
          <a:xfrm flipH="false" flipV="false" rot="0">
            <a:off x="1355989" y="4032694"/>
            <a:ext cx="4151290" cy="1337320"/>
          </a:xfrm>
          <a:custGeom>
            <a:avLst/>
            <a:gdLst/>
            <a:ahLst/>
            <a:cxnLst/>
            <a:rect r="r" b="b" t="t" l="l"/>
            <a:pathLst>
              <a:path h="1337320" w="4151290">
                <a:moveTo>
                  <a:pt x="0" y="0"/>
                </a:moveTo>
                <a:lnTo>
                  <a:pt x="4151290" y="0"/>
                </a:lnTo>
                <a:lnTo>
                  <a:pt x="4151290" y="1337320"/>
                </a:lnTo>
                <a:lnTo>
                  <a:pt x="0" y="13373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1372676" y="5257333"/>
            <a:ext cx="4118038" cy="57150"/>
            <a:chOff x="0" y="0"/>
            <a:chExt cx="5490718" cy="76200"/>
          </a:xfrm>
        </p:grpSpPr>
        <p:sp>
          <p:nvSpPr>
            <p:cNvPr name="Freeform 6" id="6"/>
            <p:cNvSpPr/>
            <p:nvPr/>
          </p:nvSpPr>
          <p:spPr>
            <a:xfrm flipH="false" flipV="false" rot="0">
              <a:off x="0" y="0"/>
              <a:ext cx="5490718" cy="76200"/>
            </a:xfrm>
            <a:custGeom>
              <a:avLst/>
              <a:gdLst/>
              <a:ahLst/>
              <a:cxnLst/>
              <a:rect r="r" b="b" t="t" l="l"/>
              <a:pathLst>
                <a:path h="76200" w="5490718">
                  <a:moveTo>
                    <a:pt x="0" y="0"/>
                  </a:moveTo>
                  <a:lnTo>
                    <a:pt x="5490718" y="0"/>
                  </a:lnTo>
                  <a:lnTo>
                    <a:pt x="5490718" y="76200"/>
                  </a:lnTo>
                  <a:lnTo>
                    <a:pt x="0" y="76200"/>
                  </a:lnTo>
                  <a:close/>
                </a:path>
              </a:pathLst>
            </a:custGeom>
            <a:solidFill>
              <a:srgbClr val="059669"/>
            </a:solidFill>
          </p:spPr>
        </p:sp>
      </p:grpSp>
      <p:sp>
        <p:nvSpPr>
          <p:cNvPr name="TextBox 7" id="7"/>
          <p:cNvSpPr txBox="true"/>
          <p:nvPr/>
        </p:nvSpPr>
        <p:spPr>
          <a:xfrm rot="0">
            <a:off x="1578569" y="4177122"/>
            <a:ext cx="3706216" cy="752517"/>
          </a:xfrm>
          <a:prstGeom prst="rect">
            <a:avLst/>
          </a:prstGeom>
        </p:spPr>
        <p:txBody>
          <a:bodyPr anchor="t" rtlCol="false" tIns="0" lIns="0" bIns="0" rIns="0">
            <a:spAutoFit/>
          </a:bodyPr>
          <a:lstStyle/>
          <a:p>
            <a:pPr algn="l">
              <a:lnSpc>
                <a:spcPts val="2400"/>
              </a:lnSpc>
            </a:pPr>
            <a:r>
              <a:rPr lang="en-US" sz="2000" b="true">
                <a:solidFill>
                  <a:srgbClr val="64748B"/>
                </a:solidFill>
                <a:latin typeface="Inter Bold"/>
                <a:ea typeface="Inter Bold"/>
                <a:cs typeface="Inter Bold"/>
                <a:sym typeface="Inter Bold"/>
              </a:rPr>
              <a:t>Signal 1</a:t>
            </a:r>
          </a:p>
          <a:p>
            <a:pPr algn="l">
              <a:lnSpc>
                <a:spcPts val="3481"/>
              </a:lnSpc>
            </a:pPr>
            <a:r>
              <a:rPr lang="en-US" sz="2901" b="true">
                <a:solidFill>
                  <a:srgbClr val="0F172A"/>
                </a:solidFill>
                <a:latin typeface="Fira Code Bold"/>
                <a:ea typeface="Fira Code Bold"/>
                <a:cs typeface="Fira Code Bold"/>
                <a:sym typeface="Fira Code Bold"/>
              </a:rPr>
              <a:t>t ≡ 2 (mod 5)</a:t>
            </a:r>
          </a:p>
        </p:txBody>
      </p:sp>
      <p:sp>
        <p:nvSpPr>
          <p:cNvPr name="Freeform 8" id="8"/>
          <p:cNvSpPr/>
          <p:nvPr/>
        </p:nvSpPr>
        <p:spPr>
          <a:xfrm flipH="false" flipV="false" rot="0">
            <a:off x="1355989" y="5611273"/>
            <a:ext cx="4151290" cy="1337320"/>
          </a:xfrm>
          <a:custGeom>
            <a:avLst/>
            <a:gdLst/>
            <a:ahLst/>
            <a:cxnLst/>
            <a:rect r="r" b="b" t="t" l="l"/>
            <a:pathLst>
              <a:path h="1337320" w="4151290">
                <a:moveTo>
                  <a:pt x="0" y="0"/>
                </a:moveTo>
                <a:lnTo>
                  <a:pt x="4151290" y="0"/>
                </a:lnTo>
                <a:lnTo>
                  <a:pt x="4151290" y="1337319"/>
                </a:lnTo>
                <a:lnTo>
                  <a:pt x="0" y="133731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p:nvPr/>
        </p:nvGrpSpPr>
        <p:grpSpPr>
          <a:xfrm rot="0">
            <a:off x="1372676" y="6835912"/>
            <a:ext cx="4118038" cy="57150"/>
            <a:chOff x="0" y="0"/>
            <a:chExt cx="5490718" cy="76200"/>
          </a:xfrm>
        </p:grpSpPr>
        <p:sp>
          <p:nvSpPr>
            <p:cNvPr name="Freeform 10" id="10"/>
            <p:cNvSpPr/>
            <p:nvPr/>
          </p:nvSpPr>
          <p:spPr>
            <a:xfrm flipH="false" flipV="false" rot="0">
              <a:off x="0" y="0"/>
              <a:ext cx="5490718" cy="76200"/>
            </a:xfrm>
            <a:custGeom>
              <a:avLst/>
              <a:gdLst/>
              <a:ahLst/>
              <a:cxnLst/>
              <a:rect r="r" b="b" t="t" l="l"/>
              <a:pathLst>
                <a:path h="76200" w="5490718">
                  <a:moveTo>
                    <a:pt x="0" y="0"/>
                  </a:moveTo>
                  <a:lnTo>
                    <a:pt x="5490718" y="0"/>
                  </a:lnTo>
                  <a:lnTo>
                    <a:pt x="5490718" y="76200"/>
                  </a:lnTo>
                  <a:lnTo>
                    <a:pt x="0" y="76200"/>
                  </a:lnTo>
                  <a:close/>
                </a:path>
              </a:pathLst>
            </a:custGeom>
            <a:solidFill>
              <a:srgbClr val="0284C7"/>
            </a:solidFill>
          </p:spPr>
        </p:sp>
      </p:grpSp>
      <p:sp>
        <p:nvSpPr>
          <p:cNvPr name="TextBox 11" id="11"/>
          <p:cNvSpPr txBox="true"/>
          <p:nvPr/>
        </p:nvSpPr>
        <p:spPr>
          <a:xfrm rot="0">
            <a:off x="1578569" y="5755700"/>
            <a:ext cx="3706216" cy="752517"/>
          </a:xfrm>
          <a:prstGeom prst="rect">
            <a:avLst/>
          </a:prstGeom>
        </p:spPr>
        <p:txBody>
          <a:bodyPr anchor="t" rtlCol="false" tIns="0" lIns="0" bIns="0" rIns="0">
            <a:spAutoFit/>
          </a:bodyPr>
          <a:lstStyle/>
          <a:p>
            <a:pPr algn="l">
              <a:lnSpc>
                <a:spcPts val="2400"/>
              </a:lnSpc>
            </a:pPr>
            <a:r>
              <a:rPr lang="en-US" sz="2000" b="true">
                <a:solidFill>
                  <a:srgbClr val="64748B"/>
                </a:solidFill>
                <a:latin typeface="Inter Bold"/>
                <a:ea typeface="Inter Bold"/>
                <a:cs typeface="Inter Bold"/>
                <a:sym typeface="Inter Bold"/>
              </a:rPr>
              <a:t>Signal 2</a:t>
            </a:r>
          </a:p>
          <a:p>
            <a:pPr algn="l">
              <a:lnSpc>
                <a:spcPts val="3481"/>
              </a:lnSpc>
            </a:pPr>
            <a:r>
              <a:rPr lang="en-US" sz="2901" b="true">
                <a:solidFill>
                  <a:srgbClr val="0F172A"/>
                </a:solidFill>
                <a:latin typeface="Fira Code Bold"/>
                <a:ea typeface="Fira Code Bold"/>
                <a:cs typeface="Fira Code Bold"/>
                <a:sym typeface="Fira Code Bold"/>
              </a:rPr>
              <a:t>t ≡ 3 (mod 7)</a:t>
            </a:r>
          </a:p>
        </p:txBody>
      </p:sp>
      <p:sp>
        <p:nvSpPr>
          <p:cNvPr name="Freeform 12" id="12"/>
          <p:cNvSpPr/>
          <p:nvPr/>
        </p:nvSpPr>
        <p:spPr>
          <a:xfrm flipH="false" flipV="false" rot="0">
            <a:off x="1355989" y="7189841"/>
            <a:ext cx="4151290" cy="1337320"/>
          </a:xfrm>
          <a:custGeom>
            <a:avLst/>
            <a:gdLst/>
            <a:ahLst/>
            <a:cxnLst/>
            <a:rect r="r" b="b" t="t" l="l"/>
            <a:pathLst>
              <a:path h="1337320" w="4151290">
                <a:moveTo>
                  <a:pt x="0" y="0"/>
                </a:moveTo>
                <a:lnTo>
                  <a:pt x="4151290" y="0"/>
                </a:lnTo>
                <a:lnTo>
                  <a:pt x="4151290" y="1337320"/>
                </a:lnTo>
                <a:lnTo>
                  <a:pt x="0" y="13373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3" id="13"/>
          <p:cNvGrpSpPr/>
          <p:nvPr/>
        </p:nvGrpSpPr>
        <p:grpSpPr>
          <a:xfrm rot="0">
            <a:off x="1372676" y="8414480"/>
            <a:ext cx="4118038" cy="57150"/>
            <a:chOff x="0" y="0"/>
            <a:chExt cx="5490718" cy="76200"/>
          </a:xfrm>
        </p:grpSpPr>
        <p:sp>
          <p:nvSpPr>
            <p:cNvPr name="Freeform 14" id="14"/>
            <p:cNvSpPr/>
            <p:nvPr/>
          </p:nvSpPr>
          <p:spPr>
            <a:xfrm flipH="false" flipV="false" rot="0">
              <a:off x="0" y="0"/>
              <a:ext cx="5490718" cy="76200"/>
            </a:xfrm>
            <a:custGeom>
              <a:avLst/>
              <a:gdLst/>
              <a:ahLst/>
              <a:cxnLst/>
              <a:rect r="r" b="b" t="t" l="l"/>
              <a:pathLst>
                <a:path h="76200" w="5490718">
                  <a:moveTo>
                    <a:pt x="0" y="0"/>
                  </a:moveTo>
                  <a:lnTo>
                    <a:pt x="5490718" y="0"/>
                  </a:lnTo>
                  <a:lnTo>
                    <a:pt x="5490718" y="76200"/>
                  </a:lnTo>
                  <a:lnTo>
                    <a:pt x="0" y="76200"/>
                  </a:lnTo>
                  <a:close/>
                </a:path>
              </a:pathLst>
            </a:custGeom>
            <a:solidFill>
              <a:srgbClr val="EA580C"/>
            </a:solidFill>
          </p:spPr>
        </p:sp>
      </p:grpSp>
      <p:sp>
        <p:nvSpPr>
          <p:cNvPr name="TextBox 15" id="15"/>
          <p:cNvSpPr txBox="true"/>
          <p:nvPr/>
        </p:nvSpPr>
        <p:spPr>
          <a:xfrm rot="0">
            <a:off x="1578569" y="7334269"/>
            <a:ext cx="3706216" cy="752517"/>
          </a:xfrm>
          <a:prstGeom prst="rect">
            <a:avLst/>
          </a:prstGeom>
        </p:spPr>
        <p:txBody>
          <a:bodyPr anchor="t" rtlCol="false" tIns="0" lIns="0" bIns="0" rIns="0">
            <a:spAutoFit/>
          </a:bodyPr>
          <a:lstStyle/>
          <a:p>
            <a:pPr algn="l">
              <a:lnSpc>
                <a:spcPts val="2400"/>
              </a:lnSpc>
            </a:pPr>
            <a:r>
              <a:rPr lang="en-US" sz="2000" b="true">
                <a:solidFill>
                  <a:srgbClr val="64748B"/>
                </a:solidFill>
                <a:latin typeface="Inter Bold"/>
                <a:ea typeface="Inter Bold"/>
                <a:cs typeface="Inter Bold"/>
                <a:sym typeface="Inter Bold"/>
              </a:rPr>
              <a:t>Signal 3</a:t>
            </a:r>
          </a:p>
          <a:p>
            <a:pPr algn="l">
              <a:lnSpc>
                <a:spcPts val="3481"/>
              </a:lnSpc>
            </a:pPr>
            <a:r>
              <a:rPr lang="en-US" sz="2901" b="true">
                <a:solidFill>
                  <a:srgbClr val="0F172A"/>
                </a:solidFill>
                <a:latin typeface="Fira Code Bold"/>
                <a:ea typeface="Fira Code Bold"/>
                <a:cs typeface="Fira Code Bold"/>
                <a:sym typeface="Fira Code Bold"/>
              </a:rPr>
              <a:t>t ≡ 2 (mod 3)</a:t>
            </a:r>
          </a:p>
        </p:txBody>
      </p:sp>
      <p:sp>
        <p:nvSpPr>
          <p:cNvPr name="TextBox 16" id="16"/>
          <p:cNvSpPr txBox="true"/>
          <p:nvPr/>
        </p:nvSpPr>
        <p:spPr>
          <a:xfrm rot="0">
            <a:off x="1372676" y="8697420"/>
            <a:ext cx="4118019" cy="600105"/>
          </a:xfrm>
          <a:prstGeom prst="rect">
            <a:avLst/>
          </a:prstGeom>
        </p:spPr>
        <p:txBody>
          <a:bodyPr anchor="t" rtlCol="false" tIns="0" lIns="0" bIns="0" rIns="0">
            <a:spAutoFit/>
          </a:bodyPr>
          <a:lstStyle/>
          <a:p>
            <a:pPr algn="l">
              <a:lnSpc>
                <a:spcPts val="2340"/>
              </a:lnSpc>
            </a:pPr>
            <a:r>
              <a:rPr lang="en-US" sz="1950">
                <a:solidFill>
                  <a:srgbClr val="64748B"/>
                </a:solidFill>
                <a:latin typeface="Inter"/>
                <a:ea typeface="Inter"/>
                <a:cs typeface="Inter"/>
                <a:sym typeface="Inter"/>
              </a:rPr>
              <a:t>Moduli {5, 7, 3} are pairwise coprime.</a:t>
            </a:r>
          </a:p>
        </p:txBody>
      </p:sp>
      <p:sp>
        <p:nvSpPr>
          <p:cNvPr name="Freeform 17" id="17"/>
          <p:cNvSpPr/>
          <p:nvPr/>
        </p:nvSpPr>
        <p:spPr>
          <a:xfrm flipH="false" flipV="false" rot="0">
            <a:off x="6023077" y="2934557"/>
            <a:ext cx="6484915" cy="6347660"/>
          </a:xfrm>
          <a:custGeom>
            <a:avLst/>
            <a:gdLst/>
            <a:ahLst/>
            <a:cxnLst/>
            <a:rect r="r" b="b" t="t" l="l"/>
            <a:pathLst>
              <a:path h="6347660" w="6484915">
                <a:moveTo>
                  <a:pt x="0" y="0"/>
                </a:moveTo>
                <a:lnTo>
                  <a:pt x="6484915" y="0"/>
                </a:lnTo>
                <a:lnTo>
                  <a:pt x="6484915" y="6347660"/>
                </a:lnTo>
                <a:lnTo>
                  <a:pt x="0" y="63476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8" id="18"/>
          <p:cNvSpPr txBox="true"/>
          <p:nvPr/>
        </p:nvSpPr>
        <p:spPr>
          <a:xfrm rot="0">
            <a:off x="6314294" y="3206734"/>
            <a:ext cx="5902490" cy="705383"/>
          </a:xfrm>
          <a:prstGeom prst="rect">
            <a:avLst/>
          </a:prstGeom>
        </p:spPr>
        <p:txBody>
          <a:bodyPr anchor="t" rtlCol="false" tIns="0" lIns="0" bIns="0" rIns="0">
            <a:spAutoFit/>
          </a:bodyPr>
          <a:lstStyle/>
          <a:p>
            <a:pPr algn="l">
              <a:lnSpc>
                <a:spcPts val="2702"/>
              </a:lnSpc>
            </a:pPr>
            <a:r>
              <a:rPr lang="en-US" sz="2250" b="true">
                <a:solidFill>
                  <a:srgbClr val="0F172A"/>
                </a:solidFill>
                <a:latin typeface="Inter Bold"/>
                <a:ea typeface="Inter Bold"/>
                <a:cs typeface="Inter Bold"/>
                <a:sym typeface="Inter Bold"/>
              </a:rPr>
              <a:t>2. Step-by-Step CRT Calculation</a:t>
            </a:r>
          </a:p>
        </p:txBody>
      </p:sp>
      <p:sp>
        <p:nvSpPr>
          <p:cNvPr name="Freeform 19" id="19"/>
          <p:cNvSpPr/>
          <p:nvPr/>
        </p:nvSpPr>
        <p:spPr>
          <a:xfrm flipH="false" flipV="false" rot="0">
            <a:off x="6297606" y="3964067"/>
            <a:ext cx="5935894" cy="1131484"/>
          </a:xfrm>
          <a:custGeom>
            <a:avLst/>
            <a:gdLst/>
            <a:ahLst/>
            <a:cxnLst/>
            <a:rect r="r" b="b" t="t" l="l"/>
            <a:pathLst>
              <a:path h="1131484" w="5935894">
                <a:moveTo>
                  <a:pt x="0" y="0"/>
                </a:moveTo>
                <a:lnTo>
                  <a:pt x="5935894" y="0"/>
                </a:lnTo>
                <a:lnTo>
                  <a:pt x="5935894" y="1131484"/>
                </a:lnTo>
                <a:lnTo>
                  <a:pt x="0" y="113148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0" id="20"/>
          <p:cNvGrpSpPr/>
          <p:nvPr/>
        </p:nvGrpSpPr>
        <p:grpSpPr>
          <a:xfrm rot="0">
            <a:off x="6520196" y="4227833"/>
            <a:ext cx="603980" cy="603980"/>
            <a:chOff x="0" y="0"/>
            <a:chExt cx="805307" cy="805307"/>
          </a:xfrm>
        </p:grpSpPr>
        <p:sp>
          <p:nvSpPr>
            <p:cNvPr name="Freeform 21" id="21"/>
            <p:cNvSpPr/>
            <p:nvPr/>
          </p:nvSpPr>
          <p:spPr>
            <a:xfrm flipH="false" flipV="false" rot="0">
              <a:off x="0" y="0"/>
              <a:ext cx="805307" cy="805307"/>
            </a:xfrm>
            <a:custGeom>
              <a:avLst/>
              <a:gdLst/>
              <a:ahLst/>
              <a:cxnLst/>
              <a:rect r="r" b="b" t="t" l="l"/>
              <a:pathLst>
                <a:path h="805307" w="805307">
                  <a:moveTo>
                    <a:pt x="0" y="64389"/>
                  </a:moveTo>
                  <a:cubicBezTo>
                    <a:pt x="0" y="28829"/>
                    <a:pt x="28829" y="0"/>
                    <a:pt x="64389" y="0"/>
                  </a:cubicBezTo>
                  <a:lnTo>
                    <a:pt x="740918" y="0"/>
                  </a:lnTo>
                  <a:cubicBezTo>
                    <a:pt x="776478" y="0"/>
                    <a:pt x="805307" y="28829"/>
                    <a:pt x="805307" y="64389"/>
                  </a:cubicBezTo>
                  <a:lnTo>
                    <a:pt x="805307" y="740918"/>
                  </a:lnTo>
                  <a:cubicBezTo>
                    <a:pt x="805307" y="776478"/>
                    <a:pt x="776478" y="805307"/>
                    <a:pt x="740918" y="805307"/>
                  </a:cubicBezTo>
                  <a:lnTo>
                    <a:pt x="64389" y="805307"/>
                  </a:lnTo>
                  <a:cubicBezTo>
                    <a:pt x="28829" y="805307"/>
                    <a:pt x="0" y="776478"/>
                    <a:pt x="0" y="740918"/>
                  </a:cubicBezTo>
                  <a:close/>
                </a:path>
              </a:pathLst>
            </a:custGeom>
            <a:solidFill>
              <a:srgbClr val="CCFBF1"/>
            </a:solidFill>
          </p:spPr>
        </p:sp>
      </p:grpSp>
      <p:sp>
        <p:nvSpPr>
          <p:cNvPr name="TextBox 22" id="22"/>
          <p:cNvSpPr txBox="true"/>
          <p:nvPr/>
        </p:nvSpPr>
        <p:spPr>
          <a:xfrm rot="0">
            <a:off x="6520196" y="4263685"/>
            <a:ext cx="603980" cy="568119"/>
          </a:xfrm>
          <a:prstGeom prst="rect">
            <a:avLst/>
          </a:prstGeom>
        </p:spPr>
        <p:txBody>
          <a:bodyPr anchor="t" rtlCol="false" tIns="0" lIns="0" bIns="0" rIns="0">
            <a:spAutoFit/>
          </a:bodyPr>
          <a:lstStyle/>
          <a:p>
            <a:pPr algn="ctr">
              <a:lnSpc>
                <a:spcPts val="2341"/>
              </a:lnSpc>
            </a:pPr>
            <a:r>
              <a:rPr lang="en-US" sz="1950" b="true">
                <a:solidFill>
                  <a:srgbClr val="0F766E"/>
                </a:solidFill>
                <a:latin typeface="Inter Bold"/>
                <a:ea typeface="Inter Bold"/>
                <a:cs typeface="Inter Bold"/>
                <a:sym typeface="Inter Bold"/>
              </a:rPr>
              <a:t>1</a:t>
            </a:r>
          </a:p>
        </p:txBody>
      </p:sp>
      <p:sp>
        <p:nvSpPr>
          <p:cNvPr name="TextBox 23" id="23"/>
          <p:cNvSpPr txBox="true"/>
          <p:nvPr/>
        </p:nvSpPr>
        <p:spPr>
          <a:xfrm rot="0">
            <a:off x="7343794" y="4135946"/>
            <a:ext cx="4667088" cy="647727"/>
          </a:xfrm>
          <a:prstGeom prst="rect">
            <a:avLst/>
          </a:prstGeom>
        </p:spPr>
        <p:txBody>
          <a:bodyPr anchor="t" rtlCol="false" tIns="0" lIns="0" bIns="0" rIns="0">
            <a:spAutoFit/>
          </a:bodyPr>
          <a:lstStyle/>
          <a:p>
            <a:pPr algn="l">
              <a:lnSpc>
                <a:spcPts val="2580"/>
              </a:lnSpc>
            </a:pPr>
            <a:r>
              <a:rPr lang="en-US" sz="2150" b="true">
                <a:solidFill>
                  <a:srgbClr val="0F172A"/>
                </a:solidFill>
                <a:latin typeface="Inter Bold"/>
                <a:ea typeface="Inter Bold"/>
                <a:cs typeface="Inter Bold"/>
                <a:sym typeface="Inter Bold"/>
              </a:rPr>
              <a:t>Total Modulus (M): </a:t>
            </a:r>
            <a:r>
              <a:rPr lang="en-US" sz="2150">
                <a:solidFill>
                  <a:srgbClr val="0F766E"/>
                </a:solidFill>
                <a:latin typeface="Inter"/>
                <a:ea typeface="Inter"/>
                <a:cs typeface="Inter"/>
                <a:sym typeface="Inter"/>
              </a:rPr>
              <a:t>M = 5 × 7 × 3 = 105</a:t>
            </a:r>
          </a:p>
        </p:txBody>
      </p:sp>
      <p:sp>
        <p:nvSpPr>
          <p:cNvPr name="Freeform 24" id="24"/>
          <p:cNvSpPr/>
          <p:nvPr/>
        </p:nvSpPr>
        <p:spPr>
          <a:xfrm flipH="false" flipV="false" rot="0">
            <a:off x="6297606" y="5268106"/>
            <a:ext cx="5935894" cy="1131484"/>
          </a:xfrm>
          <a:custGeom>
            <a:avLst/>
            <a:gdLst/>
            <a:ahLst/>
            <a:cxnLst/>
            <a:rect r="r" b="b" t="t" l="l"/>
            <a:pathLst>
              <a:path h="1131484" w="5935894">
                <a:moveTo>
                  <a:pt x="0" y="0"/>
                </a:moveTo>
                <a:lnTo>
                  <a:pt x="5935894" y="0"/>
                </a:lnTo>
                <a:lnTo>
                  <a:pt x="5935894" y="1131484"/>
                </a:lnTo>
                <a:lnTo>
                  <a:pt x="0" y="113148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5" id="25"/>
          <p:cNvGrpSpPr/>
          <p:nvPr/>
        </p:nvGrpSpPr>
        <p:grpSpPr>
          <a:xfrm rot="0">
            <a:off x="6520196" y="5531872"/>
            <a:ext cx="603980" cy="603980"/>
            <a:chOff x="0" y="0"/>
            <a:chExt cx="805307" cy="805307"/>
          </a:xfrm>
        </p:grpSpPr>
        <p:sp>
          <p:nvSpPr>
            <p:cNvPr name="Freeform 26" id="26"/>
            <p:cNvSpPr/>
            <p:nvPr/>
          </p:nvSpPr>
          <p:spPr>
            <a:xfrm flipH="false" flipV="false" rot="0">
              <a:off x="0" y="0"/>
              <a:ext cx="805307" cy="805307"/>
            </a:xfrm>
            <a:custGeom>
              <a:avLst/>
              <a:gdLst/>
              <a:ahLst/>
              <a:cxnLst/>
              <a:rect r="r" b="b" t="t" l="l"/>
              <a:pathLst>
                <a:path h="805307" w="805307">
                  <a:moveTo>
                    <a:pt x="0" y="64389"/>
                  </a:moveTo>
                  <a:cubicBezTo>
                    <a:pt x="0" y="28829"/>
                    <a:pt x="28829" y="0"/>
                    <a:pt x="64389" y="0"/>
                  </a:cubicBezTo>
                  <a:lnTo>
                    <a:pt x="740918" y="0"/>
                  </a:lnTo>
                  <a:cubicBezTo>
                    <a:pt x="776478" y="0"/>
                    <a:pt x="805307" y="28829"/>
                    <a:pt x="805307" y="64389"/>
                  </a:cubicBezTo>
                  <a:lnTo>
                    <a:pt x="805307" y="740918"/>
                  </a:lnTo>
                  <a:cubicBezTo>
                    <a:pt x="805307" y="776478"/>
                    <a:pt x="776478" y="805307"/>
                    <a:pt x="740918" y="805307"/>
                  </a:cubicBezTo>
                  <a:lnTo>
                    <a:pt x="64389" y="805307"/>
                  </a:lnTo>
                  <a:cubicBezTo>
                    <a:pt x="28829" y="805307"/>
                    <a:pt x="0" y="776478"/>
                    <a:pt x="0" y="740918"/>
                  </a:cubicBezTo>
                  <a:close/>
                </a:path>
              </a:pathLst>
            </a:custGeom>
            <a:solidFill>
              <a:srgbClr val="E0F2FE"/>
            </a:solidFill>
          </p:spPr>
        </p:sp>
      </p:grpSp>
      <p:sp>
        <p:nvSpPr>
          <p:cNvPr name="TextBox 27" id="27"/>
          <p:cNvSpPr txBox="true"/>
          <p:nvPr/>
        </p:nvSpPr>
        <p:spPr>
          <a:xfrm rot="0">
            <a:off x="6520196" y="5567724"/>
            <a:ext cx="603980" cy="568119"/>
          </a:xfrm>
          <a:prstGeom prst="rect">
            <a:avLst/>
          </a:prstGeom>
        </p:spPr>
        <p:txBody>
          <a:bodyPr anchor="t" rtlCol="false" tIns="0" lIns="0" bIns="0" rIns="0">
            <a:spAutoFit/>
          </a:bodyPr>
          <a:lstStyle/>
          <a:p>
            <a:pPr algn="ctr">
              <a:lnSpc>
                <a:spcPts val="2341"/>
              </a:lnSpc>
            </a:pPr>
            <a:r>
              <a:rPr lang="en-US" sz="1950" b="true">
                <a:solidFill>
                  <a:srgbClr val="0369A1"/>
                </a:solidFill>
                <a:latin typeface="Inter Bold"/>
                <a:ea typeface="Inter Bold"/>
                <a:cs typeface="Inter Bold"/>
                <a:sym typeface="Inter Bold"/>
              </a:rPr>
              <a:t>2</a:t>
            </a:r>
          </a:p>
        </p:txBody>
      </p:sp>
      <p:sp>
        <p:nvSpPr>
          <p:cNvPr name="TextBox 28" id="28"/>
          <p:cNvSpPr txBox="true"/>
          <p:nvPr/>
        </p:nvSpPr>
        <p:spPr>
          <a:xfrm rot="0">
            <a:off x="7343794" y="5449510"/>
            <a:ext cx="4667088" cy="628679"/>
          </a:xfrm>
          <a:prstGeom prst="rect">
            <a:avLst/>
          </a:prstGeom>
        </p:spPr>
        <p:txBody>
          <a:bodyPr anchor="t" rtlCol="false" tIns="0" lIns="0" bIns="0" rIns="0">
            <a:spAutoFit/>
          </a:bodyPr>
          <a:lstStyle/>
          <a:p>
            <a:pPr algn="l">
              <a:lnSpc>
                <a:spcPts val="2490"/>
              </a:lnSpc>
            </a:pPr>
            <a:r>
              <a:rPr lang="en-US" sz="2075" b="true">
                <a:solidFill>
                  <a:srgbClr val="0F172A"/>
                </a:solidFill>
                <a:latin typeface="Fira Code Bold"/>
                <a:ea typeface="Fira Code Bold"/>
                <a:cs typeface="Fira Code Bold"/>
                <a:sym typeface="Fira Code Bold"/>
              </a:rPr>
              <a:t>Partial Moduli (Mᵢ): </a:t>
            </a:r>
            <a:r>
              <a:rPr lang="en-US" sz="2075">
                <a:solidFill>
                  <a:srgbClr val="0369A1"/>
                </a:solidFill>
                <a:latin typeface="Fira Code"/>
                <a:ea typeface="Fira Code"/>
                <a:cs typeface="Fira Code"/>
                <a:sym typeface="Fira Code"/>
              </a:rPr>
              <a:t>M₁ = 21,  M₂ = 15,  M₃ = 35</a:t>
            </a:r>
          </a:p>
        </p:txBody>
      </p:sp>
      <p:sp>
        <p:nvSpPr>
          <p:cNvPr name="Freeform 29" id="29"/>
          <p:cNvSpPr/>
          <p:nvPr/>
        </p:nvSpPr>
        <p:spPr>
          <a:xfrm flipH="false" flipV="false" rot="0">
            <a:off x="6297606" y="6572145"/>
            <a:ext cx="5935894" cy="1131484"/>
          </a:xfrm>
          <a:custGeom>
            <a:avLst/>
            <a:gdLst/>
            <a:ahLst/>
            <a:cxnLst/>
            <a:rect r="r" b="b" t="t" l="l"/>
            <a:pathLst>
              <a:path h="1131484" w="5935894">
                <a:moveTo>
                  <a:pt x="0" y="0"/>
                </a:moveTo>
                <a:lnTo>
                  <a:pt x="5935894" y="0"/>
                </a:lnTo>
                <a:lnTo>
                  <a:pt x="5935894" y="1131485"/>
                </a:lnTo>
                <a:lnTo>
                  <a:pt x="0" y="11314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30" id="30"/>
          <p:cNvGrpSpPr/>
          <p:nvPr/>
        </p:nvGrpSpPr>
        <p:grpSpPr>
          <a:xfrm rot="0">
            <a:off x="6520196" y="6835912"/>
            <a:ext cx="603980" cy="603980"/>
            <a:chOff x="0" y="0"/>
            <a:chExt cx="805307" cy="805307"/>
          </a:xfrm>
        </p:grpSpPr>
        <p:sp>
          <p:nvSpPr>
            <p:cNvPr name="Freeform 31" id="31"/>
            <p:cNvSpPr/>
            <p:nvPr/>
          </p:nvSpPr>
          <p:spPr>
            <a:xfrm flipH="false" flipV="false" rot="0">
              <a:off x="0" y="0"/>
              <a:ext cx="805307" cy="805307"/>
            </a:xfrm>
            <a:custGeom>
              <a:avLst/>
              <a:gdLst/>
              <a:ahLst/>
              <a:cxnLst/>
              <a:rect r="r" b="b" t="t" l="l"/>
              <a:pathLst>
                <a:path h="805307" w="805307">
                  <a:moveTo>
                    <a:pt x="0" y="64389"/>
                  </a:moveTo>
                  <a:cubicBezTo>
                    <a:pt x="0" y="28829"/>
                    <a:pt x="28829" y="0"/>
                    <a:pt x="64389" y="0"/>
                  </a:cubicBezTo>
                  <a:lnTo>
                    <a:pt x="740918" y="0"/>
                  </a:lnTo>
                  <a:cubicBezTo>
                    <a:pt x="776478" y="0"/>
                    <a:pt x="805307" y="28829"/>
                    <a:pt x="805307" y="64389"/>
                  </a:cubicBezTo>
                  <a:lnTo>
                    <a:pt x="805307" y="740918"/>
                  </a:lnTo>
                  <a:cubicBezTo>
                    <a:pt x="805307" y="776478"/>
                    <a:pt x="776478" y="805307"/>
                    <a:pt x="740918" y="805307"/>
                  </a:cubicBezTo>
                  <a:lnTo>
                    <a:pt x="64389" y="805307"/>
                  </a:lnTo>
                  <a:cubicBezTo>
                    <a:pt x="28829" y="805307"/>
                    <a:pt x="0" y="776478"/>
                    <a:pt x="0" y="740918"/>
                  </a:cubicBezTo>
                  <a:close/>
                </a:path>
              </a:pathLst>
            </a:custGeom>
            <a:solidFill>
              <a:srgbClr val="FFEDD5"/>
            </a:solidFill>
          </p:spPr>
        </p:sp>
      </p:grpSp>
      <p:sp>
        <p:nvSpPr>
          <p:cNvPr name="TextBox 32" id="32"/>
          <p:cNvSpPr txBox="true"/>
          <p:nvPr/>
        </p:nvSpPr>
        <p:spPr>
          <a:xfrm rot="0">
            <a:off x="6520196" y="6871764"/>
            <a:ext cx="603980" cy="568119"/>
          </a:xfrm>
          <a:prstGeom prst="rect">
            <a:avLst/>
          </a:prstGeom>
        </p:spPr>
        <p:txBody>
          <a:bodyPr anchor="t" rtlCol="false" tIns="0" lIns="0" bIns="0" rIns="0">
            <a:spAutoFit/>
          </a:bodyPr>
          <a:lstStyle/>
          <a:p>
            <a:pPr algn="ctr">
              <a:lnSpc>
                <a:spcPts val="2341"/>
              </a:lnSpc>
            </a:pPr>
            <a:r>
              <a:rPr lang="en-US" sz="1950" b="true">
                <a:solidFill>
                  <a:srgbClr val="C2410C"/>
                </a:solidFill>
                <a:latin typeface="Inter Bold"/>
                <a:ea typeface="Inter Bold"/>
                <a:cs typeface="Inter Bold"/>
                <a:sym typeface="Inter Bold"/>
              </a:rPr>
              <a:t>3</a:t>
            </a:r>
          </a:p>
        </p:txBody>
      </p:sp>
      <p:sp>
        <p:nvSpPr>
          <p:cNvPr name="TextBox 33" id="33"/>
          <p:cNvSpPr txBox="true"/>
          <p:nvPr/>
        </p:nvSpPr>
        <p:spPr>
          <a:xfrm rot="0">
            <a:off x="7343794" y="6753549"/>
            <a:ext cx="4667088" cy="628679"/>
          </a:xfrm>
          <a:prstGeom prst="rect">
            <a:avLst/>
          </a:prstGeom>
        </p:spPr>
        <p:txBody>
          <a:bodyPr anchor="t" rtlCol="false" tIns="0" lIns="0" bIns="0" rIns="0">
            <a:spAutoFit/>
          </a:bodyPr>
          <a:lstStyle/>
          <a:p>
            <a:pPr algn="l">
              <a:lnSpc>
                <a:spcPts val="2490"/>
              </a:lnSpc>
            </a:pPr>
            <a:r>
              <a:rPr lang="en-US" sz="2075" b="true">
                <a:solidFill>
                  <a:srgbClr val="0F172A"/>
                </a:solidFill>
                <a:latin typeface="Fira Code Bold"/>
                <a:ea typeface="Fira Code Bold"/>
                <a:cs typeface="Fira Code Bold"/>
                <a:sym typeface="Fira Code Bold"/>
              </a:rPr>
              <a:t>Modular Inverses (yᵢ): </a:t>
            </a:r>
            <a:r>
              <a:rPr lang="en-US" sz="2075">
                <a:solidFill>
                  <a:srgbClr val="C2410C"/>
                </a:solidFill>
                <a:latin typeface="Fira Code"/>
                <a:ea typeface="Fira Code"/>
                <a:cs typeface="Fira Code"/>
                <a:sym typeface="Fira Code"/>
              </a:rPr>
              <a:t>y₁ = 1,  y₂ = 1,  y₃ = 2</a:t>
            </a:r>
          </a:p>
        </p:txBody>
      </p:sp>
      <p:sp>
        <p:nvSpPr>
          <p:cNvPr name="Freeform 34" id="34"/>
          <p:cNvSpPr/>
          <p:nvPr/>
        </p:nvSpPr>
        <p:spPr>
          <a:xfrm flipH="false" flipV="false" rot="0">
            <a:off x="6297606" y="8013449"/>
            <a:ext cx="5935894" cy="1131484"/>
          </a:xfrm>
          <a:custGeom>
            <a:avLst/>
            <a:gdLst/>
            <a:ahLst/>
            <a:cxnLst/>
            <a:rect r="r" b="b" t="t" l="l"/>
            <a:pathLst>
              <a:path h="1131484" w="5935894">
                <a:moveTo>
                  <a:pt x="0" y="0"/>
                </a:moveTo>
                <a:lnTo>
                  <a:pt x="5935894" y="0"/>
                </a:lnTo>
                <a:lnTo>
                  <a:pt x="5935894" y="1131484"/>
                </a:lnTo>
                <a:lnTo>
                  <a:pt x="0" y="113148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35" id="35"/>
          <p:cNvSpPr txBox="true"/>
          <p:nvPr/>
        </p:nvSpPr>
        <p:spPr>
          <a:xfrm rot="0">
            <a:off x="6520196" y="8157877"/>
            <a:ext cx="5490686" cy="619153"/>
          </a:xfrm>
          <a:prstGeom prst="rect">
            <a:avLst/>
          </a:prstGeom>
        </p:spPr>
        <p:txBody>
          <a:bodyPr anchor="t" rtlCol="false" tIns="0" lIns="0" bIns="0" rIns="0">
            <a:spAutoFit/>
          </a:bodyPr>
          <a:lstStyle/>
          <a:p>
            <a:pPr algn="l">
              <a:lnSpc>
                <a:spcPts val="2400"/>
              </a:lnSpc>
            </a:pPr>
            <a:r>
              <a:rPr lang="en-US" sz="2000" b="true">
                <a:solidFill>
                  <a:srgbClr val="0F172A"/>
                </a:solidFill>
                <a:latin typeface="Inter Bold"/>
                <a:ea typeface="Inter Bold"/>
                <a:cs typeface="Inter Bold"/>
                <a:sym typeface="Inter Bold"/>
              </a:rPr>
              <a:t>4. Solution Assembly (t):</a:t>
            </a:r>
          </a:p>
          <a:p>
            <a:pPr algn="l">
              <a:lnSpc>
                <a:spcPts val="2400"/>
              </a:lnSpc>
            </a:pPr>
            <a:r>
              <a:rPr lang="en-US" sz="2000" b="true">
                <a:solidFill>
                  <a:srgbClr val="334155"/>
                </a:solidFill>
                <a:latin typeface="Fira Code Bold"/>
                <a:ea typeface="Fira Code Bold"/>
                <a:cs typeface="Fira Code Bold"/>
                <a:sym typeface="Fira Code Bold"/>
              </a:rPr>
              <a:t>(2×21×1) + (3×15×1) + (2×35×2) = 227</a:t>
            </a:r>
          </a:p>
        </p:txBody>
      </p:sp>
      <p:grpSp>
        <p:nvGrpSpPr>
          <p:cNvPr name="Group 36" id="36"/>
          <p:cNvGrpSpPr/>
          <p:nvPr/>
        </p:nvGrpSpPr>
        <p:grpSpPr>
          <a:xfrm rot="0">
            <a:off x="12765853" y="2951245"/>
            <a:ext cx="4392549" cy="6314313"/>
            <a:chOff x="0" y="0"/>
            <a:chExt cx="5856732" cy="8419084"/>
          </a:xfrm>
        </p:grpSpPr>
        <p:sp>
          <p:nvSpPr>
            <p:cNvPr name="Freeform 37" id="37"/>
            <p:cNvSpPr/>
            <p:nvPr/>
          </p:nvSpPr>
          <p:spPr>
            <a:xfrm flipH="false" flipV="false" rot="0">
              <a:off x="0" y="0"/>
              <a:ext cx="5856732" cy="8419085"/>
            </a:xfrm>
            <a:custGeom>
              <a:avLst/>
              <a:gdLst/>
              <a:ahLst/>
              <a:cxnLst/>
              <a:rect r="r" b="b" t="t" l="l"/>
              <a:pathLst>
                <a:path h="8419085" w="5856732">
                  <a:moveTo>
                    <a:pt x="0" y="468503"/>
                  </a:moveTo>
                  <a:cubicBezTo>
                    <a:pt x="0" y="209804"/>
                    <a:pt x="209804" y="0"/>
                    <a:pt x="468503" y="0"/>
                  </a:cubicBezTo>
                  <a:lnTo>
                    <a:pt x="5388229" y="0"/>
                  </a:lnTo>
                  <a:cubicBezTo>
                    <a:pt x="5647055" y="0"/>
                    <a:pt x="5856732" y="209804"/>
                    <a:pt x="5856732" y="468503"/>
                  </a:cubicBezTo>
                  <a:lnTo>
                    <a:pt x="5856732" y="7950581"/>
                  </a:lnTo>
                  <a:cubicBezTo>
                    <a:pt x="5856732" y="8209407"/>
                    <a:pt x="5646928" y="8419085"/>
                    <a:pt x="5388229" y="8419085"/>
                  </a:cubicBezTo>
                  <a:lnTo>
                    <a:pt x="468503" y="8419085"/>
                  </a:lnTo>
                  <a:cubicBezTo>
                    <a:pt x="209804" y="8419084"/>
                    <a:pt x="0" y="8209280"/>
                    <a:pt x="0" y="7950581"/>
                  </a:cubicBezTo>
                  <a:close/>
                </a:path>
              </a:pathLst>
            </a:custGeom>
            <a:solidFill>
              <a:srgbClr val="F0FDF4"/>
            </a:solidFill>
          </p:spPr>
        </p:sp>
      </p:grpSp>
      <p:sp>
        <p:nvSpPr>
          <p:cNvPr name="TextBox 38" id="38"/>
          <p:cNvSpPr txBox="true"/>
          <p:nvPr/>
        </p:nvSpPr>
        <p:spPr>
          <a:xfrm rot="0">
            <a:off x="12971755" y="3225784"/>
            <a:ext cx="3980755" cy="723827"/>
          </a:xfrm>
          <a:prstGeom prst="rect">
            <a:avLst/>
          </a:prstGeom>
        </p:spPr>
        <p:txBody>
          <a:bodyPr anchor="t" rtlCol="false" tIns="0" lIns="0" bIns="0" rIns="0">
            <a:spAutoFit/>
          </a:bodyPr>
          <a:lstStyle/>
          <a:p>
            <a:pPr algn="ctr">
              <a:lnSpc>
                <a:spcPts val="2881"/>
              </a:lnSpc>
            </a:pPr>
            <a:r>
              <a:rPr lang="en-US" sz="2399" b="true">
                <a:solidFill>
                  <a:srgbClr val="1C2B42"/>
                </a:solidFill>
                <a:latin typeface="Aptos Bold"/>
                <a:ea typeface="Aptos Bold"/>
                <a:cs typeface="Aptos Bold"/>
                <a:sym typeface="Aptos Bold"/>
              </a:rPr>
              <a:t>3. CRT Solution (t)</a:t>
            </a:r>
          </a:p>
          <a:p>
            <a:pPr algn="l">
              <a:lnSpc>
                <a:spcPts val="2879"/>
              </a:lnSpc>
            </a:pPr>
            <a:r>
              <a:rPr lang="en-US" sz="2399">
                <a:solidFill>
                  <a:srgbClr val="007753"/>
                </a:solidFill>
                <a:latin typeface="Cambria"/>
                <a:ea typeface="Cambria"/>
                <a:cs typeface="Cambria"/>
                <a:sym typeface="Cambria"/>
              </a:rPr>
              <a:t>227 (mod 105)</a:t>
            </a:r>
          </a:p>
        </p:txBody>
      </p:sp>
      <p:grpSp>
        <p:nvGrpSpPr>
          <p:cNvPr name="Group 39" id="39"/>
          <p:cNvGrpSpPr/>
          <p:nvPr/>
        </p:nvGrpSpPr>
        <p:grpSpPr>
          <a:xfrm rot="0">
            <a:off x="13726725" y="4340571"/>
            <a:ext cx="2470785" cy="2059019"/>
            <a:chOff x="0" y="0"/>
            <a:chExt cx="3294380" cy="2745359"/>
          </a:xfrm>
        </p:grpSpPr>
        <p:sp>
          <p:nvSpPr>
            <p:cNvPr name="Freeform 40" id="40"/>
            <p:cNvSpPr/>
            <p:nvPr/>
          </p:nvSpPr>
          <p:spPr>
            <a:xfrm flipH="false" flipV="false" rot="0">
              <a:off x="0" y="0"/>
              <a:ext cx="3294380" cy="2745359"/>
            </a:xfrm>
            <a:custGeom>
              <a:avLst/>
              <a:gdLst/>
              <a:ahLst/>
              <a:cxnLst/>
              <a:rect r="r" b="b" t="t" l="l"/>
              <a:pathLst>
                <a:path h="2745359" w="3294380">
                  <a:moveTo>
                    <a:pt x="0" y="329438"/>
                  </a:moveTo>
                  <a:cubicBezTo>
                    <a:pt x="0" y="147447"/>
                    <a:pt x="147447" y="0"/>
                    <a:pt x="329438" y="0"/>
                  </a:cubicBezTo>
                  <a:lnTo>
                    <a:pt x="2964942" y="0"/>
                  </a:lnTo>
                  <a:cubicBezTo>
                    <a:pt x="3146933" y="0"/>
                    <a:pt x="3294380" y="147447"/>
                    <a:pt x="3294380" y="329438"/>
                  </a:cubicBezTo>
                  <a:lnTo>
                    <a:pt x="3294380" y="2415921"/>
                  </a:lnTo>
                  <a:cubicBezTo>
                    <a:pt x="3294380" y="2597912"/>
                    <a:pt x="3146933" y="2745359"/>
                    <a:pt x="2964942" y="2745359"/>
                  </a:cubicBezTo>
                  <a:lnTo>
                    <a:pt x="329438" y="2745359"/>
                  </a:lnTo>
                  <a:cubicBezTo>
                    <a:pt x="147447" y="2745359"/>
                    <a:pt x="0" y="2597912"/>
                    <a:pt x="0" y="2415921"/>
                  </a:cubicBezTo>
                  <a:close/>
                </a:path>
              </a:pathLst>
            </a:custGeom>
            <a:solidFill>
              <a:srgbClr val="059669"/>
            </a:solidFill>
          </p:spPr>
        </p:sp>
      </p:grpSp>
      <p:sp>
        <p:nvSpPr>
          <p:cNvPr name="TextBox 41" id="41"/>
          <p:cNvSpPr txBox="true"/>
          <p:nvPr/>
        </p:nvSpPr>
        <p:spPr>
          <a:xfrm rot="0">
            <a:off x="13726725" y="4754766"/>
            <a:ext cx="2470814" cy="1490891"/>
          </a:xfrm>
          <a:prstGeom prst="rect">
            <a:avLst/>
          </a:prstGeom>
        </p:spPr>
        <p:txBody>
          <a:bodyPr anchor="t" rtlCol="false" tIns="0" lIns="0" bIns="0" rIns="0">
            <a:spAutoFit/>
          </a:bodyPr>
          <a:lstStyle/>
          <a:p>
            <a:pPr algn="ctr">
              <a:lnSpc>
                <a:spcPts val="10087"/>
              </a:lnSpc>
            </a:pPr>
            <a:r>
              <a:rPr lang="en-US" sz="8406" b="true">
                <a:solidFill>
                  <a:srgbClr val="FFFFFF"/>
                </a:solidFill>
                <a:latin typeface="Fira Code Bold"/>
                <a:ea typeface="Fira Code Bold"/>
                <a:cs typeface="Fira Code Bold"/>
                <a:sym typeface="Fira Code Bold"/>
              </a:rPr>
              <a:t>17</a:t>
            </a:r>
          </a:p>
        </p:txBody>
      </p:sp>
      <p:sp>
        <p:nvSpPr>
          <p:cNvPr name="TextBox 42" id="42"/>
          <p:cNvSpPr txBox="true"/>
          <p:nvPr/>
        </p:nvSpPr>
        <p:spPr>
          <a:xfrm rot="0">
            <a:off x="13041392" y="6781819"/>
            <a:ext cx="3980755" cy="266700"/>
          </a:xfrm>
          <a:prstGeom prst="rect">
            <a:avLst/>
          </a:prstGeom>
        </p:spPr>
        <p:txBody>
          <a:bodyPr anchor="t" rtlCol="false" tIns="0" lIns="0" bIns="0" rIns="0">
            <a:spAutoFit/>
          </a:bodyPr>
          <a:lstStyle/>
          <a:p>
            <a:pPr algn="l">
              <a:lnSpc>
                <a:spcPts val="2159"/>
              </a:lnSpc>
            </a:pPr>
            <a:r>
              <a:rPr lang="en-US" sz="1799" b="true">
                <a:solidFill>
                  <a:srgbClr val="007753"/>
                </a:solidFill>
                <a:latin typeface="Aptos Bold"/>
                <a:ea typeface="Aptos Bold"/>
                <a:cs typeface="Aptos Bold"/>
                <a:sym typeface="Aptos Bold"/>
              </a:rPr>
              <a:t>Smallest non-negative solution: t = 17</a:t>
            </a:r>
          </a:p>
        </p:txBody>
      </p:sp>
      <p:sp>
        <p:nvSpPr>
          <p:cNvPr name="Freeform 43" id="43"/>
          <p:cNvSpPr/>
          <p:nvPr/>
        </p:nvSpPr>
        <p:spPr>
          <a:xfrm flipH="false" flipV="false" rot="0">
            <a:off x="13160969" y="7258479"/>
            <a:ext cx="3602365" cy="527599"/>
          </a:xfrm>
          <a:custGeom>
            <a:avLst/>
            <a:gdLst/>
            <a:ahLst/>
            <a:cxnLst/>
            <a:rect r="r" b="b" t="t" l="l"/>
            <a:pathLst>
              <a:path h="527599" w="3602365">
                <a:moveTo>
                  <a:pt x="0" y="0"/>
                </a:moveTo>
                <a:lnTo>
                  <a:pt x="3602364" y="0"/>
                </a:lnTo>
                <a:lnTo>
                  <a:pt x="3602364" y="527599"/>
                </a:lnTo>
                <a:lnTo>
                  <a:pt x="0" y="52759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44" id="44"/>
          <p:cNvSpPr txBox="true"/>
          <p:nvPr/>
        </p:nvSpPr>
        <p:spPr>
          <a:xfrm rot="0">
            <a:off x="13177657" y="7362844"/>
            <a:ext cx="3568951" cy="392754"/>
          </a:xfrm>
          <a:prstGeom prst="rect">
            <a:avLst/>
          </a:prstGeom>
        </p:spPr>
        <p:txBody>
          <a:bodyPr anchor="t" rtlCol="false" tIns="0" lIns="0" bIns="0" rIns="0">
            <a:spAutoFit/>
          </a:bodyPr>
          <a:lstStyle/>
          <a:p>
            <a:pPr algn="ctr">
              <a:lnSpc>
                <a:spcPts val="1980"/>
              </a:lnSpc>
            </a:pPr>
            <a:r>
              <a:rPr lang="en-US" sz="1650" b="true">
                <a:solidFill>
                  <a:srgbClr val="0F766E"/>
                </a:solidFill>
                <a:latin typeface="Fira Code Bold"/>
                <a:ea typeface="Fira Code Bold"/>
                <a:cs typeface="Fira Code Bold"/>
                <a:sym typeface="Fira Code Bold"/>
              </a:rPr>
              <a:t>17 ≡ 2 (mod 5)  ✓</a:t>
            </a:r>
          </a:p>
        </p:txBody>
      </p:sp>
      <p:sp>
        <p:nvSpPr>
          <p:cNvPr name="Freeform 45" id="45"/>
          <p:cNvSpPr/>
          <p:nvPr/>
        </p:nvSpPr>
        <p:spPr>
          <a:xfrm flipH="false" flipV="false" rot="0">
            <a:off x="13160969" y="7876184"/>
            <a:ext cx="3602365" cy="527599"/>
          </a:xfrm>
          <a:custGeom>
            <a:avLst/>
            <a:gdLst/>
            <a:ahLst/>
            <a:cxnLst/>
            <a:rect r="r" b="b" t="t" l="l"/>
            <a:pathLst>
              <a:path h="527599" w="3602365">
                <a:moveTo>
                  <a:pt x="0" y="0"/>
                </a:moveTo>
                <a:lnTo>
                  <a:pt x="3602364" y="0"/>
                </a:lnTo>
                <a:lnTo>
                  <a:pt x="3602364" y="527600"/>
                </a:lnTo>
                <a:lnTo>
                  <a:pt x="0" y="5276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46" id="46"/>
          <p:cNvSpPr txBox="true"/>
          <p:nvPr/>
        </p:nvSpPr>
        <p:spPr>
          <a:xfrm rot="0">
            <a:off x="13177657" y="7980550"/>
            <a:ext cx="3568951" cy="392754"/>
          </a:xfrm>
          <a:prstGeom prst="rect">
            <a:avLst/>
          </a:prstGeom>
        </p:spPr>
        <p:txBody>
          <a:bodyPr anchor="t" rtlCol="false" tIns="0" lIns="0" bIns="0" rIns="0">
            <a:spAutoFit/>
          </a:bodyPr>
          <a:lstStyle/>
          <a:p>
            <a:pPr algn="ctr">
              <a:lnSpc>
                <a:spcPts val="1980"/>
              </a:lnSpc>
            </a:pPr>
            <a:r>
              <a:rPr lang="en-US" sz="1650" b="true">
                <a:solidFill>
                  <a:srgbClr val="0369A1"/>
                </a:solidFill>
                <a:latin typeface="Fira Code Bold"/>
                <a:ea typeface="Fira Code Bold"/>
                <a:cs typeface="Fira Code Bold"/>
                <a:sym typeface="Fira Code Bold"/>
              </a:rPr>
              <a:t>17 ≡ 3 (mod 7)  ✓</a:t>
            </a:r>
          </a:p>
        </p:txBody>
      </p:sp>
      <p:sp>
        <p:nvSpPr>
          <p:cNvPr name="Freeform 47" id="47"/>
          <p:cNvSpPr/>
          <p:nvPr/>
        </p:nvSpPr>
        <p:spPr>
          <a:xfrm flipH="false" flipV="false" rot="0">
            <a:off x="13160969" y="8493881"/>
            <a:ext cx="3602365" cy="527599"/>
          </a:xfrm>
          <a:custGeom>
            <a:avLst/>
            <a:gdLst/>
            <a:ahLst/>
            <a:cxnLst/>
            <a:rect r="r" b="b" t="t" l="l"/>
            <a:pathLst>
              <a:path h="527599" w="3602365">
                <a:moveTo>
                  <a:pt x="0" y="0"/>
                </a:moveTo>
                <a:lnTo>
                  <a:pt x="3602364" y="0"/>
                </a:lnTo>
                <a:lnTo>
                  <a:pt x="3602364" y="527599"/>
                </a:lnTo>
                <a:lnTo>
                  <a:pt x="0" y="52759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48" id="48"/>
          <p:cNvSpPr txBox="true"/>
          <p:nvPr/>
        </p:nvSpPr>
        <p:spPr>
          <a:xfrm rot="0">
            <a:off x="13177657" y="8598256"/>
            <a:ext cx="3568951" cy="392754"/>
          </a:xfrm>
          <a:prstGeom prst="rect">
            <a:avLst/>
          </a:prstGeom>
        </p:spPr>
        <p:txBody>
          <a:bodyPr anchor="t" rtlCol="false" tIns="0" lIns="0" bIns="0" rIns="0">
            <a:spAutoFit/>
          </a:bodyPr>
          <a:lstStyle/>
          <a:p>
            <a:pPr algn="ctr">
              <a:lnSpc>
                <a:spcPts val="1980"/>
              </a:lnSpc>
            </a:pPr>
            <a:r>
              <a:rPr lang="en-US" sz="1650" b="true">
                <a:solidFill>
                  <a:srgbClr val="C2410C"/>
                </a:solidFill>
                <a:latin typeface="Fira Code Bold"/>
                <a:ea typeface="Fira Code Bold"/>
                <a:cs typeface="Fira Code Bold"/>
                <a:sym typeface="Fira Code Bold"/>
              </a:rPr>
              <a:t>17 ≡ 2 (mod 3)  ✓</a:t>
            </a:r>
          </a:p>
        </p:txBody>
      </p:sp>
      <p:grpSp>
        <p:nvGrpSpPr>
          <p:cNvPr name="Group 49" id="49"/>
          <p:cNvGrpSpPr/>
          <p:nvPr/>
        </p:nvGrpSpPr>
        <p:grpSpPr>
          <a:xfrm rot="0">
            <a:off x="0" y="212512"/>
            <a:ext cx="18287524" cy="1069848"/>
            <a:chOff x="0" y="0"/>
            <a:chExt cx="24383365" cy="1426464"/>
          </a:xfrm>
        </p:grpSpPr>
        <p:sp>
          <p:nvSpPr>
            <p:cNvPr name="Freeform 50" id="50"/>
            <p:cNvSpPr/>
            <p:nvPr/>
          </p:nvSpPr>
          <p:spPr>
            <a:xfrm flipH="false" flipV="false" rot="0">
              <a:off x="0" y="0"/>
              <a:ext cx="24383364" cy="1426464"/>
            </a:xfrm>
            <a:custGeom>
              <a:avLst/>
              <a:gdLst/>
              <a:ahLst/>
              <a:cxnLst/>
              <a:rect r="r" b="b" t="t" l="l"/>
              <a:pathLst>
                <a:path h="1426464" w="24383364">
                  <a:moveTo>
                    <a:pt x="0" y="0"/>
                  </a:moveTo>
                  <a:lnTo>
                    <a:pt x="24383364" y="0"/>
                  </a:lnTo>
                  <a:lnTo>
                    <a:pt x="24383364" y="1426464"/>
                  </a:lnTo>
                  <a:lnTo>
                    <a:pt x="0" y="1426464"/>
                  </a:lnTo>
                  <a:close/>
                </a:path>
              </a:pathLst>
            </a:custGeom>
            <a:solidFill>
              <a:srgbClr val="115E59"/>
            </a:solidFill>
          </p:spPr>
        </p:sp>
      </p:grpSp>
      <p:grpSp>
        <p:nvGrpSpPr>
          <p:cNvPr name="Group 51" id="51"/>
          <p:cNvGrpSpPr/>
          <p:nvPr/>
        </p:nvGrpSpPr>
        <p:grpSpPr>
          <a:xfrm rot="0">
            <a:off x="16390620" y="212512"/>
            <a:ext cx="713232" cy="1069848"/>
            <a:chOff x="0" y="0"/>
            <a:chExt cx="950976" cy="1426464"/>
          </a:xfrm>
        </p:grpSpPr>
        <p:sp>
          <p:nvSpPr>
            <p:cNvPr name="Freeform 52" id="52"/>
            <p:cNvSpPr/>
            <p:nvPr/>
          </p:nvSpPr>
          <p:spPr>
            <a:xfrm flipH="false" flipV="false" rot="0">
              <a:off x="0" y="0"/>
              <a:ext cx="950976" cy="1426464"/>
            </a:xfrm>
            <a:custGeom>
              <a:avLst/>
              <a:gdLst/>
              <a:ahLst/>
              <a:cxnLst/>
              <a:rect r="r" b="b" t="t" l="l"/>
              <a:pathLst>
                <a:path h="1426464" w="950976">
                  <a:moveTo>
                    <a:pt x="0" y="1426464"/>
                  </a:moveTo>
                  <a:lnTo>
                    <a:pt x="237744" y="0"/>
                  </a:lnTo>
                  <a:lnTo>
                    <a:pt x="950976" y="0"/>
                  </a:lnTo>
                  <a:lnTo>
                    <a:pt x="713232" y="1426464"/>
                  </a:lnTo>
                  <a:close/>
                </a:path>
              </a:pathLst>
            </a:custGeom>
            <a:solidFill>
              <a:srgbClr val="F0FDF4"/>
            </a:solidFill>
          </p:spPr>
        </p:sp>
      </p:grpSp>
      <p:sp>
        <p:nvSpPr>
          <p:cNvPr name="TextBox 53" id="53"/>
          <p:cNvSpPr txBox="true"/>
          <p:nvPr/>
        </p:nvSpPr>
        <p:spPr>
          <a:xfrm rot="0">
            <a:off x="285055" y="153271"/>
            <a:ext cx="16105565" cy="962011"/>
          </a:xfrm>
          <a:prstGeom prst="rect">
            <a:avLst/>
          </a:prstGeom>
        </p:spPr>
        <p:txBody>
          <a:bodyPr anchor="t" rtlCol="false" tIns="0" lIns="0" bIns="0" rIns="0">
            <a:spAutoFit/>
          </a:bodyPr>
          <a:lstStyle/>
          <a:p>
            <a:pPr algn="l">
              <a:lnSpc>
                <a:spcPts val="1981"/>
              </a:lnSpc>
            </a:pPr>
          </a:p>
          <a:p>
            <a:pPr algn="l">
              <a:lnSpc>
                <a:spcPts val="5763"/>
              </a:lnSpc>
            </a:pPr>
            <a:r>
              <a:rPr lang="en-US" b="true" sz="4803">
                <a:solidFill>
                  <a:srgbClr val="FFFFFF"/>
                </a:solidFill>
                <a:latin typeface="Lora Bold"/>
                <a:ea typeface="Lora Bold"/>
                <a:cs typeface="Lora Bold"/>
                <a:sym typeface="Lora Bold"/>
              </a:rPr>
              <a:t>Three-Intersection Corridor Synchronization</a:t>
            </a:r>
          </a:p>
        </p:txBody>
      </p:sp>
      <p:grpSp>
        <p:nvGrpSpPr>
          <p:cNvPr name="Group 54" id="54"/>
          <p:cNvGrpSpPr/>
          <p:nvPr/>
        </p:nvGrpSpPr>
        <p:grpSpPr>
          <a:xfrm rot="0">
            <a:off x="17035272" y="212512"/>
            <a:ext cx="754380" cy="1069848"/>
            <a:chOff x="0" y="0"/>
            <a:chExt cx="1005840" cy="1426464"/>
          </a:xfrm>
        </p:grpSpPr>
        <p:sp>
          <p:nvSpPr>
            <p:cNvPr name="Freeform 55" id="55"/>
            <p:cNvSpPr/>
            <p:nvPr/>
          </p:nvSpPr>
          <p:spPr>
            <a:xfrm flipH="false" flipV="false" rot="0">
              <a:off x="0" y="0"/>
              <a:ext cx="1005840" cy="1426464"/>
            </a:xfrm>
            <a:custGeom>
              <a:avLst/>
              <a:gdLst/>
              <a:ahLst/>
              <a:cxnLst/>
              <a:rect r="r" b="b" t="t" l="l"/>
              <a:pathLst>
                <a:path h="1426464" w="1005840">
                  <a:moveTo>
                    <a:pt x="0" y="1426464"/>
                  </a:moveTo>
                  <a:lnTo>
                    <a:pt x="251460" y="0"/>
                  </a:lnTo>
                  <a:lnTo>
                    <a:pt x="1005840" y="0"/>
                  </a:lnTo>
                  <a:lnTo>
                    <a:pt x="754380" y="1426464"/>
                  </a:lnTo>
                  <a:close/>
                </a:path>
              </a:pathLst>
            </a:custGeom>
            <a:solidFill>
              <a:srgbClr val="9FC7AA"/>
            </a:solidFill>
          </p:spPr>
        </p:sp>
      </p:grpSp>
      <p:grpSp>
        <p:nvGrpSpPr>
          <p:cNvPr name="Group 56" id="56"/>
          <p:cNvGrpSpPr/>
          <p:nvPr/>
        </p:nvGrpSpPr>
        <p:grpSpPr>
          <a:xfrm rot="0">
            <a:off x="0" y="9777774"/>
            <a:ext cx="18287524" cy="516293"/>
            <a:chOff x="0" y="0"/>
            <a:chExt cx="24383365" cy="688391"/>
          </a:xfrm>
        </p:grpSpPr>
        <p:sp>
          <p:nvSpPr>
            <p:cNvPr name="Freeform 57" id="57"/>
            <p:cNvSpPr/>
            <p:nvPr/>
          </p:nvSpPr>
          <p:spPr>
            <a:xfrm flipH="false" flipV="false" rot="0">
              <a:off x="0" y="-23"/>
              <a:ext cx="24383364" cy="688386"/>
            </a:xfrm>
            <a:custGeom>
              <a:avLst/>
              <a:gdLst/>
              <a:ahLst/>
              <a:cxnLst/>
              <a:rect r="r" b="b" t="t" l="l"/>
              <a:pathLst>
                <a:path h="688386" w="24383364">
                  <a:moveTo>
                    <a:pt x="0" y="83589"/>
                  </a:moveTo>
                  <a:cubicBezTo>
                    <a:pt x="8127746" y="-205971"/>
                    <a:pt x="16255619" y="373149"/>
                    <a:pt x="24383364" y="83589"/>
                  </a:cubicBezTo>
                  <a:lnTo>
                    <a:pt x="24383364" y="604797"/>
                  </a:lnTo>
                  <a:cubicBezTo>
                    <a:pt x="16255619" y="894357"/>
                    <a:pt x="8127746" y="315237"/>
                    <a:pt x="0" y="604797"/>
                  </a:cubicBezTo>
                  <a:close/>
                </a:path>
              </a:pathLst>
            </a:custGeom>
            <a:solidFill>
              <a:srgbClr val="9FC7AA"/>
            </a:solid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62" y="-4762"/>
            <a:ext cx="18297525" cy="1298829"/>
            <a:chOff x="0" y="0"/>
            <a:chExt cx="24396700" cy="1731772"/>
          </a:xfrm>
        </p:grpSpPr>
        <p:sp>
          <p:nvSpPr>
            <p:cNvPr name="Freeform 3" id="3"/>
            <p:cNvSpPr/>
            <p:nvPr/>
          </p:nvSpPr>
          <p:spPr>
            <a:xfrm flipH="false" flipV="false" rot="0">
              <a:off x="0" y="0"/>
              <a:ext cx="24396700" cy="1731772"/>
            </a:xfrm>
            <a:custGeom>
              <a:avLst/>
              <a:gdLst/>
              <a:ahLst/>
              <a:cxnLst/>
              <a:rect r="r" b="b" t="t" l="l"/>
              <a:pathLst>
                <a:path h="1731772" w="24396700">
                  <a:moveTo>
                    <a:pt x="0" y="0"/>
                  </a:moveTo>
                  <a:lnTo>
                    <a:pt x="24396700" y="0"/>
                  </a:lnTo>
                  <a:lnTo>
                    <a:pt x="24396700" y="1731772"/>
                  </a:lnTo>
                  <a:lnTo>
                    <a:pt x="0" y="1731772"/>
                  </a:lnTo>
                  <a:close/>
                </a:path>
              </a:pathLst>
            </a:custGeom>
            <a:solidFill>
              <a:srgbClr val="115B55"/>
            </a:solidFill>
            <a:ln w="9525" cap="sq">
              <a:solidFill>
                <a:srgbClr val="115B55"/>
              </a:solidFill>
              <a:prstDash val="solid"/>
              <a:miter/>
            </a:ln>
          </p:spPr>
        </p:sp>
      </p:grpSp>
      <p:grpSp>
        <p:nvGrpSpPr>
          <p:cNvPr name="Group 4" id="4"/>
          <p:cNvGrpSpPr/>
          <p:nvPr/>
        </p:nvGrpSpPr>
        <p:grpSpPr>
          <a:xfrm rot="0">
            <a:off x="658387" y="178308"/>
            <a:ext cx="16322450" cy="850392"/>
            <a:chOff x="0" y="0"/>
            <a:chExt cx="21763266" cy="1133856"/>
          </a:xfrm>
        </p:grpSpPr>
        <p:sp>
          <p:nvSpPr>
            <p:cNvPr name="Freeform 5" id="5"/>
            <p:cNvSpPr/>
            <p:nvPr/>
          </p:nvSpPr>
          <p:spPr>
            <a:xfrm flipH="false" flipV="false" rot="0">
              <a:off x="0" y="0"/>
              <a:ext cx="21763264" cy="1133856"/>
            </a:xfrm>
            <a:custGeom>
              <a:avLst/>
              <a:gdLst/>
              <a:ahLst/>
              <a:cxnLst/>
              <a:rect r="r" b="b" t="t" l="l"/>
              <a:pathLst>
                <a:path h="1133856" w="21763264">
                  <a:moveTo>
                    <a:pt x="0" y="0"/>
                  </a:moveTo>
                  <a:lnTo>
                    <a:pt x="21763264" y="0"/>
                  </a:lnTo>
                  <a:lnTo>
                    <a:pt x="21763264" y="1133856"/>
                  </a:lnTo>
                  <a:lnTo>
                    <a:pt x="0" y="1133856"/>
                  </a:lnTo>
                  <a:close/>
                </a:path>
              </a:pathLst>
            </a:custGeom>
            <a:blipFill>
              <a:blip r:embed="rId2">
                <a:alphaModFix amt="0"/>
              </a:blip>
              <a:stretch>
                <a:fillRect l="0" t="-323996" r="0" b="-323996"/>
              </a:stretch>
            </a:blipFill>
          </p:spPr>
        </p:sp>
        <p:sp>
          <p:nvSpPr>
            <p:cNvPr name="TextBox 6" id="6"/>
            <p:cNvSpPr txBox="true"/>
            <p:nvPr/>
          </p:nvSpPr>
          <p:spPr>
            <a:xfrm>
              <a:off x="0" y="0"/>
              <a:ext cx="21763266" cy="1133856"/>
            </a:xfrm>
            <a:prstGeom prst="rect">
              <a:avLst/>
            </a:prstGeom>
          </p:spPr>
          <p:txBody>
            <a:bodyPr anchor="ctr" rtlCol="false" tIns="0" lIns="0" bIns="0" rIns="0"/>
            <a:lstStyle/>
            <a:p>
              <a:pPr algn="l">
                <a:lnSpc>
                  <a:spcPts val="4200"/>
                </a:lnSpc>
              </a:pPr>
              <a:r>
                <a:rPr lang="en-US" sz="3500" b="true">
                  <a:solidFill>
                    <a:srgbClr val="FFFFFF"/>
                  </a:solidFill>
                  <a:latin typeface="Lora Bold"/>
                  <a:ea typeface="Lora Bold"/>
                  <a:cs typeface="Lora Bold"/>
                  <a:sym typeface="Lora Bold"/>
                </a:rPr>
                <a:t>CRT </a:t>
              </a:r>
              <a:r>
                <a:rPr lang="en-US" sz="3500" b="true">
                  <a:solidFill>
                    <a:srgbClr val="FFFFFF"/>
                  </a:solidFill>
                  <a:latin typeface="Lora Bold"/>
                  <a:ea typeface="Lora Bold"/>
                  <a:cs typeface="Lora Bold"/>
                  <a:sym typeface="Lora Bold"/>
                </a:rPr>
                <a:t>Worked Example: Set the Signal Conditions</a:t>
              </a:r>
            </a:p>
          </p:txBody>
        </p:sp>
      </p:grpSp>
      <p:grpSp>
        <p:nvGrpSpPr>
          <p:cNvPr name="Group 7" id="7"/>
          <p:cNvGrpSpPr/>
          <p:nvPr/>
        </p:nvGrpSpPr>
        <p:grpSpPr>
          <a:xfrm rot="0">
            <a:off x="16619449" y="-4762"/>
            <a:ext cx="599323" cy="1298829"/>
            <a:chOff x="0" y="0"/>
            <a:chExt cx="799097" cy="1731772"/>
          </a:xfrm>
        </p:grpSpPr>
        <p:sp>
          <p:nvSpPr>
            <p:cNvPr name="Freeform 8" id="8"/>
            <p:cNvSpPr/>
            <p:nvPr/>
          </p:nvSpPr>
          <p:spPr>
            <a:xfrm flipH="false" flipV="false" rot="0">
              <a:off x="0" y="0"/>
              <a:ext cx="799084" cy="1731772"/>
            </a:xfrm>
            <a:custGeom>
              <a:avLst/>
              <a:gdLst/>
              <a:ahLst/>
              <a:cxnLst/>
              <a:rect r="r" b="b" t="t" l="l"/>
              <a:pathLst>
                <a:path h="1731772" w="799084">
                  <a:moveTo>
                    <a:pt x="0" y="1731772"/>
                  </a:moveTo>
                  <a:lnTo>
                    <a:pt x="199771" y="0"/>
                  </a:lnTo>
                  <a:lnTo>
                    <a:pt x="799084" y="0"/>
                  </a:lnTo>
                  <a:lnTo>
                    <a:pt x="599313" y="1731772"/>
                  </a:lnTo>
                  <a:close/>
                </a:path>
              </a:pathLst>
            </a:custGeom>
            <a:solidFill>
              <a:srgbClr val="EFFBF2"/>
            </a:solidFill>
            <a:ln w="9525" cap="sq">
              <a:solidFill>
                <a:srgbClr val="EFFBF2"/>
              </a:solidFill>
              <a:prstDash val="solid"/>
              <a:miter/>
            </a:ln>
          </p:spPr>
        </p:sp>
      </p:grpSp>
      <p:grpSp>
        <p:nvGrpSpPr>
          <p:cNvPr name="Group 9" id="9"/>
          <p:cNvGrpSpPr/>
          <p:nvPr/>
        </p:nvGrpSpPr>
        <p:grpSpPr>
          <a:xfrm rot="0">
            <a:off x="17209246" y="-4762"/>
            <a:ext cx="599323" cy="1298829"/>
            <a:chOff x="0" y="0"/>
            <a:chExt cx="799097" cy="1731772"/>
          </a:xfrm>
        </p:grpSpPr>
        <p:sp>
          <p:nvSpPr>
            <p:cNvPr name="Freeform 10" id="10"/>
            <p:cNvSpPr/>
            <p:nvPr/>
          </p:nvSpPr>
          <p:spPr>
            <a:xfrm flipH="false" flipV="false" rot="0">
              <a:off x="0" y="0"/>
              <a:ext cx="799084" cy="1731772"/>
            </a:xfrm>
            <a:custGeom>
              <a:avLst/>
              <a:gdLst/>
              <a:ahLst/>
              <a:cxnLst/>
              <a:rect r="r" b="b" t="t" l="l"/>
              <a:pathLst>
                <a:path h="1731772" w="799084">
                  <a:moveTo>
                    <a:pt x="0" y="1731772"/>
                  </a:moveTo>
                  <a:lnTo>
                    <a:pt x="199771" y="0"/>
                  </a:lnTo>
                  <a:lnTo>
                    <a:pt x="799084" y="0"/>
                  </a:lnTo>
                  <a:lnTo>
                    <a:pt x="599313" y="1731772"/>
                  </a:lnTo>
                  <a:close/>
                </a:path>
              </a:pathLst>
            </a:custGeom>
            <a:solidFill>
              <a:srgbClr val="9EC7AC"/>
            </a:solidFill>
            <a:ln w="9525" cap="sq">
              <a:solidFill>
                <a:srgbClr val="9EC7AC"/>
              </a:solidFill>
              <a:prstDash val="solid"/>
              <a:miter/>
            </a:ln>
          </p:spPr>
        </p:sp>
      </p:grpSp>
      <p:grpSp>
        <p:nvGrpSpPr>
          <p:cNvPr name="Group 11" id="11"/>
          <p:cNvGrpSpPr/>
          <p:nvPr/>
        </p:nvGrpSpPr>
        <p:grpSpPr>
          <a:xfrm rot="0">
            <a:off x="754399" y="1481328"/>
            <a:ext cx="16733939" cy="428047"/>
            <a:chOff x="0" y="0"/>
            <a:chExt cx="22311919" cy="570729"/>
          </a:xfrm>
        </p:grpSpPr>
        <p:sp>
          <p:nvSpPr>
            <p:cNvPr name="Freeform 12" id="12"/>
            <p:cNvSpPr/>
            <p:nvPr/>
          </p:nvSpPr>
          <p:spPr>
            <a:xfrm flipH="false" flipV="false" rot="0">
              <a:off x="0" y="0"/>
              <a:ext cx="22311917" cy="570729"/>
            </a:xfrm>
            <a:custGeom>
              <a:avLst/>
              <a:gdLst/>
              <a:ahLst/>
              <a:cxnLst/>
              <a:rect r="r" b="b" t="t" l="l"/>
              <a:pathLst>
                <a:path h="570729" w="22311917">
                  <a:moveTo>
                    <a:pt x="0" y="0"/>
                  </a:moveTo>
                  <a:lnTo>
                    <a:pt x="22311917" y="0"/>
                  </a:lnTo>
                  <a:lnTo>
                    <a:pt x="22311917" y="570729"/>
                  </a:lnTo>
                  <a:lnTo>
                    <a:pt x="0" y="570729"/>
                  </a:lnTo>
                  <a:close/>
                </a:path>
              </a:pathLst>
            </a:custGeom>
            <a:blipFill>
              <a:blip r:embed="rId2">
                <a:alphaModFix amt="0"/>
              </a:blip>
              <a:stretch>
                <a:fillRect l="0" t="-713677" r="0" b="-709806"/>
              </a:stretch>
            </a:blipFill>
          </p:spPr>
        </p:sp>
        <p:sp>
          <p:nvSpPr>
            <p:cNvPr name="TextBox 13" id="13"/>
            <p:cNvSpPr txBox="true"/>
            <p:nvPr/>
          </p:nvSpPr>
          <p:spPr>
            <a:xfrm>
              <a:off x="0" y="0"/>
              <a:ext cx="22311919" cy="570729"/>
            </a:xfrm>
            <a:prstGeom prst="rect">
              <a:avLst/>
            </a:prstGeom>
          </p:spPr>
          <p:txBody>
            <a:bodyPr anchor="ctr" rtlCol="false" tIns="0" lIns="0" bIns="0" rIns="0"/>
            <a:lstStyle/>
            <a:p>
              <a:pPr algn="l">
                <a:lnSpc>
                  <a:spcPts val="2759"/>
                </a:lnSpc>
              </a:pPr>
              <a:r>
                <a:rPr lang="en-US" sz="2299" b="true">
                  <a:solidFill>
                    <a:srgbClr val="008078"/>
                  </a:solidFill>
                  <a:latin typeface="Aptos Bold"/>
                  <a:ea typeface="Aptos Bold"/>
                  <a:cs typeface="Aptos Bold"/>
                  <a:sym typeface="Aptos Bold"/>
                </a:rPr>
                <a:t>STEP 1  •  DEFINE THE CONDITIONS</a:t>
              </a:r>
            </a:p>
          </p:txBody>
        </p:sp>
      </p:grpSp>
      <p:grpSp>
        <p:nvGrpSpPr>
          <p:cNvPr name="Group 14" id="14"/>
          <p:cNvGrpSpPr/>
          <p:nvPr/>
        </p:nvGrpSpPr>
        <p:grpSpPr>
          <a:xfrm rot="0">
            <a:off x="754399" y="1865376"/>
            <a:ext cx="16733939" cy="658368"/>
            <a:chOff x="0" y="0"/>
            <a:chExt cx="22311919" cy="877824"/>
          </a:xfrm>
        </p:grpSpPr>
        <p:sp>
          <p:nvSpPr>
            <p:cNvPr name="Freeform 15" id="15"/>
            <p:cNvSpPr/>
            <p:nvPr/>
          </p:nvSpPr>
          <p:spPr>
            <a:xfrm flipH="false" flipV="false" rot="0">
              <a:off x="0" y="0"/>
              <a:ext cx="22311917" cy="877824"/>
            </a:xfrm>
            <a:custGeom>
              <a:avLst/>
              <a:gdLst/>
              <a:ahLst/>
              <a:cxnLst/>
              <a:rect r="r" b="b" t="t" l="l"/>
              <a:pathLst>
                <a:path h="877824" w="22311917">
                  <a:moveTo>
                    <a:pt x="0" y="0"/>
                  </a:moveTo>
                  <a:lnTo>
                    <a:pt x="22311917" y="0"/>
                  </a:lnTo>
                  <a:lnTo>
                    <a:pt x="22311917" y="877824"/>
                  </a:lnTo>
                  <a:lnTo>
                    <a:pt x="0" y="877824"/>
                  </a:lnTo>
                  <a:close/>
                </a:path>
              </a:pathLst>
            </a:custGeom>
            <a:blipFill>
              <a:blip r:embed="rId2">
                <a:alphaModFix amt="0"/>
              </a:blip>
              <a:stretch>
                <a:fillRect l="0" t="-445257" r="0" b="-445257"/>
              </a:stretch>
            </a:blipFill>
          </p:spPr>
        </p:sp>
        <p:sp>
          <p:nvSpPr>
            <p:cNvPr name="TextBox 16" id="16"/>
            <p:cNvSpPr txBox="true"/>
            <p:nvPr/>
          </p:nvSpPr>
          <p:spPr>
            <a:xfrm>
              <a:off x="0" y="0"/>
              <a:ext cx="22311919" cy="877824"/>
            </a:xfrm>
            <a:prstGeom prst="rect">
              <a:avLst/>
            </a:prstGeom>
          </p:spPr>
          <p:txBody>
            <a:bodyPr anchor="ctr" rtlCol="false" tIns="0" lIns="0" bIns="0" rIns="0"/>
            <a:lstStyle/>
            <a:p>
              <a:pPr algn="l">
                <a:lnSpc>
                  <a:spcPts val="2879"/>
                </a:lnSpc>
              </a:pPr>
              <a:r>
                <a:rPr lang="en-US" sz="2399">
                  <a:solidFill>
                    <a:srgbClr val="536980"/>
                  </a:solidFill>
                  <a:latin typeface="Aptos"/>
                  <a:ea typeface="Aptos"/>
                  <a:cs typeface="Aptos"/>
                  <a:sym typeface="Aptos"/>
                </a:rPr>
                <a:t>We use three simple repeating conditions to demonstrate how the Chinese Remainder Theorem works.</a:t>
              </a:r>
            </a:p>
          </p:txBody>
        </p:sp>
      </p:grpSp>
      <p:grpSp>
        <p:nvGrpSpPr>
          <p:cNvPr name="Group 17" id="17"/>
          <p:cNvGrpSpPr/>
          <p:nvPr/>
        </p:nvGrpSpPr>
        <p:grpSpPr>
          <a:xfrm rot="0">
            <a:off x="-4762" y="10036454"/>
            <a:ext cx="18297525" cy="174117"/>
            <a:chOff x="0" y="0"/>
            <a:chExt cx="24396700" cy="232156"/>
          </a:xfrm>
        </p:grpSpPr>
        <p:sp>
          <p:nvSpPr>
            <p:cNvPr name="Freeform 18" id="18"/>
            <p:cNvSpPr/>
            <p:nvPr/>
          </p:nvSpPr>
          <p:spPr>
            <a:xfrm flipH="false" flipV="false" rot="0">
              <a:off x="0" y="0"/>
              <a:ext cx="24396700" cy="232156"/>
            </a:xfrm>
            <a:custGeom>
              <a:avLst/>
              <a:gdLst/>
              <a:ahLst/>
              <a:cxnLst/>
              <a:rect r="r" b="b" t="t" l="l"/>
              <a:pathLst>
                <a:path h="232156" w="24396700">
                  <a:moveTo>
                    <a:pt x="0" y="0"/>
                  </a:moveTo>
                  <a:lnTo>
                    <a:pt x="24396700" y="0"/>
                  </a:lnTo>
                  <a:lnTo>
                    <a:pt x="24396700" y="232156"/>
                  </a:lnTo>
                  <a:lnTo>
                    <a:pt x="0" y="232156"/>
                  </a:lnTo>
                  <a:close/>
                </a:path>
              </a:pathLst>
            </a:custGeom>
            <a:solidFill>
              <a:srgbClr val="9EC7AC"/>
            </a:solidFill>
            <a:ln w="9525" cap="sq">
              <a:solidFill>
                <a:srgbClr val="9EC7AC"/>
              </a:solidFill>
              <a:prstDash val="solid"/>
              <a:miter/>
            </a:ln>
          </p:spPr>
        </p:sp>
      </p:grpSp>
      <p:grpSp>
        <p:nvGrpSpPr>
          <p:cNvPr name="Group 19" id="19"/>
          <p:cNvGrpSpPr/>
          <p:nvPr/>
        </p:nvGrpSpPr>
        <p:grpSpPr>
          <a:xfrm rot="0">
            <a:off x="754399" y="9417368"/>
            <a:ext cx="16733939" cy="333337"/>
            <a:chOff x="0" y="0"/>
            <a:chExt cx="22311919" cy="444449"/>
          </a:xfrm>
        </p:grpSpPr>
        <p:sp>
          <p:nvSpPr>
            <p:cNvPr name="Freeform 20" id="20"/>
            <p:cNvSpPr/>
            <p:nvPr/>
          </p:nvSpPr>
          <p:spPr>
            <a:xfrm flipH="false" flipV="false" rot="0">
              <a:off x="0" y="0"/>
              <a:ext cx="22311917" cy="444449"/>
            </a:xfrm>
            <a:custGeom>
              <a:avLst/>
              <a:gdLst/>
              <a:ahLst/>
              <a:cxnLst/>
              <a:rect r="r" b="b" t="t" l="l"/>
              <a:pathLst>
                <a:path h="444449" w="22311917">
                  <a:moveTo>
                    <a:pt x="0" y="0"/>
                  </a:moveTo>
                  <a:lnTo>
                    <a:pt x="22311917" y="0"/>
                  </a:lnTo>
                  <a:lnTo>
                    <a:pt x="22311917" y="444449"/>
                  </a:lnTo>
                  <a:lnTo>
                    <a:pt x="0" y="444449"/>
                  </a:lnTo>
                  <a:close/>
                </a:path>
              </a:pathLst>
            </a:custGeom>
            <a:blipFill>
              <a:blip r:embed="rId2">
                <a:alphaModFix amt="0"/>
              </a:blip>
              <a:stretch>
                <a:fillRect l="0" t="-932911" r="0" b="-923436"/>
              </a:stretch>
            </a:blipFill>
          </p:spPr>
        </p:sp>
        <p:sp>
          <p:nvSpPr>
            <p:cNvPr name="TextBox 21" id="21"/>
            <p:cNvSpPr txBox="true"/>
            <p:nvPr/>
          </p:nvSpPr>
          <p:spPr>
            <a:xfrm>
              <a:off x="0" y="0"/>
              <a:ext cx="22311919" cy="444449"/>
            </a:xfrm>
            <a:prstGeom prst="rect">
              <a:avLst/>
            </a:prstGeom>
          </p:spPr>
          <p:txBody>
            <a:bodyPr anchor="ctr" rtlCol="false" tIns="0" lIns="0" bIns="0" rIns="0"/>
            <a:lstStyle/>
            <a:p>
              <a:pPr algn="l">
                <a:lnSpc>
                  <a:spcPts val="2159"/>
                </a:lnSpc>
              </a:pPr>
              <a:r>
                <a:rPr lang="en-US" sz="1799" b="true">
                  <a:solidFill>
                    <a:srgbClr val="008078"/>
                  </a:solidFill>
                  <a:latin typeface="Aptos Bold"/>
                  <a:ea typeface="Aptos Bold"/>
                  <a:cs typeface="Aptos Bold"/>
                  <a:sym typeface="Aptos Bold"/>
                </a:rPr>
                <a:t>EMERGENCY VEHICLE PRIORITY  •  CRT-BASED SYNCHRONIZATION</a:t>
              </a:r>
            </a:p>
          </p:txBody>
        </p:sp>
      </p:grpSp>
      <p:grpSp>
        <p:nvGrpSpPr>
          <p:cNvPr name="Group 22" id="22"/>
          <p:cNvGrpSpPr/>
          <p:nvPr/>
        </p:nvGrpSpPr>
        <p:grpSpPr>
          <a:xfrm rot="0">
            <a:off x="845649" y="2944178"/>
            <a:ext cx="4974841" cy="2958465"/>
            <a:chOff x="0" y="0"/>
            <a:chExt cx="6633121" cy="3944620"/>
          </a:xfrm>
        </p:grpSpPr>
        <p:sp>
          <p:nvSpPr>
            <p:cNvPr name="Freeform 23" id="23"/>
            <p:cNvSpPr/>
            <p:nvPr/>
          </p:nvSpPr>
          <p:spPr>
            <a:xfrm flipH="false" flipV="false" rot="0">
              <a:off x="0" y="0"/>
              <a:ext cx="6633210" cy="3944620"/>
            </a:xfrm>
            <a:custGeom>
              <a:avLst/>
              <a:gdLst/>
              <a:ahLst/>
              <a:cxnLst/>
              <a:rect r="r" b="b" t="t" l="l"/>
              <a:pathLst>
                <a:path h="3944620" w="6633210">
                  <a:moveTo>
                    <a:pt x="0" y="657479"/>
                  </a:moveTo>
                  <a:cubicBezTo>
                    <a:pt x="0" y="294386"/>
                    <a:pt x="294386" y="0"/>
                    <a:pt x="657479" y="0"/>
                  </a:cubicBezTo>
                  <a:lnTo>
                    <a:pt x="5975731" y="0"/>
                  </a:lnTo>
                  <a:cubicBezTo>
                    <a:pt x="6338824" y="0"/>
                    <a:pt x="6633210" y="294386"/>
                    <a:pt x="6633210" y="657479"/>
                  </a:cubicBezTo>
                  <a:lnTo>
                    <a:pt x="6633210" y="3287141"/>
                  </a:lnTo>
                  <a:cubicBezTo>
                    <a:pt x="6633210" y="3650234"/>
                    <a:pt x="6338824" y="3944620"/>
                    <a:pt x="5975731" y="3944620"/>
                  </a:cubicBezTo>
                  <a:lnTo>
                    <a:pt x="657479" y="3944620"/>
                  </a:lnTo>
                  <a:cubicBezTo>
                    <a:pt x="294386" y="3944620"/>
                    <a:pt x="0" y="3650234"/>
                    <a:pt x="0" y="3287141"/>
                  </a:cubicBezTo>
                  <a:close/>
                </a:path>
              </a:pathLst>
            </a:custGeom>
            <a:solidFill>
              <a:srgbClr val="EBF9F4"/>
            </a:solidFill>
            <a:ln w="9525" cap="sq">
              <a:solidFill>
                <a:srgbClr val="D6E5E9"/>
              </a:solidFill>
              <a:prstDash val="solid"/>
              <a:miter/>
            </a:ln>
          </p:spPr>
        </p:sp>
      </p:grpSp>
      <p:grpSp>
        <p:nvGrpSpPr>
          <p:cNvPr name="Group 24" id="24"/>
          <p:cNvGrpSpPr/>
          <p:nvPr/>
        </p:nvGrpSpPr>
        <p:grpSpPr>
          <a:xfrm rot="0">
            <a:off x="1147410" y="3259646"/>
            <a:ext cx="1724063" cy="530733"/>
            <a:chOff x="0" y="0"/>
            <a:chExt cx="2298751" cy="707644"/>
          </a:xfrm>
        </p:grpSpPr>
        <p:sp>
          <p:nvSpPr>
            <p:cNvPr name="Freeform 25" id="25"/>
            <p:cNvSpPr/>
            <p:nvPr/>
          </p:nvSpPr>
          <p:spPr>
            <a:xfrm flipH="false" flipV="false" rot="0">
              <a:off x="0" y="0"/>
              <a:ext cx="2298700" cy="707644"/>
            </a:xfrm>
            <a:custGeom>
              <a:avLst/>
              <a:gdLst/>
              <a:ahLst/>
              <a:cxnLst/>
              <a:rect r="r" b="b" t="t" l="l"/>
              <a:pathLst>
                <a:path h="707644" w="2298700">
                  <a:moveTo>
                    <a:pt x="0" y="117983"/>
                  </a:moveTo>
                  <a:cubicBezTo>
                    <a:pt x="0" y="52832"/>
                    <a:pt x="52832" y="0"/>
                    <a:pt x="117983" y="0"/>
                  </a:cubicBezTo>
                  <a:lnTo>
                    <a:pt x="2180844" y="0"/>
                  </a:lnTo>
                  <a:cubicBezTo>
                    <a:pt x="2245995" y="0"/>
                    <a:pt x="2298700" y="52832"/>
                    <a:pt x="2298700" y="117983"/>
                  </a:cubicBezTo>
                  <a:lnTo>
                    <a:pt x="2298700" y="589661"/>
                  </a:lnTo>
                  <a:cubicBezTo>
                    <a:pt x="2298700" y="654812"/>
                    <a:pt x="2245868" y="707644"/>
                    <a:pt x="2180717" y="707644"/>
                  </a:cubicBezTo>
                  <a:lnTo>
                    <a:pt x="117983" y="707644"/>
                  </a:lnTo>
                  <a:cubicBezTo>
                    <a:pt x="52832" y="707644"/>
                    <a:pt x="0" y="654812"/>
                    <a:pt x="0" y="589661"/>
                  </a:cubicBezTo>
                  <a:close/>
                </a:path>
              </a:pathLst>
            </a:custGeom>
            <a:solidFill>
              <a:srgbClr val="008078"/>
            </a:solidFill>
            <a:ln w="9525" cap="sq">
              <a:solidFill>
                <a:srgbClr val="008078"/>
              </a:solidFill>
              <a:prstDash val="solid"/>
              <a:miter/>
            </a:ln>
          </p:spPr>
        </p:sp>
      </p:grpSp>
      <p:grpSp>
        <p:nvGrpSpPr>
          <p:cNvPr name="Group 26" id="26"/>
          <p:cNvGrpSpPr/>
          <p:nvPr/>
        </p:nvGrpSpPr>
        <p:grpSpPr>
          <a:xfrm rot="0">
            <a:off x="1207037" y="3291840"/>
            <a:ext cx="1604810" cy="438912"/>
            <a:chOff x="0" y="0"/>
            <a:chExt cx="2139747" cy="585216"/>
          </a:xfrm>
        </p:grpSpPr>
        <p:sp>
          <p:nvSpPr>
            <p:cNvPr name="Freeform 27" id="27"/>
            <p:cNvSpPr/>
            <p:nvPr/>
          </p:nvSpPr>
          <p:spPr>
            <a:xfrm flipH="false" flipV="false" rot="0">
              <a:off x="0" y="0"/>
              <a:ext cx="2139749" cy="585216"/>
            </a:xfrm>
            <a:custGeom>
              <a:avLst/>
              <a:gdLst/>
              <a:ahLst/>
              <a:cxnLst/>
              <a:rect r="r" b="b" t="t" l="l"/>
              <a:pathLst>
                <a:path h="585216" w="2139749">
                  <a:moveTo>
                    <a:pt x="0" y="0"/>
                  </a:moveTo>
                  <a:lnTo>
                    <a:pt x="2139749" y="0"/>
                  </a:lnTo>
                  <a:lnTo>
                    <a:pt x="2139749" y="585216"/>
                  </a:lnTo>
                  <a:lnTo>
                    <a:pt x="0" y="585216"/>
                  </a:lnTo>
                  <a:close/>
                </a:path>
              </a:pathLst>
            </a:custGeom>
            <a:blipFill>
              <a:blip r:embed="rId2">
                <a:alphaModFix amt="0"/>
              </a:blip>
              <a:stretch>
                <a:fillRect l="0" t="-21243" r="0" b="-21243"/>
              </a:stretch>
            </a:blipFill>
          </p:spPr>
        </p:sp>
        <p:sp>
          <p:nvSpPr>
            <p:cNvPr name="TextBox 28" id="28"/>
            <p:cNvSpPr txBox="true"/>
            <p:nvPr/>
          </p:nvSpPr>
          <p:spPr>
            <a:xfrm>
              <a:off x="0" y="0"/>
              <a:ext cx="2139747" cy="585216"/>
            </a:xfrm>
            <a:prstGeom prst="rect">
              <a:avLst/>
            </a:prstGeom>
          </p:spPr>
          <p:txBody>
            <a:bodyPr anchor="ctr" rtlCol="false" tIns="0" lIns="0" bIns="0" rIns="0"/>
            <a:lstStyle/>
            <a:p>
              <a:pPr algn="ctr">
                <a:lnSpc>
                  <a:spcPts val="2639"/>
                </a:lnSpc>
              </a:pPr>
              <a:r>
                <a:rPr lang="en-US" sz="2199" b="true">
                  <a:solidFill>
                    <a:srgbClr val="FFFFFF"/>
                  </a:solidFill>
                  <a:latin typeface="Aptos Bold"/>
                  <a:ea typeface="Aptos Bold"/>
                  <a:cs typeface="Aptos Bold"/>
                  <a:sym typeface="Aptos Bold"/>
                </a:rPr>
                <a:t>SIGNAL 1</a:t>
              </a:r>
            </a:p>
          </p:txBody>
        </p:sp>
      </p:grpSp>
      <p:grpSp>
        <p:nvGrpSpPr>
          <p:cNvPr name="Group 29" id="29"/>
          <p:cNvGrpSpPr/>
          <p:nvPr/>
        </p:nvGrpSpPr>
        <p:grpSpPr>
          <a:xfrm rot="0">
            <a:off x="1097309" y="4018788"/>
            <a:ext cx="4457814" cy="754380"/>
            <a:chOff x="0" y="0"/>
            <a:chExt cx="5943752" cy="1005840"/>
          </a:xfrm>
        </p:grpSpPr>
        <p:sp>
          <p:nvSpPr>
            <p:cNvPr name="Freeform 30" id="30"/>
            <p:cNvSpPr/>
            <p:nvPr/>
          </p:nvSpPr>
          <p:spPr>
            <a:xfrm flipH="false" flipV="false" rot="0">
              <a:off x="0" y="0"/>
              <a:ext cx="5943748" cy="1005840"/>
            </a:xfrm>
            <a:custGeom>
              <a:avLst/>
              <a:gdLst/>
              <a:ahLst/>
              <a:cxnLst/>
              <a:rect r="r" b="b" t="t" l="l"/>
              <a:pathLst>
                <a:path h="1005840" w="5943748">
                  <a:moveTo>
                    <a:pt x="0" y="0"/>
                  </a:moveTo>
                  <a:lnTo>
                    <a:pt x="5943748" y="0"/>
                  </a:lnTo>
                  <a:lnTo>
                    <a:pt x="5943748" y="1005840"/>
                  </a:lnTo>
                  <a:lnTo>
                    <a:pt x="0" y="1005840"/>
                  </a:lnTo>
                  <a:close/>
                </a:path>
              </a:pathLst>
            </a:custGeom>
            <a:blipFill>
              <a:blip r:embed="rId2">
                <a:alphaModFix amt="0"/>
              </a:blip>
              <a:stretch>
                <a:fillRect l="0" t="-65141" r="0" b="-65141"/>
              </a:stretch>
            </a:blipFill>
          </p:spPr>
        </p:sp>
        <p:sp>
          <p:nvSpPr>
            <p:cNvPr name="TextBox 31" id="31"/>
            <p:cNvSpPr txBox="true"/>
            <p:nvPr/>
          </p:nvSpPr>
          <p:spPr>
            <a:xfrm>
              <a:off x="0" y="-9525"/>
              <a:ext cx="5943752" cy="1015365"/>
            </a:xfrm>
            <a:prstGeom prst="rect">
              <a:avLst/>
            </a:prstGeom>
          </p:spPr>
          <p:txBody>
            <a:bodyPr anchor="ctr" rtlCol="false" tIns="0" lIns="0" bIns="0" rIns="0"/>
            <a:lstStyle/>
            <a:p>
              <a:pPr algn="ctr">
                <a:lnSpc>
                  <a:spcPts val="2879"/>
                </a:lnSpc>
              </a:pPr>
              <a:r>
                <a:rPr lang="en-US" sz="2400" b="true">
                  <a:solidFill>
                    <a:srgbClr val="007753"/>
                  </a:solidFill>
                  <a:latin typeface="Cambria Bold"/>
                  <a:ea typeface="Cambria Bold"/>
                  <a:cs typeface="Cambria Bold"/>
                  <a:sym typeface="Cambria Bold"/>
                </a:rPr>
                <a:t>t ≡ 2 (mod 5)</a:t>
              </a:r>
            </a:p>
          </p:txBody>
        </p:sp>
      </p:grpSp>
      <p:grpSp>
        <p:nvGrpSpPr>
          <p:cNvPr name="Group 32" id="32"/>
          <p:cNvGrpSpPr/>
          <p:nvPr/>
        </p:nvGrpSpPr>
        <p:grpSpPr>
          <a:xfrm rot="0">
            <a:off x="1179605" y="4828032"/>
            <a:ext cx="4279497" cy="740664"/>
            <a:chOff x="0" y="0"/>
            <a:chExt cx="5705996" cy="987552"/>
          </a:xfrm>
        </p:grpSpPr>
        <p:sp>
          <p:nvSpPr>
            <p:cNvPr name="Freeform 33" id="33"/>
            <p:cNvSpPr/>
            <p:nvPr/>
          </p:nvSpPr>
          <p:spPr>
            <a:xfrm flipH="false" flipV="false" rot="0">
              <a:off x="0" y="0"/>
              <a:ext cx="5705999" cy="987552"/>
            </a:xfrm>
            <a:custGeom>
              <a:avLst/>
              <a:gdLst/>
              <a:ahLst/>
              <a:cxnLst/>
              <a:rect r="r" b="b" t="t" l="l"/>
              <a:pathLst>
                <a:path h="987552" w="5705999">
                  <a:moveTo>
                    <a:pt x="0" y="0"/>
                  </a:moveTo>
                  <a:lnTo>
                    <a:pt x="5705999" y="0"/>
                  </a:lnTo>
                  <a:lnTo>
                    <a:pt x="5705999" y="987552"/>
                  </a:lnTo>
                  <a:lnTo>
                    <a:pt x="0" y="987552"/>
                  </a:lnTo>
                  <a:close/>
                </a:path>
              </a:pathLst>
            </a:custGeom>
            <a:blipFill>
              <a:blip r:embed="rId2">
                <a:alphaModFix amt="0"/>
              </a:blip>
              <a:stretch>
                <a:fillRect l="0" t="-62582" r="0" b="-62582"/>
              </a:stretch>
            </a:blipFill>
          </p:spPr>
        </p:sp>
        <p:sp>
          <p:nvSpPr>
            <p:cNvPr name="TextBox 34" id="34"/>
            <p:cNvSpPr txBox="true"/>
            <p:nvPr/>
          </p:nvSpPr>
          <p:spPr>
            <a:xfrm>
              <a:off x="0" y="0"/>
              <a:ext cx="5705996" cy="987552"/>
            </a:xfrm>
            <a:prstGeom prst="rect">
              <a:avLst/>
            </a:prstGeom>
          </p:spPr>
          <p:txBody>
            <a:bodyPr anchor="ctr" rtlCol="false" tIns="0" lIns="0" bIns="0" rIns="0"/>
            <a:lstStyle/>
            <a:p>
              <a:pPr algn="ctr">
                <a:lnSpc>
                  <a:spcPts val="2159"/>
                </a:lnSpc>
              </a:pPr>
              <a:r>
                <a:rPr lang="en-US" sz="1799">
                  <a:solidFill>
                    <a:srgbClr val="536980"/>
                  </a:solidFill>
                  <a:latin typeface="Aptos"/>
                  <a:ea typeface="Aptos"/>
                  <a:cs typeface="Aptos"/>
                  <a:sym typeface="Aptos"/>
                </a:rPr>
                <a:t>When t is divided by 5, the remainder is 2.</a:t>
              </a:r>
            </a:p>
          </p:txBody>
        </p:sp>
      </p:grpSp>
      <p:grpSp>
        <p:nvGrpSpPr>
          <p:cNvPr name="Group 35" id="35"/>
          <p:cNvGrpSpPr/>
          <p:nvPr/>
        </p:nvGrpSpPr>
        <p:grpSpPr>
          <a:xfrm rot="0">
            <a:off x="6277318" y="2944178"/>
            <a:ext cx="4974841" cy="2958465"/>
            <a:chOff x="0" y="0"/>
            <a:chExt cx="6633121" cy="3944620"/>
          </a:xfrm>
        </p:grpSpPr>
        <p:sp>
          <p:nvSpPr>
            <p:cNvPr name="Freeform 36" id="36"/>
            <p:cNvSpPr/>
            <p:nvPr/>
          </p:nvSpPr>
          <p:spPr>
            <a:xfrm flipH="false" flipV="false" rot="0">
              <a:off x="0" y="0"/>
              <a:ext cx="6633210" cy="3944620"/>
            </a:xfrm>
            <a:custGeom>
              <a:avLst/>
              <a:gdLst/>
              <a:ahLst/>
              <a:cxnLst/>
              <a:rect r="r" b="b" t="t" l="l"/>
              <a:pathLst>
                <a:path h="3944620" w="6633210">
                  <a:moveTo>
                    <a:pt x="0" y="657479"/>
                  </a:moveTo>
                  <a:cubicBezTo>
                    <a:pt x="0" y="294386"/>
                    <a:pt x="294386" y="0"/>
                    <a:pt x="657479" y="0"/>
                  </a:cubicBezTo>
                  <a:lnTo>
                    <a:pt x="5975731" y="0"/>
                  </a:lnTo>
                  <a:cubicBezTo>
                    <a:pt x="6338824" y="0"/>
                    <a:pt x="6633210" y="294386"/>
                    <a:pt x="6633210" y="657479"/>
                  </a:cubicBezTo>
                  <a:lnTo>
                    <a:pt x="6633210" y="3287141"/>
                  </a:lnTo>
                  <a:cubicBezTo>
                    <a:pt x="6633210" y="3650234"/>
                    <a:pt x="6338824" y="3944620"/>
                    <a:pt x="5975731" y="3944620"/>
                  </a:cubicBezTo>
                  <a:lnTo>
                    <a:pt x="657479" y="3944620"/>
                  </a:lnTo>
                  <a:cubicBezTo>
                    <a:pt x="294386" y="3944620"/>
                    <a:pt x="0" y="3650234"/>
                    <a:pt x="0" y="3287141"/>
                  </a:cubicBezTo>
                  <a:close/>
                </a:path>
              </a:pathLst>
            </a:custGeom>
            <a:solidFill>
              <a:srgbClr val="EFF8FF"/>
            </a:solidFill>
            <a:ln w="9525" cap="sq">
              <a:solidFill>
                <a:srgbClr val="D6E5E9"/>
              </a:solidFill>
              <a:prstDash val="solid"/>
              <a:miter/>
            </a:ln>
          </p:spPr>
        </p:sp>
      </p:grpSp>
      <p:grpSp>
        <p:nvGrpSpPr>
          <p:cNvPr name="Group 37" id="37"/>
          <p:cNvGrpSpPr/>
          <p:nvPr/>
        </p:nvGrpSpPr>
        <p:grpSpPr>
          <a:xfrm rot="0">
            <a:off x="6579079" y="3259646"/>
            <a:ext cx="1724063" cy="530733"/>
            <a:chOff x="0" y="0"/>
            <a:chExt cx="2298751" cy="707644"/>
          </a:xfrm>
        </p:grpSpPr>
        <p:sp>
          <p:nvSpPr>
            <p:cNvPr name="Freeform 38" id="38"/>
            <p:cNvSpPr/>
            <p:nvPr/>
          </p:nvSpPr>
          <p:spPr>
            <a:xfrm flipH="false" flipV="false" rot="0">
              <a:off x="0" y="0"/>
              <a:ext cx="2298700" cy="707644"/>
            </a:xfrm>
            <a:custGeom>
              <a:avLst/>
              <a:gdLst/>
              <a:ahLst/>
              <a:cxnLst/>
              <a:rect r="r" b="b" t="t" l="l"/>
              <a:pathLst>
                <a:path h="707644" w="2298700">
                  <a:moveTo>
                    <a:pt x="0" y="117983"/>
                  </a:moveTo>
                  <a:cubicBezTo>
                    <a:pt x="0" y="52832"/>
                    <a:pt x="52832" y="0"/>
                    <a:pt x="117983" y="0"/>
                  </a:cubicBezTo>
                  <a:lnTo>
                    <a:pt x="2180844" y="0"/>
                  </a:lnTo>
                  <a:cubicBezTo>
                    <a:pt x="2245995" y="0"/>
                    <a:pt x="2298700" y="52832"/>
                    <a:pt x="2298700" y="117983"/>
                  </a:cubicBezTo>
                  <a:lnTo>
                    <a:pt x="2298700" y="589661"/>
                  </a:lnTo>
                  <a:cubicBezTo>
                    <a:pt x="2298700" y="654812"/>
                    <a:pt x="2245868" y="707644"/>
                    <a:pt x="2180717" y="707644"/>
                  </a:cubicBezTo>
                  <a:lnTo>
                    <a:pt x="117983" y="707644"/>
                  </a:lnTo>
                  <a:cubicBezTo>
                    <a:pt x="52832" y="707644"/>
                    <a:pt x="0" y="654812"/>
                    <a:pt x="0" y="589661"/>
                  </a:cubicBezTo>
                  <a:close/>
                </a:path>
              </a:pathLst>
            </a:custGeom>
            <a:solidFill>
              <a:srgbClr val="008078"/>
            </a:solidFill>
            <a:ln w="9525" cap="sq">
              <a:solidFill>
                <a:srgbClr val="008078"/>
              </a:solidFill>
              <a:prstDash val="solid"/>
              <a:miter/>
            </a:ln>
          </p:spPr>
        </p:sp>
      </p:grpSp>
      <p:grpSp>
        <p:nvGrpSpPr>
          <p:cNvPr name="Group 39" id="39"/>
          <p:cNvGrpSpPr/>
          <p:nvPr/>
        </p:nvGrpSpPr>
        <p:grpSpPr>
          <a:xfrm rot="0">
            <a:off x="6638706" y="3291840"/>
            <a:ext cx="1604810" cy="438912"/>
            <a:chOff x="0" y="0"/>
            <a:chExt cx="2139747" cy="585216"/>
          </a:xfrm>
        </p:grpSpPr>
        <p:sp>
          <p:nvSpPr>
            <p:cNvPr name="Freeform 40" id="40"/>
            <p:cNvSpPr/>
            <p:nvPr/>
          </p:nvSpPr>
          <p:spPr>
            <a:xfrm flipH="false" flipV="false" rot="0">
              <a:off x="0" y="0"/>
              <a:ext cx="2139749" cy="585216"/>
            </a:xfrm>
            <a:custGeom>
              <a:avLst/>
              <a:gdLst/>
              <a:ahLst/>
              <a:cxnLst/>
              <a:rect r="r" b="b" t="t" l="l"/>
              <a:pathLst>
                <a:path h="585216" w="2139749">
                  <a:moveTo>
                    <a:pt x="0" y="0"/>
                  </a:moveTo>
                  <a:lnTo>
                    <a:pt x="2139749" y="0"/>
                  </a:lnTo>
                  <a:lnTo>
                    <a:pt x="2139749" y="585216"/>
                  </a:lnTo>
                  <a:lnTo>
                    <a:pt x="0" y="585216"/>
                  </a:lnTo>
                  <a:close/>
                </a:path>
              </a:pathLst>
            </a:custGeom>
            <a:blipFill>
              <a:blip r:embed="rId2">
                <a:alphaModFix amt="0"/>
              </a:blip>
              <a:stretch>
                <a:fillRect l="0" t="-21243" r="0" b="-21243"/>
              </a:stretch>
            </a:blipFill>
          </p:spPr>
        </p:sp>
        <p:sp>
          <p:nvSpPr>
            <p:cNvPr name="TextBox 41" id="41"/>
            <p:cNvSpPr txBox="true"/>
            <p:nvPr/>
          </p:nvSpPr>
          <p:spPr>
            <a:xfrm>
              <a:off x="0" y="0"/>
              <a:ext cx="2139747" cy="585216"/>
            </a:xfrm>
            <a:prstGeom prst="rect">
              <a:avLst/>
            </a:prstGeom>
          </p:spPr>
          <p:txBody>
            <a:bodyPr anchor="ctr" rtlCol="false" tIns="0" lIns="0" bIns="0" rIns="0"/>
            <a:lstStyle/>
            <a:p>
              <a:pPr algn="ctr">
                <a:lnSpc>
                  <a:spcPts val="2639"/>
                </a:lnSpc>
              </a:pPr>
              <a:r>
                <a:rPr lang="en-US" sz="2199" b="true">
                  <a:solidFill>
                    <a:srgbClr val="FFFFFF"/>
                  </a:solidFill>
                  <a:latin typeface="Aptos Bold"/>
                  <a:ea typeface="Aptos Bold"/>
                  <a:cs typeface="Aptos Bold"/>
                  <a:sym typeface="Aptos Bold"/>
                </a:rPr>
                <a:t>SIGNAL 2</a:t>
              </a:r>
            </a:p>
          </p:txBody>
        </p:sp>
      </p:grpSp>
      <p:grpSp>
        <p:nvGrpSpPr>
          <p:cNvPr name="Group 42" id="42"/>
          <p:cNvGrpSpPr/>
          <p:nvPr/>
        </p:nvGrpSpPr>
        <p:grpSpPr>
          <a:xfrm rot="0">
            <a:off x="6528978" y="4018788"/>
            <a:ext cx="4457814" cy="754380"/>
            <a:chOff x="0" y="0"/>
            <a:chExt cx="5943752" cy="1005840"/>
          </a:xfrm>
        </p:grpSpPr>
        <p:sp>
          <p:nvSpPr>
            <p:cNvPr name="Freeform 43" id="43"/>
            <p:cNvSpPr/>
            <p:nvPr/>
          </p:nvSpPr>
          <p:spPr>
            <a:xfrm flipH="false" flipV="false" rot="0">
              <a:off x="0" y="0"/>
              <a:ext cx="5943748" cy="1005840"/>
            </a:xfrm>
            <a:custGeom>
              <a:avLst/>
              <a:gdLst/>
              <a:ahLst/>
              <a:cxnLst/>
              <a:rect r="r" b="b" t="t" l="l"/>
              <a:pathLst>
                <a:path h="1005840" w="5943748">
                  <a:moveTo>
                    <a:pt x="0" y="0"/>
                  </a:moveTo>
                  <a:lnTo>
                    <a:pt x="5943748" y="0"/>
                  </a:lnTo>
                  <a:lnTo>
                    <a:pt x="5943748" y="1005840"/>
                  </a:lnTo>
                  <a:lnTo>
                    <a:pt x="0" y="1005840"/>
                  </a:lnTo>
                  <a:close/>
                </a:path>
              </a:pathLst>
            </a:custGeom>
            <a:blipFill>
              <a:blip r:embed="rId2">
                <a:alphaModFix amt="0"/>
              </a:blip>
              <a:stretch>
                <a:fillRect l="0" t="-65141" r="0" b="-65141"/>
              </a:stretch>
            </a:blipFill>
          </p:spPr>
        </p:sp>
        <p:sp>
          <p:nvSpPr>
            <p:cNvPr name="TextBox 44" id="44"/>
            <p:cNvSpPr txBox="true"/>
            <p:nvPr/>
          </p:nvSpPr>
          <p:spPr>
            <a:xfrm>
              <a:off x="0" y="-9525"/>
              <a:ext cx="5943752" cy="1015365"/>
            </a:xfrm>
            <a:prstGeom prst="rect">
              <a:avLst/>
            </a:prstGeom>
          </p:spPr>
          <p:txBody>
            <a:bodyPr anchor="ctr" rtlCol="false" tIns="0" lIns="0" bIns="0" rIns="0"/>
            <a:lstStyle/>
            <a:p>
              <a:pPr algn="ctr">
                <a:lnSpc>
                  <a:spcPts val="2879"/>
                </a:lnSpc>
              </a:pPr>
              <a:r>
                <a:rPr lang="en-US" sz="2400" b="true">
                  <a:solidFill>
                    <a:srgbClr val="007753"/>
                  </a:solidFill>
                  <a:latin typeface="Cambria Bold"/>
                  <a:ea typeface="Cambria Bold"/>
                  <a:cs typeface="Cambria Bold"/>
                  <a:sym typeface="Cambria Bold"/>
                </a:rPr>
                <a:t>t ≡ 3 (mod 7)</a:t>
              </a:r>
            </a:p>
          </p:txBody>
        </p:sp>
      </p:grpSp>
      <p:grpSp>
        <p:nvGrpSpPr>
          <p:cNvPr name="Group 45" id="45"/>
          <p:cNvGrpSpPr/>
          <p:nvPr/>
        </p:nvGrpSpPr>
        <p:grpSpPr>
          <a:xfrm rot="0">
            <a:off x="6611274" y="4828032"/>
            <a:ext cx="4279497" cy="740664"/>
            <a:chOff x="0" y="0"/>
            <a:chExt cx="5705996" cy="987552"/>
          </a:xfrm>
        </p:grpSpPr>
        <p:sp>
          <p:nvSpPr>
            <p:cNvPr name="Freeform 46" id="46"/>
            <p:cNvSpPr/>
            <p:nvPr/>
          </p:nvSpPr>
          <p:spPr>
            <a:xfrm flipH="false" flipV="false" rot="0">
              <a:off x="0" y="0"/>
              <a:ext cx="5705999" cy="987552"/>
            </a:xfrm>
            <a:custGeom>
              <a:avLst/>
              <a:gdLst/>
              <a:ahLst/>
              <a:cxnLst/>
              <a:rect r="r" b="b" t="t" l="l"/>
              <a:pathLst>
                <a:path h="987552" w="5705999">
                  <a:moveTo>
                    <a:pt x="0" y="0"/>
                  </a:moveTo>
                  <a:lnTo>
                    <a:pt x="5705999" y="0"/>
                  </a:lnTo>
                  <a:lnTo>
                    <a:pt x="5705999" y="987552"/>
                  </a:lnTo>
                  <a:lnTo>
                    <a:pt x="0" y="987552"/>
                  </a:lnTo>
                  <a:close/>
                </a:path>
              </a:pathLst>
            </a:custGeom>
            <a:blipFill>
              <a:blip r:embed="rId2">
                <a:alphaModFix amt="0"/>
              </a:blip>
              <a:stretch>
                <a:fillRect l="0" t="-62582" r="0" b="-62582"/>
              </a:stretch>
            </a:blipFill>
          </p:spPr>
        </p:sp>
        <p:sp>
          <p:nvSpPr>
            <p:cNvPr name="TextBox 47" id="47"/>
            <p:cNvSpPr txBox="true"/>
            <p:nvPr/>
          </p:nvSpPr>
          <p:spPr>
            <a:xfrm>
              <a:off x="0" y="0"/>
              <a:ext cx="5705996" cy="987552"/>
            </a:xfrm>
            <a:prstGeom prst="rect">
              <a:avLst/>
            </a:prstGeom>
          </p:spPr>
          <p:txBody>
            <a:bodyPr anchor="ctr" rtlCol="false" tIns="0" lIns="0" bIns="0" rIns="0"/>
            <a:lstStyle/>
            <a:p>
              <a:pPr algn="ctr">
                <a:lnSpc>
                  <a:spcPts val="2159"/>
                </a:lnSpc>
              </a:pPr>
              <a:r>
                <a:rPr lang="en-US" sz="1799">
                  <a:solidFill>
                    <a:srgbClr val="536980"/>
                  </a:solidFill>
                  <a:latin typeface="Aptos"/>
                  <a:ea typeface="Aptos"/>
                  <a:cs typeface="Aptos"/>
                  <a:sym typeface="Aptos"/>
                </a:rPr>
                <a:t>When t is divided by 7, the remainder is 3.</a:t>
              </a:r>
            </a:p>
          </p:txBody>
        </p:sp>
      </p:grpSp>
      <p:grpSp>
        <p:nvGrpSpPr>
          <p:cNvPr name="Group 48" id="48"/>
          <p:cNvGrpSpPr/>
          <p:nvPr/>
        </p:nvGrpSpPr>
        <p:grpSpPr>
          <a:xfrm rot="0">
            <a:off x="11708997" y="2944178"/>
            <a:ext cx="4974841" cy="2958465"/>
            <a:chOff x="0" y="0"/>
            <a:chExt cx="6633121" cy="3944620"/>
          </a:xfrm>
        </p:grpSpPr>
        <p:sp>
          <p:nvSpPr>
            <p:cNvPr name="Freeform 49" id="49"/>
            <p:cNvSpPr/>
            <p:nvPr/>
          </p:nvSpPr>
          <p:spPr>
            <a:xfrm flipH="false" flipV="false" rot="0">
              <a:off x="0" y="0"/>
              <a:ext cx="6633210" cy="3944620"/>
            </a:xfrm>
            <a:custGeom>
              <a:avLst/>
              <a:gdLst/>
              <a:ahLst/>
              <a:cxnLst/>
              <a:rect r="r" b="b" t="t" l="l"/>
              <a:pathLst>
                <a:path h="3944620" w="6633210">
                  <a:moveTo>
                    <a:pt x="0" y="657479"/>
                  </a:moveTo>
                  <a:cubicBezTo>
                    <a:pt x="0" y="294386"/>
                    <a:pt x="294386" y="0"/>
                    <a:pt x="657479" y="0"/>
                  </a:cubicBezTo>
                  <a:lnTo>
                    <a:pt x="5975731" y="0"/>
                  </a:lnTo>
                  <a:cubicBezTo>
                    <a:pt x="6338824" y="0"/>
                    <a:pt x="6633210" y="294386"/>
                    <a:pt x="6633210" y="657479"/>
                  </a:cubicBezTo>
                  <a:lnTo>
                    <a:pt x="6633210" y="3287141"/>
                  </a:lnTo>
                  <a:cubicBezTo>
                    <a:pt x="6633210" y="3650234"/>
                    <a:pt x="6338824" y="3944620"/>
                    <a:pt x="5975731" y="3944620"/>
                  </a:cubicBezTo>
                  <a:lnTo>
                    <a:pt x="657479" y="3944620"/>
                  </a:lnTo>
                  <a:cubicBezTo>
                    <a:pt x="294386" y="3944620"/>
                    <a:pt x="0" y="3650234"/>
                    <a:pt x="0" y="3287141"/>
                  </a:cubicBezTo>
                  <a:close/>
                </a:path>
              </a:pathLst>
            </a:custGeom>
            <a:solidFill>
              <a:srgbClr val="EFFBF2"/>
            </a:solidFill>
            <a:ln w="9525" cap="sq">
              <a:solidFill>
                <a:srgbClr val="D6E5E9"/>
              </a:solidFill>
              <a:prstDash val="solid"/>
              <a:miter/>
            </a:ln>
          </p:spPr>
        </p:sp>
      </p:grpSp>
      <p:grpSp>
        <p:nvGrpSpPr>
          <p:cNvPr name="Group 50" id="50"/>
          <p:cNvGrpSpPr/>
          <p:nvPr/>
        </p:nvGrpSpPr>
        <p:grpSpPr>
          <a:xfrm rot="0">
            <a:off x="12010749" y="3259646"/>
            <a:ext cx="1724063" cy="530733"/>
            <a:chOff x="0" y="0"/>
            <a:chExt cx="2298751" cy="707644"/>
          </a:xfrm>
        </p:grpSpPr>
        <p:sp>
          <p:nvSpPr>
            <p:cNvPr name="Freeform 51" id="51"/>
            <p:cNvSpPr/>
            <p:nvPr/>
          </p:nvSpPr>
          <p:spPr>
            <a:xfrm flipH="false" flipV="false" rot="0">
              <a:off x="0" y="0"/>
              <a:ext cx="2298700" cy="707644"/>
            </a:xfrm>
            <a:custGeom>
              <a:avLst/>
              <a:gdLst/>
              <a:ahLst/>
              <a:cxnLst/>
              <a:rect r="r" b="b" t="t" l="l"/>
              <a:pathLst>
                <a:path h="707644" w="2298700">
                  <a:moveTo>
                    <a:pt x="0" y="117983"/>
                  </a:moveTo>
                  <a:cubicBezTo>
                    <a:pt x="0" y="52832"/>
                    <a:pt x="52832" y="0"/>
                    <a:pt x="117983" y="0"/>
                  </a:cubicBezTo>
                  <a:lnTo>
                    <a:pt x="2180844" y="0"/>
                  </a:lnTo>
                  <a:cubicBezTo>
                    <a:pt x="2245995" y="0"/>
                    <a:pt x="2298700" y="52832"/>
                    <a:pt x="2298700" y="117983"/>
                  </a:cubicBezTo>
                  <a:lnTo>
                    <a:pt x="2298700" y="589661"/>
                  </a:lnTo>
                  <a:cubicBezTo>
                    <a:pt x="2298700" y="654812"/>
                    <a:pt x="2245868" y="707644"/>
                    <a:pt x="2180717" y="707644"/>
                  </a:cubicBezTo>
                  <a:lnTo>
                    <a:pt x="117983" y="707644"/>
                  </a:lnTo>
                  <a:cubicBezTo>
                    <a:pt x="52832" y="707644"/>
                    <a:pt x="0" y="654812"/>
                    <a:pt x="0" y="589661"/>
                  </a:cubicBezTo>
                  <a:close/>
                </a:path>
              </a:pathLst>
            </a:custGeom>
            <a:solidFill>
              <a:srgbClr val="008078"/>
            </a:solidFill>
            <a:ln w="9525" cap="sq">
              <a:solidFill>
                <a:srgbClr val="008078"/>
              </a:solidFill>
              <a:prstDash val="solid"/>
              <a:miter/>
            </a:ln>
          </p:spPr>
        </p:sp>
      </p:grpSp>
      <p:grpSp>
        <p:nvGrpSpPr>
          <p:cNvPr name="Group 52" id="52"/>
          <p:cNvGrpSpPr/>
          <p:nvPr/>
        </p:nvGrpSpPr>
        <p:grpSpPr>
          <a:xfrm rot="0">
            <a:off x="12070375" y="3291840"/>
            <a:ext cx="1604810" cy="438912"/>
            <a:chOff x="0" y="0"/>
            <a:chExt cx="2139747" cy="585216"/>
          </a:xfrm>
        </p:grpSpPr>
        <p:sp>
          <p:nvSpPr>
            <p:cNvPr name="Freeform 53" id="53"/>
            <p:cNvSpPr/>
            <p:nvPr/>
          </p:nvSpPr>
          <p:spPr>
            <a:xfrm flipH="false" flipV="false" rot="0">
              <a:off x="0" y="0"/>
              <a:ext cx="2139749" cy="585216"/>
            </a:xfrm>
            <a:custGeom>
              <a:avLst/>
              <a:gdLst/>
              <a:ahLst/>
              <a:cxnLst/>
              <a:rect r="r" b="b" t="t" l="l"/>
              <a:pathLst>
                <a:path h="585216" w="2139749">
                  <a:moveTo>
                    <a:pt x="0" y="0"/>
                  </a:moveTo>
                  <a:lnTo>
                    <a:pt x="2139749" y="0"/>
                  </a:lnTo>
                  <a:lnTo>
                    <a:pt x="2139749" y="585216"/>
                  </a:lnTo>
                  <a:lnTo>
                    <a:pt x="0" y="585216"/>
                  </a:lnTo>
                  <a:close/>
                </a:path>
              </a:pathLst>
            </a:custGeom>
            <a:blipFill>
              <a:blip r:embed="rId2">
                <a:alphaModFix amt="0"/>
              </a:blip>
              <a:stretch>
                <a:fillRect l="0" t="-21243" r="0" b="-21243"/>
              </a:stretch>
            </a:blipFill>
          </p:spPr>
        </p:sp>
        <p:sp>
          <p:nvSpPr>
            <p:cNvPr name="TextBox 54" id="54"/>
            <p:cNvSpPr txBox="true"/>
            <p:nvPr/>
          </p:nvSpPr>
          <p:spPr>
            <a:xfrm>
              <a:off x="0" y="0"/>
              <a:ext cx="2139747" cy="585216"/>
            </a:xfrm>
            <a:prstGeom prst="rect">
              <a:avLst/>
            </a:prstGeom>
          </p:spPr>
          <p:txBody>
            <a:bodyPr anchor="ctr" rtlCol="false" tIns="0" lIns="0" bIns="0" rIns="0"/>
            <a:lstStyle/>
            <a:p>
              <a:pPr algn="ctr">
                <a:lnSpc>
                  <a:spcPts val="2639"/>
                </a:lnSpc>
              </a:pPr>
              <a:r>
                <a:rPr lang="en-US" sz="2199" b="true">
                  <a:solidFill>
                    <a:srgbClr val="FFFFFF"/>
                  </a:solidFill>
                  <a:latin typeface="Aptos Bold"/>
                  <a:ea typeface="Aptos Bold"/>
                  <a:cs typeface="Aptos Bold"/>
                  <a:sym typeface="Aptos Bold"/>
                </a:rPr>
                <a:t>SIGNAL 3</a:t>
              </a:r>
            </a:p>
          </p:txBody>
        </p:sp>
      </p:grpSp>
      <p:grpSp>
        <p:nvGrpSpPr>
          <p:cNvPr name="Group 55" id="55"/>
          <p:cNvGrpSpPr/>
          <p:nvPr/>
        </p:nvGrpSpPr>
        <p:grpSpPr>
          <a:xfrm rot="0">
            <a:off x="11960647" y="4018788"/>
            <a:ext cx="4457814" cy="754380"/>
            <a:chOff x="0" y="0"/>
            <a:chExt cx="5943752" cy="1005840"/>
          </a:xfrm>
        </p:grpSpPr>
        <p:sp>
          <p:nvSpPr>
            <p:cNvPr name="Freeform 56" id="56"/>
            <p:cNvSpPr/>
            <p:nvPr/>
          </p:nvSpPr>
          <p:spPr>
            <a:xfrm flipH="false" flipV="false" rot="0">
              <a:off x="0" y="0"/>
              <a:ext cx="5943748" cy="1005840"/>
            </a:xfrm>
            <a:custGeom>
              <a:avLst/>
              <a:gdLst/>
              <a:ahLst/>
              <a:cxnLst/>
              <a:rect r="r" b="b" t="t" l="l"/>
              <a:pathLst>
                <a:path h="1005840" w="5943748">
                  <a:moveTo>
                    <a:pt x="0" y="0"/>
                  </a:moveTo>
                  <a:lnTo>
                    <a:pt x="5943748" y="0"/>
                  </a:lnTo>
                  <a:lnTo>
                    <a:pt x="5943748" y="1005840"/>
                  </a:lnTo>
                  <a:lnTo>
                    <a:pt x="0" y="1005840"/>
                  </a:lnTo>
                  <a:close/>
                </a:path>
              </a:pathLst>
            </a:custGeom>
            <a:blipFill>
              <a:blip r:embed="rId2">
                <a:alphaModFix amt="0"/>
              </a:blip>
              <a:stretch>
                <a:fillRect l="0" t="-65141" r="0" b="-65141"/>
              </a:stretch>
            </a:blipFill>
          </p:spPr>
        </p:sp>
        <p:sp>
          <p:nvSpPr>
            <p:cNvPr name="TextBox 57" id="57"/>
            <p:cNvSpPr txBox="true"/>
            <p:nvPr/>
          </p:nvSpPr>
          <p:spPr>
            <a:xfrm>
              <a:off x="0" y="-9525"/>
              <a:ext cx="5943752" cy="1015365"/>
            </a:xfrm>
            <a:prstGeom prst="rect">
              <a:avLst/>
            </a:prstGeom>
          </p:spPr>
          <p:txBody>
            <a:bodyPr anchor="ctr" rtlCol="false" tIns="0" lIns="0" bIns="0" rIns="0"/>
            <a:lstStyle/>
            <a:p>
              <a:pPr algn="ctr">
                <a:lnSpc>
                  <a:spcPts val="2879"/>
                </a:lnSpc>
              </a:pPr>
              <a:r>
                <a:rPr lang="en-US" sz="2400" b="true">
                  <a:solidFill>
                    <a:srgbClr val="007753"/>
                  </a:solidFill>
                  <a:latin typeface="Cambria Bold"/>
                  <a:ea typeface="Cambria Bold"/>
                  <a:cs typeface="Cambria Bold"/>
                  <a:sym typeface="Cambria Bold"/>
                </a:rPr>
                <a:t>t ≡ 2 (mod 3)</a:t>
              </a:r>
            </a:p>
          </p:txBody>
        </p:sp>
      </p:grpSp>
      <p:grpSp>
        <p:nvGrpSpPr>
          <p:cNvPr name="Group 58" id="58"/>
          <p:cNvGrpSpPr/>
          <p:nvPr/>
        </p:nvGrpSpPr>
        <p:grpSpPr>
          <a:xfrm rot="0">
            <a:off x="12042943" y="4828032"/>
            <a:ext cx="4279497" cy="740664"/>
            <a:chOff x="0" y="0"/>
            <a:chExt cx="5705996" cy="987552"/>
          </a:xfrm>
        </p:grpSpPr>
        <p:sp>
          <p:nvSpPr>
            <p:cNvPr name="Freeform 59" id="59"/>
            <p:cNvSpPr/>
            <p:nvPr/>
          </p:nvSpPr>
          <p:spPr>
            <a:xfrm flipH="false" flipV="false" rot="0">
              <a:off x="0" y="0"/>
              <a:ext cx="5705999" cy="987552"/>
            </a:xfrm>
            <a:custGeom>
              <a:avLst/>
              <a:gdLst/>
              <a:ahLst/>
              <a:cxnLst/>
              <a:rect r="r" b="b" t="t" l="l"/>
              <a:pathLst>
                <a:path h="987552" w="5705999">
                  <a:moveTo>
                    <a:pt x="0" y="0"/>
                  </a:moveTo>
                  <a:lnTo>
                    <a:pt x="5705999" y="0"/>
                  </a:lnTo>
                  <a:lnTo>
                    <a:pt x="5705999" y="987552"/>
                  </a:lnTo>
                  <a:lnTo>
                    <a:pt x="0" y="987552"/>
                  </a:lnTo>
                  <a:close/>
                </a:path>
              </a:pathLst>
            </a:custGeom>
            <a:blipFill>
              <a:blip r:embed="rId2">
                <a:alphaModFix amt="0"/>
              </a:blip>
              <a:stretch>
                <a:fillRect l="0" t="-62582" r="0" b="-62582"/>
              </a:stretch>
            </a:blipFill>
          </p:spPr>
        </p:sp>
        <p:sp>
          <p:nvSpPr>
            <p:cNvPr name="TextBox 60" id="60"/>
            <p:cNvSpPr txBox="true"/>
            <p:nvPr/>
          </p:nvSpPr>
          <p:spPr>
            <a:xfrm>
              <a:off x="0" y="0"/>
              <a:ext cx="5705996" cy="987552"/>
            </a:xfrm>
            <a:prstGeom prst="rect">
              <a:avLst/>
            </a:prstGeom>
          </p:spPr>
          <p:txBody>
            <a:bodyPr anchor="ctr" rtlCol="false" tIns="0" lIns="0" bIns="0" rIns="0"/>
            <a:lstStyle/>
            <a:p>
              <a:pPr algn="ctr">
                <a:lnSpc>
                  <a:spcPts val="2159"/>
                </a:lnSpc>
              </a:pPr>
              <a:r>
                <a:rPr lang="en-US" sz="1799">
                  <a:solidFill>
                    <a:srgbClr val="536980"/>
                  </a:solidFill>
                  <a:latin typeface="Aptos"/>
                  <a:ea typeface="Aptos"/>
                  <a:cs typeface="Aptos"/>
                  <a:sym typeface="Aptos"/>
                </a:rPr>
                <a:t>When t is divided by 3, the remainder is 2.</a:t>
              </a:r>
            </a:p>
          </p:txBody>
        </p:sp>
      </p:grpSp>
      <p:grpSp>
        <p:nvGrpSpPr>
          <p:cNvPr name="Group 61" id="61"/>
          <p:cNvGrpSpPr/>
          <p:nvPr/>
        </p:nvGrpSpPr>
        <p:grpSpPr>
          <a:xfrm rot="0">
            <a:off x="1023966" y="6510338"/>
            <a:ext cx="16263395" cy="2135505"/>
            <a:chOff x="0" y="0"/>
            <a:chExt cx="21684526" cy="2847340"/>
          </a:xfrm>
        </p:grpSpPr>
        <p:sp>
          <p:nvSpPr>
            <p:cNvPr name="Freeform 62" id="62"/>
            <p:cNvSpPr/>
            <p:nvPr/>
          </p:nvSpPr>
          <p:spPr>
            <a:xfrm flipH="false" flipV="false" rot="0">
              <a:off x="0" y="0"/>
              <a:ext cx="21684614" cy="2847340"/>
            </a:xfrm>
            <a:custGeom>
              <a:avLst/>
              <a:gdLst/>
              <a:ahLst/>
              <a:cxnLst/>
              <a:rect r="r" b="b" t="t" l="l"/>
              <a:pathLst>
                <a:path h="2847340" w="21684614">
                  <a:moveTo>
                    <a:pt x="0" y="474599"/>
                  </a:moveTo>
                  <a:cubicBezTo>
                    <a:pt x="0" y="212471"/>
                    <a:pt x="212471" y="0"/>
                    <a:pt x="474599" y="0"/>
                  </a:cubicBezTo>
                  <a:lnTo>
                    <a:pt x="21210015" y="0"/>
                  </a:lnTo>
                  <a:cubicBezTo>
                    <a:pt x="21472144" y="0"/>
                    <a:pt x="21684614" y="212471"/>
                    <a:pt x="21684614" y="474599"/>
                  </a:cubicBezTo>
                  <a:lnTo>
                    <a:pt x="21684614" y="2372741"/>
                  </a:lnTo>
                  <a:cubicBezTo>
                    <a:pt x="21684614" y="2634869"/>
                    <a:pt x="21472144" y="2847340"/>
                    <a:pt x="21210015" y="2847340"/>
                  </a:cubicBezTo>
                  <a:lnTo>
                    <a:pt x="474599" y="2847340"/>
                  </a:lnTo>
                  <a:cubicBezTo>
                    <a:pt x="212471" y="2847340"/>
                    <a:pt x="0" y="2634869"/>
                    <a:pt x="0" y="2372741"/>
                  </a:cubicBezTo>
                  <a:close/>
                </a:path>
              </a:pathLst>
            </a:custGeom>
            <a:solidFill>
              <a:srgbClr val="EBF9F4"/>
            </a:solidFill>
            <a:ln w="9525" cap="sq">
              <a:solidFill>
                <a:srgbClr val="D6E5E9"/>
              </a:solidFill>
              <a:prstDash val="solid"/>
              <a:miter/>
            </a:ln>
          </p:spPr>
        </p:sp>
      </p:grpSp>
      <p:grpSp>
        <p:nvGrpSpPr>
          <p:cNvPr name="Group 63" id="63"/>
          <p:cNvGrpSpPr/>
          <p:nvPr/>
        </p:nvGrpSpPr>
        <p:grpSpPr>
          <a:xfrm rot="0">
            <a:off x="1371638" y="6789420"/>
            <a:ext cx="3223336" cy="466344"/>
            <a:chOff x="0" y="0"/>
            <a:chExt cx="4297782" cy="621792"/>
          </a:xfrm>
        </p:grpSpPr>
        <p:sp>
          <p:nvSpPr>
            <p:cNvPr name="Freeform 64" id="64"/>
            <p:cNvSpPr/>
            <p:nvPr/>
          </p:nvSpPr>
          <p:spPr>
            <a:xfrm flipH="false" flipV="false" rot="0">
              <a:off x="0" y="0"/>
              <a:ext cx="4297787" cy="621792"/>
            </a:xfrm>
            <a:custGeom>
              <a:avLst/>
              <a:gdLst/>
              <a:ahLst/>
              <a:cxnLst/>
              <a:rect r="r" b="b" t="t" l="l"/>
              <a:pathLst>
                <a:path h="621792" w="4297787">
                  <a:moveTo>
                    <a:pt x="0" y="0"/>
                  </a:moveTo>
                  <a:lnTo>
                    <a:pt x="4297787" y="0"/>
                  </a:lnTo>
                  <a:lnTo>
                    <a:pt x="4297787" y="621792"/>
                  </a:lnTo>
                  <a:lnTo>
                    <a:pt x="0" y="621792"/>
                  </a:lnTo>
                  <a:close/>
                </a:path>
              </a:pathLst>
            </a:custGeom>
            <a:blipFill>
              <a:blip r:embed="rId2">
                <a:alphaModFix amt="0"/>
              </a:blip>
              <a:stretch>
                <a:fillRect l="0" t="-84679" r="0" b="-84679"/>
              </a:stretch>
            </a:blipFill>
          </p:spPr>
        </p:sp>
        <p:sp>
          <p:nvSpPr>
            <p:cNvPr name="TextBox 65" id="65"/>
            <p:cNvSpPr txBox="true"/>
            <p:nvPr/>
          </p:nvSpPr>
          <p:spPr>
            <a:xfrm>
              <a:off x="0" y="0"/>
              <a:ext cx="4297782" cy="621792"/>
            </a:xfrm>
            <a:prstGeom prst="rect">
              <a:avLst/>
            </a:prstGeom>
          </p:spPr>
          <p:txBody>
            <a:bodyPr anchor="ctr" rtlCol="false" tIns="0" lIns="0" bIns="0" rIns="0"/>
            <a:lstStyle/>
            <a:p>
              <a:pPr algn="l">
                <a:lnSpc>
                  <a:spcPts val="2639"/>
                </a:lnSpc>
              </a:pPr>
              <a:r>
                <a:rPr lang="en-US" sz="2199" b="true">
                  <a:solidFill>
                    <a:srgbClr val="008078"/>
                  </a:solidFill>
                  <a:latin typeface="Aptos Bold"/>
                  <a:ea typeface="Aptos Bold"/>
                  <a:cs typeface="Aptos Bold"/>
                  <a:sym typeface="Aptos Bold"/>
                </a:rPr>
                <a:t>CHECK THE MODULI</a:t>
              </a:r>
            </a:p>
          </p:txBody>
        </p:sp>
      </p:grpSp>
      <p:grpSp>
        <p:nvGrpSpPr>
          <p:cNvPr name="Group 66" id="66"/>
          <p:cNvGrpSpPr/>
          <p:nvPr/>
        </p:nvGrpSpPr>
        <p:grpSpPr>
          <a:xfrm rot="0">
            <a:off x="1371638" y="7296912"/>
            <a:ext cx="15019391" cy="589788"/>
            <a:chOff x="0" y="0"/>
            <a:chExt cx="20025855" cy="786384"/>
          </a:xfrm>
        </p:grpSpPr>
        <p:sp>
          <p:nvSpPr>
            <p:cNvPr name="Freeform 67" id="67"/>
            <p:cNvSpPr/>
            <p:nvPr/>
          </p:nvSpPr>
          <p:spPr>
            <a:xfrm flipH="false" flipV="false" rot="0">
              <a:off x="0" y="0"/>
              <a:ext cx="20025860" cy="786384"/>
            </a:xfrm>
            <a:custGeom>
              <a:avLst/>
              <a:gdLst/>
              <a:ahLst/>
              <a:cxnLst/>
              <a:rect r="r" b="b" t="t" l="l"/>
              <a:pathLst>
                <a:path h="786384" w="20025860">
                  <a:moveTo>
                    <a:pt x="0" y="0"/>
                  </a:moveTo>
                  <a:lnTo>
                    <a:pt x="20025860" y="0"/>
                  </a:lnTo>
                  <a:lnTo>
                    <a:pt x="20025860" y="786384"/>
                  </a:lnTo>
                  <a:lnTo>
                    <a:pt x="0" y="786384"/>
                  </a:lnTo>
                  <a:close/>
                </a:path>
              </a:pathLst>
            </a:custGeom>
            <a:blipFill>
              <a:blip r:embed="rId2">
                <a:alphaModFix amt="0"/>
              </a:blip>
              <a:stretch>
                <a:fillRect l="0" t="-446201" r="0" b="-446201"/>
              </a:stretch>
            </a:blipFill>
          </p:spPr>
        </p:sp>
        <p:sp>
          <p:nvSpPr>
            <p:cNvPr name="TextBox 68" id="68"/>
            <p:cNvSpPr txBox="true"/>
            <p:nvPr/>
          </p:nvSpPr>
          <p:spPr>
            <a:xfrm>
              <a:off x="0" y="0"/>
              <a:ext cx="20025855" cy="786384"/>
            </a:xfrm>
            <a:prstGeom prst="rect">
              <a:avLst/>
            </a:prstGeom>
          </p:spPr>
          <p:txBody>
            <a:bodyPr anchor="ctr" rtlCol="false" tIns="0" lIns="0" bIns="0" rIns="0"/>
            <a:lstStyle/>
            <a:p>
              <a:pPr algn="l">
                <a:lnSpc>
                  <a:spcPts val="2639"/>
                </a:lnSpc>
              </a:pPr>
              <a:r>
                <a:rPr lang="en-US" sz="2199">
                  <a:solidFill>
                    <a:srgbClr val="1C2B42"/>
                  </a:solidFill>
                  <a:latin typeface="Aptos"/>
                  <a:ea typeface="Aptos"/>
                  <a:cs typeface="Aptos"/>
                  <a:sym typeface="Aptos"/>
                </a:rPr>
                <a:t>The moduli are 5, 7 and 3. They are pairwise coprime because each pair has no common factor other than 1.</a:t>
              </a:r>
            </a:p>
          </p:txBody>
        </p:sp>
      </p:grpSp>
      <p:grpSp>
        <p:nvGrpSpPr>
          <p:cNvPr name="Group 69" id="69"/>
          <p:cNvGrpSpPr/>
          <p:nvPr/>
        </p:nvGrpSpPr>
        <p:grpSpPr>
          <a:xfrm rot="0">
            <a:off x="1371638" y="7927848"/>
            <a:ext cx="15019391" cy="466344"/>
            <a:chOff x="0" y="0"/>
            <a:chExt cx="20025855" cy="621792"/>
          </a:xfrm>
        </p:grpSpPr>
        <p:sp>
          <p:nvSpPr>
            <p:cNvPr name="Freeform 70" id="70"/>
            <p:cNvSpPr/>
            <p:nvPr/>
          </p:nvSpPr>
          <p:spPr>
            <a:xfrm flipH="false" flipV="false" rot="0">
              <a:off x="0" y="0"/>
              <a:ext cx="20025860" cy="621792"/>
            </a:xfrm>
            <a:custGeom>
              <a:avLst/>
              <a:gdLst/>
              <a:ahLst/>
              <a:cxnLst/>
              <a:rect r="r" b="b" t="t" l="l"/>
              <a:pathLst>
                <a:path h="621792" w="20025860">
                  <a:moveTo>
                    <a:pt x="0" y="0"/>
                  </a:moveTo>
                  <a:lnTo>
                    <a:pt x="20025860" y="0"/>
                  </a:lnTo>
                  <a:lnTo>
                    <a:pt x="20025860" y="621792"/>
                  </a:lnTo>
                  <a:lnTo>
                    <a:pt x="0" y="621792"/>
                  </a:lnTo>
                  <a:close/>
                </a:path>
              </a:pathLst>
            </a:custGeom>
            <a:blipFill>
              <a:blip r:embed="rId2">
                <a:alphaModFix amt="0"/>
              </a:blip>
              <a:stretch>
                <a:fillRect l="0" t="-577548" r="0" b="-577548"/>
              </a:stretch>
            </a:blipFill>
          </p:spPr>
        </p:sp>
        <p:sp>
          <p:nvSpPr>
            <p:cNvPr name="TextBox 71" id="71"/>
            <p:cNvSpPr txBox="true"/>
            <p:nvPr/>
          </p:nvSpPr>
          <p:spPr>
            <a:xfrm>
              <a:off x="0" y="-9525"/>
              <a:ext cx="20025855" cy="631317"/>
            </a:xfrm>
            <a:prstGeom prst="rect">
              <a:avLst/>
            </a:prstGeom>
          </p:spPr>
          <p:txBody>
            <a:bodyPr anchor="ctr" rtlCol="false" tIns="0" lIns="0" bIns="0" rIns="0"/>
            <a:lstStyle/>
            <a:p>
              <a:pPr algn="l">
                <a:lnSpc>
                  <a:spcPts val="2519"/>
                </a:lnSpc>
              </a:pPr>
              <a:r>
                <a:rPr lang="en-US" sz="2099" b="true">
                  <a:solidFill>
                    <a:srgbClr val="007753"/>
                  </a:solidFill>
                  <a:latin typeface="Aptos Bold"/>
                  <a:ea typeface="Aptos Bold"/>
                  <a:cs typeface="Aptos Bold"/>
                  <a:sym typeface="Aptos Bold"/>
                </a:rPr>
                <a:t>Therefore, CRT gives one unique solution modulo 5 × 7 × 3 = 105.</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62" y="-4762"/>
            <a:ext cx="18297525" cy="1298829"/>
            <a:chOff x="0" y="0"/>
            <a:chExt cx="24396700" cy="1731772"/>
          </a:xfrm>
        </p:grpSpPr>
        <p:sp>
          <p:nvSpPr>
            <p:cNvPr name="Freeform 3" id="3"/>
            <p:cNvSpPr/>
            <p:nvPr/>
          </p:nvSpPr>
          <p:spPr>
            <a:xfrm flipH="false" flipV="false" rot="0">
              <a:off x="0" y="0"/>
              <a:ext cx="24396700" cy="1731772"/>
            </a:xfrm>
            <a:custGeom>
              <a:avLst/>
              <a:gdLst/>
              <a:ahLst/>
              <a:cxnLst/>
              <a:rect r="r" b="b" t="t" l="l"/>
              <a:pathLst>
                <a:path h="1731772" w="24396700">
                  <a:moveTo>
                    <a:pt x="0" y="0"/>
                  </a:moveTo>
                  <a:lnTo>
                    <a:pt x="24396700" y="0"/>
                  </a:lnTo>
                  <a:lnTo>
                    <a:pt x="24396700" y="1731772"/>
                  </a:lnTo>
                  <a:lnTo>
                    <a:pt x="0" y="1731772"/>
                  </a:lnTo>
                  <a:close/>
                </a:path>
              </a:pathLst>
            </a:custGeom>
            <a:solidFill>
              <a:srgbClr val="115B55"/>
            </a:solidFill>
            <a:ln w="9525" cap="sq">
              <a:solidFill>
                <a:srgbClr val="115B55"/>
              </a:solidFill>
              <a:prstDash val="solid"/>
              <a:miter/>
            </a:ln>
          </p:spPr>
        </p:sp>
      </p:grpSp>
      <p:grpSp>
        <p:nvGrpSpPr>
          <p:cNvPr name="Group 4" id="4"/>
          <p:cNvGrpSpPr/>
          <p:nvPr/>
        </p:nvGrpSpPr>
        <p:grpSpPr>
          <a:xfrm rot="0">
            <a:off x="658387" y="178308"/>
            <a:ext cx="16322450" cy="850392"/>
            <a:chOff x="0" y="0"/>
            <a:chExt cx="21763266" cy="1133856"/>
          </a:xfrm>
        </p:grpSpPr>
        <p:sp>
          <p:nvSpPr>
            <p:cNvPr name="Freeform 5" id="5"/>
            <p:cNvSpPr/>
            <p:nvPr/>
          </p:nvSpPr>
          <p:spPr>
            <a:xfrm flipH="false" flipV="false" rot="0">
              <a:off x="0" y="0"/>
              <a:ext cx="21763264" cy="1133856"/>
            </a:xfrm>
            <a:custGeom>
              <a:avLst/>
              <a:gdLst/>
              <a:ahLst/>
              <a:cxnLst/>
              <a:rect r="r" b="b" t="t" l="l"/>
              <a:pathLst>
                <a:path h="1133856" w="21763264">
                  <a:moveTo>
                    <a:pt x="0" y="0"/>
                  </a:moveTo>
                  <a:lnTo>
                    <a:pt x="21763264" y="0"/>
                  </a:lnTo>
                  <a:lnTo>
                    <a:pt x="21763264" y="1133856"/>
                  </a:lnTo>
                  <a:lnTo>
                    <a:pt x="0" y="1133856"/>
                  </a:lnTo>
                  <a:close/>
                </a:path>
              </a:pathLst>
            </a:custGeom>
            <a:blipFill>
              <a:blip r:embed="rId2">
                <a:alphaModFix amt="0"/>
              </a:blip>
              <a:stretch>
                <a:fillRect l="0" t="-323996" r="0" b="-323996"/>
              </a:stretch>
            </a:blipFill>
          </p:spPr>
        </p:sp>
        <p:sp>
          <p:nvSpPr>
            <p:cNvPr name="TextBox 6" id="6"/>
            <p:cNvSpPr txBox="true"/>
            <p:nvPr/>
          </p:nvSpPr>
          <p:spPr>
            <a:xfrm>
              <a:off x="0" y="9525"/>
              <a:ext cx="21763266" cy="1124331"/>
            </a:xfrm>
            <a:prstGeom prst="rect">
              <a:avLst/>
            </a:prstGeom>
          </p:spPr>
          <p:txBody>
            <a:bodyPr anchor="ctr" rtlCol="false" tIns="0" lIns="0" bIns="0" rIns="0"/>
            <a:lstStyle/>
            <a:p>
              <a:pPr algn="l">
                <a:lnSpc>
                  <a:spcPts val="4199"/>
                </a:lnSpc>
              </a:pPr>
              <a:r>
                <a:rPr lang="en-US" sz="3499" b="true">
                  <a:solidFill>
                    <a:srgbClr val="FFFFFF"/>
                  </a:solidFill>
                  <a:latin typeface="Lora Bold"/>
                  <a:ea typeface="Lora Bold"/>
                  <a:cs typeface="Lora Bold"/>
                  <a:sym typeface="Lora Bold"/>
                </a:rPr>
                <a:t>CRT </a:t>
              </a:r>
              <a:r>
                <a:rPr lang="en-US" sz="3499" b="true">
                  <a:solidFill>
                    <a:srgbClr val="FFFFFF"/>
                  </a:solidFill>
                  <a:latin typeface="Lora Bold"/>
                  <a:ea typeface="Lora Bold"/>
                  <a:cs typeface="Lora Bold"/>
                  <a:sym typeface="Lora Bold"/>
                </a:rPr>
                <a:t>Worked Example: Set the Signal Conditions</a:t>
              </a:r>
            </a:p>
          </p:txBody>
        </p:sp>
      </p:grpSp>
      <p:grpSp>
        <p:nvGrpSpPr>
          <p:cNvPr name="Group 7" id="7"/>
          <p:cNvGrpSpPr/>
          <p:nvPr/>
        </p:nvGrpSpPr>
        <p:grpSpPr>
          <a:xfrm rot="0">
            <a:off x="16619449" y="-4762"/>
            <a:ext cx="599323" cy="1298829"/>
            <a:chOff x="0" y="0"/>
            <a:chExt cx="799097" cy="1731772"/>
          </a:xfrm>
        </p:grpSpPr>
        <p:sp>
          <p:nvSpPr>
            <p:cNvPr name="Freeform 8" id="8"/>
            <p:cNvSpPr/>
            <p:nvPr/>
          </p:nvSpPr>
          <p:spPr>
            <a:xfrm flipH="false" flipV="false" rot="0">
              <a:off x="0" y="0"/>
              <a:ext cx="799084" cy="1731772"/>
            </a:xfrm>
            <a:custGeom>
              <a:avLst/>
              <a:gdLst/>
              <a:ahLst/>
              <a:cxnLst/>
              <a:rect r="r" b="b" t="t" l="l"/>
              <a:pathLst>
                <a:path h="1731772" w="799084">
                  <a:moveTo>
                    <a:pt x="0" y="1731772"/>
                  </a:moveTo>
                  <a:lnTo>
                    <a:pt x="199771" y="0"/>
                  </a:lnTo>
                  <a:lnTo>
                    <a:pt x="799084" y="0"/>
                  </a:lnTo>
                  <a:lnTo>
                    <a:pt x="599313" y="1731772"/>
                  </a:lnTo>
                  <a:close/>
                </a:path>
              </a:pathLst>
            </a:custGeom>
            <a:solidFill>
              <a:srgbClr val="EFFBF2"/>
            </a:solidFill>
            <a:ln w="9525" cap="sq">
              <a:solidFill>
                <a:srgbClr val="EFFBF2"/>
              </a:solidFill>
              <a:prstDash val="solid"/>
              <a:miter/>
            </a:ln>
          </p:spPr>
        </p:sp>
      </p:grpSp>
      <p:grpSp>
        <p:nvGrpSpPr>
          <p:cNvPr name="Group 9" id="9"/>
          <p:cNvGrpSpPr/>
          <p:nvPr/>
        </p:nvGrpSpPr>
        <p:grpSpPr>
          <a:xfrm rot="0">
            <a:off x="17209246" y="-4762"/>
            <a:ext cx="599323" cy="1298829"/>
            <a:chOff x="0" y="0"/>
            <a:chExt cx="799097" cy="1731772"/>
          </a:xfrm>
        </p:grpSpPr>
        <p:sp>
          <p:nvSpPr>
            <p:cNvPr name="Freeform 10" id="10"/>
            <p:cNvSpPr/>
            <p:nvPr/>
          </p:nvSpPr>
          <p:spPr>
            <a:xfrm flipH="false" flipV="false" rot="0">
              <a:off x="0" y="0"/>
              <a:ext cx="799084" cy="1731772"/>
            </a:xfrm>
            <a:custGeom>
              <a:avLst/>
              <a:gdLst/>
              <a:ahLst/>
              <a:cxnLst/>
              <a:rect r="r" b="b" t="t" l="l"/>
              <a:pathLst>
                <a:path h="1731772" w="799084">
                  <a:moveTo>
                    <a:pt x="0" y="1731772"/>
                  </a:moveTo>
                  <a:lnTo>
                    <a:pt x="199771" y="0"/>
                  </a:lnTo>
                  <a:lnTo>
                    <a:pt x="799084" y="0"/>
                  </a:lnTo>
                  <a:lnTo>
                    <a:pt x="599313" y="1731772"/>
                  </a:lnTo>
                  <a:close/>
                </a:path>
              </a:pathLst>
            </a:custGeom>
            <a:solidFill>
              <a:srgbClr val="9EC7AC"/>
            </a:solidFill>
            <a:ln w="9525" cap="sq">
              <a:solidFill>
                <a:srgbClr val="9EC7AC"/>
              </a:solidFill>
              <a:prstDash val="solid"/>
              <a:miter/>
            </a:ln>
          </p:spPr>
        </p:sp>
      </p:grpSp>
      <p:grpSp>
        <p:nvGrpSpPr>
          <p:cNvPr name="Group 11" id="11"/>
          <p:cNvGrpSpPr/>
          <p:nvPr/>
        </p:nvGrpSpPr>
        <p:grpSpPr>
          <a:xfrm rot="0">
            <a:off x="754399" y="1481328"/>
            <a:ext cx="16733939" cy="411480"/>
            <a:chOff x="0" y="0"/>
            <a:chExt cx="22311919" cy="548640"/>
          </a:xfrm>
        </p:grpSpPr>
        <p:sp>
          <p:nvSpPr>
            <p:cNvPr name="Freeform 12" id="12"/>
            <p:cNvSpPr/>
            <p:nvPr/>
          </p:nvSpPr>
          <p:spPr>
            <a:xfrm flipH="false" flipV="false" rot="0">
              <a:off x="0" y="0"/>
              <a:ext cx="22311917" cy="548640"/>
            </a:xfrm>
            <a:custGeom>
              <a:avLst/>
              <a:gdLst/>
              <a:ahLst/>
              <a:cxnLst/>
              <a:rect r="r" b="b" t="t" l="l"/>
              <a:pathLst>
                <a:path h="548640" w="22311917">
                  <a:moveTo>
                    <a:pt x="0" y="0"/>
                  </a:moveTo>
                  <a:lnTo>
                    <a:pt x="22311917" y="0"/>
                  </a:lnTo>
                  <a:lnTo>
                    <a:pt x="22311917" y="548640"/>
                  </a:lnTo>
                  <a:lnTo>
                    <a:pt x="0" y="548640"/>
                  </a:lnTo>
                  <a:close/>
                </a:path>
              </a:pathLst>
            </a:custGeom>
            <a:blipFill>
              <a:blip r:embed="rId2">
                <a:alphaModFix amt="0"/>
              </a:blip>
              <a:stretch>
                <a:fillRect l="0" t="-742411" r="0" b="-742411"/>
              </a:stretch>
            </a:blipFill>
          </p:spPr>
        </p:sp>
        <p:sp>
          <p:nvSpPr>
            <p:cNvPr name="TextBox 13" id="13"/>
            <p:cNvSpPr txBox="true"/>
            <p:nvPr/>
          </p:nvSpPr>
          <p:spPr>
            <a:xfrm>
              <a:off x="0" y="-9525"/>
              <a:ext cx="22311919" cy="558165"/>
            </a:xfrm>
            <a:prstGeom prst="rect">
              <a:avLst/>
            </a:prstGeom>
          </p:spPr>
          <p:txBody>
            <a:bodyPr anchor="ctr" rtlCol="false" tIns="0" lIns="0" bIns="0" rIns="0"/>
            <a:lstStyle/>
            <a:p>
              <a:pPr algn="l">
                <a:lnSpc>
                  <a:spcPts val="2519"/>
                </a:lnSpc>
              </a:pPr>
              <a:r>
                <a:rPr lang="en-US" sz="2099" b="true">
                  <a:solidFill>
                    <a:srgbClr val="008078"/>
                  </a:solidFill>
                  <a:latin typeface="Aptos Bold"/>
                  <a:ea typeface="Aptos Bold"/>
                  <a:cs typeface="Aptos Bold"/>
                  <a:sym typeface="Aptos Bold"/>
                </a:rPr>
                <a:t>STEP 2  •  CALCULATE</a:t>
              </a:r>
            </a:p>
          </p:txBody>
        </p:sp>
      </p:grpSp>
      <p:grpSp>
        <p:nvGrpSpPr>
          <p:cNvPr name="Group 14" id="14"/>
          <p:cNvGrpSpPr/>
          <p:nvPr/>
        </p:nvGrpSpPr>
        <p:grpSpPr>
          <a:xfrm rot="0">
            <a:off x="754399" y="1865376"/>
            <a:ext cx="16733939" cy="658368"/>
            <a:chOff x="0" y="0"/>
            <a:chExt cx="22311919" cy="877824"/>
          </a:xfrm>
        </p:grpSpPr>
        <p:sp>
          <p:nvSpPr>
            <p:cNvPr name="Freeform 15" id="15"/>
            <p:cNvSpPr/>
            <p:nvPr/>
          </p:nvSpPr>
          <p:spPr>
            <a:xfrm flipH="false" flipV="false" rot="0">
              <a:off x="0" y="0"/>
              <a:ext cx="22311917" cy="877824"/>
            </a:xfrm>
            <a:custGeom>
              <a:avLst/>
              <a:gdLst/>
              <a:ahLst/>
              <a:cxnLst/>
              <a:rect r="r" b="b" t="t" l="l"/>
              <a:pathLst>
                <a:path h="877824" w="22311917">
                  <a:moveTo>
                    <a:pt x="0" y="0"/>
                  </a:moveTo>
                  <a:lnTo>
                    <a:pt x="22311917" y="0"/>
                  </a:lnTo>
                  <a:lnTo>
                    <a:pt x="22311917" y="877824"/>
                  </a:lnTo>
                  <a:lnTo>
                    <a:pt x="0" y="877824"/>
                  </a:lnTo>
                  <a:close/>
                </a:path>
              </a:pathLst>
            </a:custGeom>
            <a:blipFill>
              <a:blip r:embed="rId2">
                <a:alphaModFix amt="0"/>
              </a:blip>
              <a:stretch>
                <a:fillRect l="0" t="-445257" r="0" b="-445257"/>
              </a:stretch>
            </a:blipFill>
          </p:spPr>
        </p:sp>
        <p:sp>
          <p:nvSpPr>
            <p:cNvPr name="TextBox 16" id="16"/>
            <p:cNvSpPr txBox="true"/>
            <p:nvPr/>
          </p:nvSpPr>
          <p:spPr>
            <a:xfrm>
              <a:off x="0" y="0"/>
              <a:ext cx="22311919" cy="877824"/>
            </a:xfrm>
            <a:prstGeom prst="rect">
              <a:avLst/>
            </a:prstGeom>
          </p:spPr>
          <p:txBody>
            <a:bodyPr anchor="ctr" rtlCol="false" tIns="0" lIns="0" bIns="0" rIns="0"/>
            <a:lstStyle/>
            <a:p>
              <a:pPr algn="l">
                <a:lnSpc>
                  <a:spcPts val="2759"/>
                </a:lnSpc>
              </a:pPr>
              <a:r>
                <a:rPr lang="en-US" sz="2299">
                  <a:solidFill>
                    <a:srgbClr val="536980"/>
                  </a:solidFill>
                  <a:latin typeface="Aptos"/>
                  <a:ea typeface="Aptos"/>
                  <a:cs typeface="Aptos"/>
                  <a:sym typeface="Aptos"/>
                </a:rPr>
                <a:t>Find the total modulus, partial moduli and modular inverses before combining the equations.</a:t>
              </a:r>
            </a:p>
          </p:txBody>
        </p:sp>
      </p:grpSp>
      <p:grpSp>
        <p:nvGrpSpPr>
          <p:cNvPr name="Group 17" id="17"/>
          <p:cNvGrpSpPr/>
          <p:nvPr/>
        </p:nvGrpSpPr>
        <p:grpSpPr>
          <a:xfrm rot="0">
            <a:off x="-4762" y="10117646"/>
            <a:ext cx="18297525" cy="174117"/>
            <a:chOff x="0" y="0"/>
            <a:chExt cx="24396700" cy="232156"/>
          </a:xfrm>
        </p:grpSpPr>
        <p:sp>
          <p:nvSpPr>
            <p:cNvPr name="Freeform 18" id="18"/>
            <p:cNvSpPr/>
            <p:nvPr/>
          </p:nvSpPr>
          <p:spPr>
            <a:xfrm flipH="false" flipV="false" rot="0">
              <a:off x="0" y="0"/>
              <a:ext cx="24396700" cy="232156"/>
            </a:xfrm>
            <a:custGeom>
              <a:avLst/>
              <a:gdLst/>
              <a:ahLst/>
              <a:cxnLst/>
              <a:rect r="r" b="b" t="t" l="l"/>
              <a:pathLst>
                <a:path h="232156" w="24396700">
                  <a:moveTo>
                    <a:pt x="0" y="0"/>
                  </a:moveTo>
                  <a:lnTo>
                    <a:pt x="24396700" y="0"/>
                  </a:lnTo>
                  <a:lnTo>
                    <a:pt x="24396700" y="232156"/>
                  </a:lnTo>
                  <a:lnTo>
                    <a:pt x="0" y="232156"/>
                  </a:lnTo>
                  <a:close/>
                </a:path>
              </a:pathLst>
            </a:custGeom>
            <a:solidFill>
              <a:srgbClr val="9EC7AC"/>
            </a:solidFill>
            <a:ln w="9525" cap="sq">
              <a:solidFill>
                <a:srgbClr val="9EC7AC"/>
              </a:solidFill>
              <a:prstDash val="solid"/>
              <a:miter/>
            </a:ln>
          </p:spPr>
        </p:sp>
      </p:grpSp>
      <p:grpSp>
        <p:nvGrpSpPr>
          <p:cNvPr name="Group 19" id="19"/>
          <p:cNvGrpSpPr/>
          <p:nvPr/>
        </p:nvGrpSpPr>
        <p:grpSpPr>
          <a:xfrm rot="0">
            <a:off x="754399" y="9669780"/>
            <a:ext cx="16733939" cy="320110"/>
            <a:chOff x="0" y="0"/>
            <a:chExt cx="22311919" cy="426813"/>
          </a:xfrm>
        </p:grpSpPr>
        <p:sp>
          <p:nvSpPr>
            <p:cNvPr name="Freeform 20" id="20"/>
            <p:cNvSpPr/>
            <p:nvPr/>
          </p:nvSpPr>
          <p:spPr>
            <a:xfrm flipH="false" flipV="false" rot="0">
              <a:off x="0" y="0"/>
              <a:ext cx="22311917" cy="426813"/>
            </a:xfrm>
            <a:custGeom>
              <a:avLst/>
              <a:gdLst/>
              <a:ahLst/>
              <a:cxnLst/>
              <a:rect r="r" b="b" t="t" l="l"/>
              <a:pathLst>
                <a:path h="426813" w="22311917">
                  <a:moveTo>
                    <a:pt x="0" y="0"/>
                  </a:moveTo>
                  <a:lnTo>
                    <a:pt x="22311917" y="0"/>
                  </a:lnTo>
                  <a:lnTo>
                    <a:pt x="22311917" y="426813"/>
                  </a:lnTo>
                  <a:lnTo>
                    <a:pt x="0" y="426813"/>
                  </a:lnTo>
                  <a:close/>
                </a:path>
              </a:pathLst>
            </a:custGeom>
            <a:blipFill>
              <a:blip r:embed="rId2">
                <a:alphaModFix amt="0"/>
              </a:blip>
              <a:stretch>
                <a:fillRect l="0" t="-971459" r="0" b="-965724"/>
              </a:stretch>
            </a:blipFill>
          </p:spPr>
        </p:sp>
        <p:sp>
          <p:nvSpPr>
            <p:cNvPr name="TextBox 21" id="21"/>
            <p:cNvSpPr txBox="true"/>
            <p:nvPr/>
          </p:nvSpPr>
          <p:spPr>
            <a:xfrm>
              <a:off x="0" y="-9525"/>
              <a:ext cx="22311919" cy="436338"/>
            </a:xfrm>
            <a:prstGeom prst="rect">
              <a:avLst/>
            </a:prstGeom>
          </p:spPr>
          <p:txBody>
            <a:bodyPr anchor="ctr" rtlCol="false" tIns="0" lIns="0" bIns="0" rIns="0"/>
            <a:lstStyle/>
            <a:p>
              <a:pPr algn="l">
                <a:lnSpc>
                  <a:spcPts val="2039"/>
                </a:lnSpc>
              </a:pPr>
              <a:r>
                <a:rPr lang="en-US" sz="1699" b="true">
                  <a:solidFill>
                    <a:srgbClr val="008078"/>
                  </a:solidFill>
                  <a:latin typeface="Aptos Bold"/>
                  <a:ea typeface="Aptos Bold"/>
                  <a:cs typeface="Aptos Bold"/>
                  <a:sym typeface="Aptos Bold"/>
                </a:rPr>
                <a:t>EMERGENCY VEHICLE PRIORITY  •  CRT-BASED SYNCHRONIZATION</a:t>
              </a:r>
            </a:p>
          </p:txBody>
        </p:sp>
      </p:grpSp>
      <p:grpSp>
        <p:nvGrpSpPr>
          <p:cNvPr name="Group 22" id="22"/>
          <p:cNvGrpSpPr/>
          <p:nvPr/>
        </p:nvGrpSpPr>
        <p:grpSpPr>
          <a:xfrm rot="0">
            <a:off x="982818" y="2738438"/>
            <a:ext cx="16304543" cy="1326261"/>
            <a:chOff x="0" y="0"/>
            <a:chExt cx="21739390" cy="1768348"/>
          </a:xfrm>
        </p:grpSpPr>
        <p:sp>
          <p:nvSpPr>
            <p:cNvPr name="Freeform 23" id="23"/>
            <p:cNvSpPr/>
            <p:nvPr/>
          </p:nvSpPr>
          <p:spPr>
            <a:xfrm flipH="false" flipV="false" rot="0">
              <a:off x="0" y="0"/>
              <a:ext cx="21739479" cy="1768475"/>
            </a:xfrm>
            <a:custGeom>
              <a:avLst/>
              <a:gdLst/>
              <a:ahLst/>
              <a:cxnLst/>
              <a:rect r="r" b="b" t="t" l="l"/>
              <a:pathLst>
                <a:path h="1768475" w="21739479">
                  <a:moveTo>
                    <a:pt x="0" y="294767"/>
                  </a:moveTo>
                  <a:cubicBezTo>
                    <a:pt x="0" y="131953"/>
                    <a:pt x="131953" y="0"/>
                    <a:pt x="294767" y="0"/>
                  </a:cubicBezTo>
                  <a:lnTo>
                    <a:pt x="21444713" y="0"/>
                  </a:lnTo>
                  <a:cubicBezTo>
                    <a:pt x="21607526" y="0"/>
                    <a:pt x="21739479" y="131953"/>
                    <a:pt x="21739479" y="294767"/>
                  </a:cubicBezTo>
                  <a:lnTo>
                    <a:pt x="21739479" y="1473708"/>
                  </a:lnTo>
                  <a:cubicBezTo>
                    <a:pt x="21739479" y="1636522"/>
                    <a:pt x="21607526" y="1768475"/>
                    <a:pt x="21444713" y="1768475"/>
                  </a:cubicBezTo>
                  <a:lnTo>
                    <a:pt x="294767" y="1768475"/>
                  </a:lnTo>
                  <a:cubicBezTo>
                    <a:pt x="131953" y="1768348"/>
                    <a:pt x="0" y="1636395"/>
                    <a:pt x="0" y="1473581"/>
                  </a:cubicBezTo>
                  <a:close/>
                </a:path>
              </a:pathLst>
            </a:custGeom>
            <a:solidFill>
              <a:srgbClr val="EBF9F4"/>
            </a:solidFill>
            <a:ln w="9525" cap="sq">
              <a:solidFill>
                <a:srgbClr val="D6E5E9"/>
              </a:solidFill>
              <a:prstDash val="solid"/>
              <a:miter/>
            </a:ln>
          </p:spPr>
        </p:sp>
      </p:grpSp>
      <p:grpSp>
        <p:nvGrpSpPr>
          <p:cNvPr name="Group 24" id="24"/>
          <p:cNvGrpSpPr/>
          <p:nvPr/>
        </p:nvGrpSpPr>
        <p:grpSpPr>
          <a:xfrm rot="0">
            <a:off x="1339434" y="3026474"/>
            <a:ext cx="722776" cy="722757"/>
            <a:chOff x="0" y="0"/>
            <a:chExt cx="963701" cy="963676"/>
          </a:xfrm>
        </p:grpSpPr>
        <p:sp>
          <p:nvSpPr>
            <p:cNvPr name="Freeform 25" id="25"/>
            <p:cNvSpPr/>
            <p:nvPr/>
          </p:nvSpPr>
          <p:spPr>
            <a:xfrm flipH="false" flipV="false" rot="0">
              <a:off x="0" y="0"/>
              <a:ext cx="963676" cy="963676"/>
            </a:xfrm>
            <a:custGeom>
              <a:avLst/>
              <a:gdLst/>
              <a:ahLst/>
              <a:cxnLst/>
              <a:rect r="r" b="b" t="t" l="l"/>
              <a:pathLst>
                <a:path h="963676" w="963676">
                  <a:moveTo>
                    <a:pt x="0" y="160655"/>
                  </a:moveTo>
                  <a:cubicBezTo>
                    <a:pt x="0" y="71882"/>
                    <a:pt x="71882" y="0"/>
                    <a:pt x="160655" y="0"/>
                  </a:cubicBezTo>
                  <a:lnTo>
                    <a:pt x="803021" y="0"/>
                  </a:lnTo>
                  <a:cubicBezTo>
                    <a:pt x="891667" y="0"/>
                    <a:pt x="963676" y="71882"/>
                    <a:pt x="963676" y="160655"/>
                  </a:cubicBezTo>
                  <a:lnTo>
                    <a:pt x="963676" y="803021"/>
                  </a:lnTo>
                  <a:cubicBezTo>
                    <a:pt x="963676" y="891667"/>
                    <a:pt x="891794" y="963676"/>
                    <a:pt x="803021" y="963676"/>
                  </a:cubicBezTo>
                  <a:lnTo>
                    <a:pt x="160655" y="963676"/>
                  </a:lnTo>
                  <a:cubicBezTo>
                    <a:pt x="71882" y="963676"/>
                    <a:pt x="0" y="891794"/>
                    <a:pt x="0" y="803021"/>
                  </a:cubicBezTo>
                  <a:close/>
                </a:path>
              </a:pathLst>
            </a:custGeom>
            <a:solidFill>
              <a:srgbClr val="008078"/>
            </a:solidFill>
            <a:ln w="9525" cap="sq">
              <a:solidFill>
                <a:srgbClr val="008078"/>
              </a:solidFill>
              <a:prstDash val="solid"/>
              <a:miter/>
            </a:ln>
          </p:spPr>
        </p:sp>
      </p:grpSp>
      <p:grpSp>
        <p:nvGrpSpPr>
          <p:cNvPr name="Group 26" id="26"/>
          <p:cNvGrpSpPr/>
          <p:nvPr/>
        </p:nvGrpSpPr>
        <p:grpSpPr>
          <a:xfrm rot="0">
            <a:off x="1371638" y="3031236"/>
            <a:ext cx="658387" cy="685800"/>
            <a:chOff x="0" y="0"/>
            <a:chExt cx="877849" cy="914400"/>
          </a:xfrm>
        </p:grpSpPr>
        <p:sp>
          <p:nvSpPr>
            <p:cNvPr name="Freeform 27" id="27"/>
            <p:cNvSpPr/>
            <p:nvPr/>
          </p:nvSpPr>
          <p:spPr>
            <a:xfrm flipH="false" flipV="false" rot="0">
              <a:off x="0" y="0"/>
              <a:ext cx="877845" cy="914400"/>
            </a:xfrm>
            <a:custGeom>
              <a:avLst/>
              <a:gdLst/>
              <a:ahLst/>
              <a:cxnLst/>
              <a:rect r="r" b="b" t="t" l="l"/>
              <a:pathLst>
                <a:path h="914400" w="877845">
                  <a:moveTo>
                    <a:pt x="0" y="0"/>
                  </a:moveTo>
                  <a:lnTo>
                    <a:pt x="877845" y="0"/>
                  </a:lnTo>
                  <a:lnTo>
                    <a:pt x="877845" y="914400"/>
                  </a:lnTo>
                  <a:lnTo>
                    <a:pt x="0" y="914400"/>
                  </a:lnTo>
                  <a:close/>
                </a:path>
              </a:pathLst>
            </a:custGeom>
            <a:blipFill>
              <a:blip r:embed="rId2">
                <a:alphaModFix amt="0"/>
              </a:blip>
              <a:stretch>
                <a:fillRect l="-83646" t="0" r="-83646" b="0"/>
              </a:stretch>
            </a:blipFill>
          </p:spPr>
        </p:sp>
        <p:sp>
          <p:nvSpPr>
            <p:cNvPr name="TextBox 28" id="28"/>
            <p:cNvSpPr txBox="true"/>
            <p:nvPr/>
          </p:nvSpPr>
          <p:spPr>
            <a:xfrm>
              <a:off x="0" y="9525"/>
              <a:ext cx="877849" cy="904875"/>
            </a:xfrm>
            <a:prstGeom prst="rect">
              <a:avLst/>
            </a:prstGeom>
          </p:spPr>
          <p:txBody>
            <a:bodyPr anchor="ctr" rtlCol="false" tIns="0" lIns="0" bIns="0" rIns="0"/>
            <a:lstStyle/>
            <a:p>
              <a:pPr algn="ctr">
                <a:lnSpc>
                  <a:spcPts val="3479"/>
                </a:lnSpc>
              </a:pPr>
              <a:r>
                <a:rPr lang="en-US" sz="2899" b="true">
                  <a:solidFill>
                    <a:srgbClr val="FFFFFF"/>
                  </a:solidFill>
                  <a:latin typeface="Aptos Bold"/>
                  <a:ea typeface="Aptos Bold"/>
                  <a:cs typeface="Aptos Bold"/>
                  <a:sym typeface="Aptos Bold"/>
                </a:rPr>
                <a:t>1</a:t>
              </a:r>
            </a:p>
          </p:txBody>
        </p:sp>
      </p:grpSp>
      <p:grpSp>
        <p:nvGrpSpPr>
          <p:cNvPr name="Group 29" id="29"/>
          <p:cNvGrpSpPr/>
          <p:nvPr/>
        </p:nvGrpSpPr>
        <p:grpSpPr>
          <a:xfrm rot="0">
            <a:off x="2359209" y="2852928"/>
            <a:ext cx="3086176" cy="464027"/>
            <a:chOff x="0" y="0"/>
            <a:chExt cx="4114902" cy="618702"/>
          </a:xfrm>
        </p:grpSpPr>
        <p:sp>
          <p:nvSpPr>
            <p:cNvPr name="Freeform 30" id="30"/>
            <p:cNvSpPr/>
            <p:nvPr/>
          </p:nvSpPr>
          <p:spPr>
            <a:xfrm flipH="false" flipV="false" rot="0">
              <a:off x="0" y="0"/>
              <a:ext cx="4114903" cy="618702"/>
            </a:xfrm>
            <a:custGeom>
              <a:avLst/>
              <a:gdLst/>
              <a:ahLst/>
              <a:cxnLst/>
              <a:rect r="r" b="b" t="t" l="l"/>
              <a:pathLst>
                <a:path h="618702" w="4114903">
                  <a:moveTo>
                    <a:pt x="0" y="0"/>
                  </a:moveTo>
                  <a:lnTo>
                    <a:pt x="4114903" y="0"/>
                  </a:lnTo>
                  <a:lnTo>
                    <a:pt x="4114903" y="618702"/>
                  </a:lnTo>
                  <a:lnTo>
                    <a:pt x="0" y="618702"/>
                  </a:lnTo>
                  <a:close/>
                </a:path>
              </a:pathLst>
            </a:custGeom>
            <a:blipFill>
              <a:blip r:embed="rId2">
                <a:alphaModFix amt="0"/>
              </a:blip>
              <a:stretch>
                <a:fillRect l="0" t="-82298" r="0" b="-76886"/>
              </a:stretch>
            </a:blipFill>
          </p:spPr>
        </p:sp>
        <p:sp>
          <p:nvSpPr>
            <p:cNvPr name="TextBox 31" id="31"/>
            <p:cNvSpPr txBox="true"/>
            <p:nvPr/>
          </p:nvSpPr>
          <p:spPr>
            <a:xfrm>
              <a:off x="0" y="9525"/>
              <a:ext cx="4114902" cy="609177"/>
            </a:xfrm>
            <a:prstGeom prst="rect">
              <a:avLst/>
            </a:prstGeom>
          </p:spPr>
          <p:txBody>
            <a:bodyPr anchor="ctr" rtlCol="false" tIns="0" lIns="0" bIns="0" rIns="0"/>
            <a:lstStyle/>
            <a:p>
              <a:pPr algn="l">
                <a:lnSpc>
                  <a:spcPts val="2999"/>
                </a:lnSpc>
              </a:pPr>
              <a:r>
                <a:rPr lang="en-US" sz="2499" b="true">
                  <a:solidFill>
                    <a:srgbClr val="1C2B42"/>
                  </a:solidFill>
                  <a:latin typeface="Aptos Bold"/>
                  <a:ea typeface="Aptos Bold"/>
                  <a:cs typeface="Aptos Bold"/>
                  <a:sym typeface="Aptos Bold"/>
                </a:rPr>
                <a:t>Total modulus</a:t>
              </a:r>
            </a:p>
          </p:txBody>
        </p:sp>
      </p:grpSp>
      <p:grpSp>
        <p:nvGrpSpPr>
          <p:cNvPr name="Group 32" id="32"/>
          <p:cNvGrpSpPr/>
          <p:nvPr/>
        </p:nvGrpSpPr>
        <p:grpSpPr>
          <a:xfrm rot="0">
            <a:off x="5397384" y="2914650"/>
            <a:ext cx="11521726" cy="946404"/>
            <a:chOff x="0" y="0"/>
            <a:chExt cx="15362301" cy="1261872"/>
          </a:xfrm>
        </p:grpSpPr>
        <p:sp>
          <p:nvSpPr>
            <p:cNvPr name="Freeform 33" id="33"/>
            <p:cNvSpPr/>
            <p:nvPr/>
          </p:nvSpPr>
          <p:spPr>
            <a:xfrm flipH="false" flipV="false" rot="0">
              <a:off x="0" y="0"/>
              <a:ext cx="15362304" cy="1261872"/>
            </a:xfrm>
            <a:custGeom>
              <a:avLst/>
              <a:gdLst/>
              <a:ahLst/>
              <a:cxnLst/>
              <a:rect r="r" b="b" t="t" l="l"/>
              <a:pathLst>
                <a:path h="1261872" w="15362304">
                  <a:moveTo>
                    <a:pt x="0" y="0"/>
                  </a:moveTo>
                  <a:lnTo>
                    <a:pt x="15362304" y="0"/>
                  </a:lnTo>
                  <a:lnTo>
                    <a:pt x="15362304" y="1261872"/>
                  </a:lnTo>
                  <a:lnTo>
                    <a:pt x="0" y="1261872"/>
                  </a:lnTo>
                  <a:close/>
                </a:path>
              </a:pathLst>
            </a:custGeom>
            <a:blipFill>
              <a:blip r:embed="rId2">
                <a:alphaModFix amt="0"/>
              </a:blip>
              <a:stretch>
                <a:fillRect l="0" t="-187215" r="0" b="-187215"/>
              </a:stretch>
            </a:blipFill>
          </p:spPr>
        </p:sp>
        <p:sp>
          <p:nvSpPr>
            <p:cNvPr name="TextBox 34" id="34"/>
            <p:cNvSpPr txBox="true"/>
            <p:nvPr/>
          </p:nvSpPr>
          <p:spPr>
            <a:xfrm>
              <a:off x="0" y="0"/>
              <a:ext cx="15362301" cy="1261872"/>
            </a:xfrm>
            <a:prstGeom prst="rect">
              <a:avLst/>
            </a:prstGeom>
          </p:spPr>
          <p:txBody>
            <a:bodyPr anchor="ctr" rtlCol="false" tIns="0" lIns="0" bIns="0" rIns="0"/>
            <a:lstStyle/>
            <a:p>
              <a:pPr algn="l">
                <a:lnSpc>
                  <a:spcPts val="3719"/>
                </a:lnSpc>
              </a:pPr>
              <a:r>
                <a:rPr lang="en-US" sz="3099" b="true">
                  <a:solidFill>
                    <a:srgbClr val="007753"/>
                  </a:solidFill>
                  <a:latin typeface="Aptos Bold"/>
                  <a:ea typeface="Aptos Bold"/>
                  <a:cs typeface="Aptos Bold"/>
                  <a:sym typeface="Aptos Bold"/>
                </a:rPr>
                <a:t>M = 5 × 7 × 3 = 105</a:t>
              </a:r>
            </a:p>
          </p:txBody>
        </p:sp>
      </p:grpSp>
      <p:grpSp>
        <p:nvGrpSpPr>
          <p:cNvPr name="Group 35" id="35"/>
          <p:cNvGrpSpPr/>
          <p:nvPr/>
        </p:nvGrpSpPr>
        <p:grpSpPr>
          <a:xfrm rot="0">
            <a:off x="982818" y="4356926"/>
            <a:ext cx="16304543" cy="1326261"/>
            <a:chOff x="0" y="0"/>
            <a:chExt cx="21739390" cy="1768348"/>
          </a:xfrm>
        </p:grpSpPr>
        <p:sp>
          <p:nvSpPr>
            <p:cNvPr name="Freeform 36" id="36"/>
            <p:cNvSpPr/>
            <p:nvPr/>
          </p:nvSpPr>
          <p:spPr>
            <a:xfrm flipH="false" flipV="false" rot="0">
              <a:off x="0" y="0"/>
              <a:ext cx="21739479" cy="1768475"/>
            </a:xfrm>
            <a:custGeom>
              <a:avLst/>
              <a:gdLst/>
              <a:ahLst/>
              <a:cxnLst/>
              <a:rect r="r" b="b" t="t" l="l"/>
              <a:pathLst>
                <a:path h="1768475" w="21739479">
                  <a:moveTo>
                    <a:pt x="0" y="294767"/>
                  </a:moveTo>
                  <a:cubicBezTo>
                    <a:pt x="0" y="131953"/>
                    <a:pt x="131953" y="0"/>
                    <a:pt x="294767" y="0"/>
                  </a:cubicBezTo>
                  <a:lnTo>
                    <a:pt x="21444713" y="0"/>
                  </a:lnTo>
                  <a:cubicBezTo>
                    <a:pt x="21607526" y="0"/>
                    <a:pt x="21739479" y="131953"/>
                    <a:pt x="21739479" y="294767"/>
                  </a:cubicBezTo>
                  <a:lnTo>
                    <a:pt x="21739479" y="1473708"/>
                  </a:lnTo>
                  <a:cubicBezTo>
                    <a:pt x="21739479" y="1636522"/>
                    <a:pt x="21607526" y="1768475"/>
                    <a:pt x="21444713" y="1768475"/>
                  </a:cubicBezTo>
                  <a:lnTo>
                    <a:pt x="294767" y="1768475"/>
                  </a:lnTo>
                  <a:cubicBezTo>
                    <a:pt x="131953" y="1768348"/>
                    <a:pt x="0" y="1636395"/>
                    <a:pt x="0" y="1473581"/>
                  </a:cubicBezTo>
                  <a:close/>
                </a:path>
              </a:pathLst>
            </a:custGeom>
            <a:solidFill>
              <a:srgbClr val="EFF8FF"/>
            </a:solidFill>
            <a:ln w="9525" cap="sq">
              <a:solidFill>
                <a:srgbClr val="D6E5E9"/>
              </a:solidFill>
              <a:prstDash val="solid"/>
              <a:miter/>
            </a:ln>
          </p:spPr>
        </p:sp>
      </p:grpSp>
      <p:grpSp>
        <p:nvGrpSpPr>
          <p:cNvPr name="Group 37" id="37"/>
          <p:cNvGrpSpPr/>
          <p:nvPr/>
        </p:nvGrpSpPr>
        <p:grpSpPr>
          <a:xfrm rot="0">
            <a:off x="1339434" y="4644962"/>
            <a:ext cx="722776" cy="722757"/>
            <a:chOff x="0" y="0"/>
            <a:chExt cx="963701" cy="963676"/>
          </a:xfrm>
        </p:grpSpPr>
        <p:sp>
          <p:nvSpPr>
            <p:cNvPr name="Freeform 38" id="38"/>
            <p:cNvSpPr/>
            <p:nvPr/>
          </p:nvSpPr>
          <p:spPr>
            <a:xfrm flipH="false" flipV="false" rot="0">
              <a:off x="0" y="0"/>
              <a:ext cx="963676" cy="963676"/>
            </a:xfrm>
            <a:custGeom>
              <a:avLst/>
              <a:gdLst/>
              <a:ahLst/>
              <a:cxnLst/>
              <a:rect r="r" b="b" t="t" l="l"/>
              <a:pathLst>
                <a:path h="963676" w="963676">
                  <a:moveTo>
                    <a:pt x="0" y="160655"/>
                  </a:moveTo>
                  <a:cubicBezTo>
                    <a:pt x="0" y="71882"/>
                    <a:pt x="71882" y="0"/>
                    <a:pt x="160655" y="0"/>
                  </a:cubicBezTo>
                  <a:lnTo>
                    <a:pt x="803021" y="0"/>
                  </a:lnTo>
                  <a:cubicBezTo>
                    <a:pt x="891667" y="0"/>
                    <a:pt x="963676" y="71882"/>
                    <a:pt x="963676" y="160655"/>
                  </a:cubicBezTo>
                  <a:lnTo>
                    <a:pt x="963676" y="803021"/>
                  </a:lnTo>
                  <a:cubicBezTo>
                    <a:pt x="963676" y="891667"/>
                    <a:pt x="891794" y="963676"/>
                    <a:pt x="803021" y="963676"/>
                  </a:cubicBezTo>
                  <a:lnTo>
                    <a:pt x="160655" y="963676"/>
                  </a:lnTo>
                  <a:cubicBezTo>
                    <a:pt x="71882" y="963676"/>
                    <a:pt x="0" y="891794"/>
                    <a:pt x="0" y="803021"/>
                  </a:cubicBezTo>
                  <a:close/>
                </a:path>
              </a:pathLst>
            </a:custGeom>
            <a:solidFill>
              <a:srgbClr val="008078"/>
            </a:solidFill>
            <a:ln w="9525" cap="sq">
              <a:solidFill>
                <a:srgbClr val="008078"/>
              </a:solidFill>
              <a:prstDash val="solid"/>
              <a:miter/>
            </a:ln>
          </p:spPr>
        </p:sp>
      </p:grpSp>
      <p:grpSp>
        <p:nvGrpSpPr>
          <p:cNvPr name="Group 39" id="39"/>
          <p:cNvGrpSpPr/>
          <p:nvPr/>
        </p:nvGrpSpPr>
        <p:grpSpPr>
          <a:xfrm rot="0">
            <a:off x="1371638" y="4649724"/>
            <a:ext cx="658387" cy="685800"/>
            <a:chOff x="0" y="0"/>
            <a:chExt cx="877849" cy="914400"/>
          </a:xfrm>
        </p:grpSpPr>
        <p:sp>
          <p:nvSpPr>
            <p:cNvPr name="Freeform 40" id="40"/>
            <p:cNvSpPr/>
            <p:nvPr/>
          </p:nvSpPr>
          <p:spPr>
            <a:xfrm flipH="false" flipV="false" rot="0">
              <a:off x="0" y="0"/>
              <a:ext cx="877845" cy="914400"/>
            </a:xfrm>
            <a:custGeom>
              <a:avLst/>
              <a:gdLst/>
              <a:ahLst/>
              <a:cxnLst/>
              <a:rect r="r" b="b" t="t" l="l"/>
              <a:pathLst>
                <a:path h="914400" w="877845">
                  <a:moveTo>
                    <a:pt x="0" y="0"/>
                  </a:moveTo>
                  <a:lnTo>
                    <a:pt x="877845" y="0"/>
                  </a:lnTo>
                  <a:lnTo>
                    <a:pt x="877845" y="914400"/>
                  </a:lnTo>
                  <a:lnTo>
                    <a:pt x="0" y="914400"/>
                  </a:lnTo>
                  <a:close/>
                </a:path>
              </a:pathLst>
            </a:custGeom>
            <a:blipFill>
              <a:blip r:embed="rId2">
                <a:alphaModFix amt="0"/>
              </a:blip>
              <a:stretch>
                <a:fillRect l="-83646" t="0" r="-83646" b="0"/>
              </a:stretch>
            </a:blipFill>
          </p:spPr>
        </p:sp>
        <p:sp>
          <p:nvSpPr>
            <p:cNvPr name="TextBox 41" id="41"/>
            <p:cNvSpPr txBox="true"/>
            <p:nvPr/>
          </p:nvSpPr>
          <p:spPr>
            <a:xfrm>
              <a:off x="0" y="9525"/>
              <a:ext cx="877849" cy="904875"/>
            </a:xfrm>
            <a:prstGeom prst="rect">
              <a:avLst/>
            </a:prstGeom>
          </p:spPr>
          <p:txBody>
            <a:bodyPr anchor="ctr" rtlCol="false" tIns="0" lIns="0" bIns="0" rIns="0"/>
            <a:lstStyle/>
            <a:p>
              <a:pPr algn="ctr">
                <a:lnSpc>
                  <a:spcPts val="3479"/>
                </a:lnSpc>
              </a:pPr>
              <a:r>
                <a:rPr lang="en-US" sz="2899" b="true">
                  <a:solidFill>
                    <a:srgbClr val="FFFFFF"/>
                  </a:solidFill>
                  <a:latin typeface="Aptos Bold"/>
                  <a:ea typeface="Aptos Bold"/>
                  <a:cs typeface="Aptos Bold"/>
                  <a:sym typeface="Aptos Bold"/>
                </a:rPr>
                <a:t>2</a:t>
              </a:r>
            </a:p>
          </p:txBody>
        </p:sp>
      </p:grpSp>
      <p:grpSp>
        <p:nvGrpSpPr>
          <p:cNvPr name="Group 42" id="42"/>
          <p:cNvGrpSpPr/>
          <p:nvPr/>
        </p:nvGrpSpPr>
        <p:grpSpPr>
          <a:xfrm rot="0">
            <a:off x="2359209" y="4471416"/>
            <a:ext cx="3086176" cy="464027"/>
            <a:chOff x="0" y="0"/>
            <a:chExt cx="4114902" cy="618703"/>
          </a:xfrm>
        </p:grpSpPr>
        <p:sp>
          <p:nvSpPr>
            <p:cNvPr name="Freeform 43" id="43"/>
            <p:cNvSpPr/>
            <p:nvPr/>
          </p:nvSpPr>
          <p:spPr>
            <a:xfrm flipH="false" flipV="false" rot="0">
              <a:off x="0" y="0"/>
              <a:ext cx="4114903" cy="618703"/>
            </a:xfrm>
            <a:custGeom>
              <a:avLst/>
              <a:gdLst/>
              <a:ahLst/>
              <a:cxnLst/>
              <a:rect r="r" b="b" t="t" l="l"/>
              <a:pathLst>
                <a:path h="618703" w="4114903">
                  <a:moveTo>
                    <a:pt x="0" y="0"/>
                  </a:moveTo>
                  <a:lnTo>
                    <a:pt x="4114903" y="0"/>
                  </a:lnTo>
                  <a:lnTo>
                    <a:pt x="4114903" y="618703"/>
                  </a:lnTo>
                  <a:lnTo>
                    <a:pt x="0" y="618703"/>
                  </a:lnTo>
                  <a:close/>
                </a:path>
              </a:pathLst>
            </a:custGeom>
            <a:blipFill>
              <a:blip r:embed="rId2">
                <a:alphaModFix amt="0"/>
              </a:blip>
              <a:stretch>
                <a:fillRect l="0" t="-82298" r="0" b="-76885"/>
              </a:stretch>
            </a:blipFill>
          </p:spPr>
        </p:sp>
        <p:sp>
          <p:nvSpPr>
            <p:cNvPr name="TextBox 44" id="44"/>
            <p:cNvSpPr txBox="true"/>
            <p:nvPr/>
          </p:nvSpPr>
          <p:spPr>
            <a:xfrm>
              <a:off x="0" y="9525"/>
              <a:ext cx="4114902" cy="609178"/>
            </a:xfrm>
            <a:prstGeom prst="rect">
              <a:avLst/>
            </a:prstGeom>
          </p:spPr>
          <p:txBody>
            <a:bodyPr anchor="ctr" rtlCol="false" tIns="0" lIns="0" bIns="0" rIns="0"/>
            <a:lstStyle/>
            <a:p>
              <a:pPr algn="l">
                <a:lnSpc>
                  <a:spcPts val="2999"/>
                </a:lnSpc>
              </a:pPr>
              <a:r>
                <a:rPr lang="en-US" sz="2499" b="true">
                  <a:solidFill>
                    <a:srgbClr val="1C2B42"/>
                  </a:solidFill>
                  <a:latin typeface="Aptos Bold"/>
                  <a:ea typeface="Aptos Bold"/>
                  <a:cs typeface="Aptos Bold"/>
                  <a:sym typeface="Aptos Bold"/>
                </a:rPr>
                <a:t>Partial moduli</a:t>
              </a:r>
            </a:p>
          </p:txBody>
        </p:sp>
      </p:grpSp>
      <p:grpSp>
        <p:nvGrpSpPr>
          <p:cNvPr name="Group 45" id="45"/>
          <p:cNvGrpSpPr/>
          <p:nvPr/>
        </p:nvGrpSpPr>
        <p:grpSpPr>
          <a:xfrm rot="0">
            <a:off x="5097723" y="4155167"/>
            <a:ext cx="11521726" cy="1825790"/>
            <a:chOff x="0" y="0"/>
            <a:chExt cx="15362301" cy="2434387"/>
          </a:xfrm>
        </p:grpSpPr>
        <p:sp>
          <p:nvSpPr>
            <p:cNvPr name="Freeform 46" id="46"/>
            <p:cNvSpPr/>
            <p:nvPr/>
          </p:nvSpPr>
          <p:spPr>
            <a:xfrm flipH="false" flipV="false" rot="0">
              <a:off x="0" y="0"/>
              <a:ext cx="15362304" cy="2434387"/>
            </a:xfrm>
            <a:custGeom>
              <a:avLst/>
              <a:gdLst/>
              <a:ahLst/>
              <a:cxnLst/>
              <a:rect r="r" b="b" t="t" l="l"/>
              <a:pathLst>
                <a:path h="2434387" w="15362304">
                  <a:moveTo>
                    <a:pt x="0" y="0"/>
                  </a:moveTo>
                  <a:lnTo>
                    <a:pt x="15362304" y="0"/>
                  </a:lnTo>
                  <a:lnTo>
                    <a:pt x="15362304" y="2434387"/>
                  </a:lnTo>
                  <a:lnTo>
                    <a:pt x="0" y="2434387"/>
                  </a:lnTo>
                  <a:close/>
                </a:path>
              </a:pathLst>
            </a:custGeom>
            <a:blipFill>
              <a:blip r:embed="rId2">
                <a:alphaModFix amt="0"/>
              </a:blip>
              <a:stretch>
                <a:fillRect l="0" t="-97043" r="0" b="-48878"/>
              </a:stretch>
            </a:blipFill>
          </p:spPr>
        </p:sp>
        <p:sp>
          <p:nvSpPr>
            <p:cNvPr name="TextBox 47" id="47"/>
            <p:cNvSpPr txBox="true"/>
            <p:nvPr/>
          </p:nvSpPr>
          <p:spPr>
            <a:xfrm>
              <a:off x="0" y="-9525"/>
              <a:ext cx="15362301" cy="2443912"/>
            </a:xfrm>
            <a:prstGeom prst="rect">
              <a:avLst/>
            </a:prstGeom>
          </p:spPr>
          <p:txBody>
            <a:bodyPr anchor="ctr" rtlCol="false" tIns="0" lIns="0" bIns="0" rIns="0"/>
            <a:lstStyle/>
            <a:p>
              <a:pPr algn="l">
                <a:lnSpc>
                  <a:spcPts val="2999"/>
                </a:lnSpc>
              </a:pPr>
              <a:r>
                <a:rPr lang="en-US" sz="2499">
                  <a:solidFill>
                    <a:srgbClr val="536980"/>
                  </a:solidFill>
                  <a:latin typeface="Cambria"/>
                  <a:ea typeface="Cambria"/>
                  <a:cs typeface="Cambria"/>
                  <a:sym typeface="Cambria"/>
                </a:rPr>
                <a:t>M₁ = 105 ÷ 5 = 21     •     M₂ = 105 ÷ 7 = 15     •     M₃ = 105 ÷ 3 = 35</a:t>
              </a:r>
            </a:p>
          </p:txBody>
        </p:sp>
      </p:grpSp>
      <p:grpSp>
        <p:nvGrpSpPr>
          <p:cNvPr name="Group 48" id="48"/>
          <p:cNvGrpSpPr/>
          <p:nvPr/>
        </p:nvGrpSpPr>
        <p:grpSpPr>
          <a:xfrm rot="0">
            <a:off x="982818" y="6071425"/>
            <a:ext cx="16304543" cy="1326261"/>
            <a:chOff x="0" y="0"/>
            <a:chExt cx="21739390" cy="1768348"/>
          </a:xfrm>
        </p:grpSpPr>
        <p:sp>
          <p:nvSpPr>
            <p:cNvPr name="Freeform 49" id="49"/>
            <p:cNvSpPr/>
            <p:nvPr/>
          </p:nvSpPr>
          <p:spPr>
            <a:xfrm flipH="false" flipV="false" rot="0">
              <a:off x="0" y="0"/>
              <a:ext cx="21739479" cy="1768475"/>
            </a:xfrm>
            <a:custGeom>
              <a:avLst/>
              <a:gdLst/>
              <a:ahLst/>
              <a:cxnLst/>
              <a:rect r="r" b="b" t="t" l="l"/>
              <a:pathLst>
                <a:path h="1768475" w="21739479">
                  <a:moveTo>
                    <a:pt x="0" y="294767"/>
                  </a:moveTo>
                  <a:cubicBezTo>
                    <a:pt x="0" y="131953"/>
                    <a:pt x="131953" y="0"/>
                    <a:pt x="294767" y="0"/>
                  </a:cubicBezTo>
                  <a:lnTo>
                    <a:pt x="21444713" y="0"/>
                  </a:lnTo>
                  <a:cubicBezTo>
                    <a:pt x="21607526" y="0"/>
                    <a:pt x="21739479" y="131953"/>
                    <a:pt x="21739479" y="294767"/>
                  </a:cubicBezTo>
                  <a:lnTo>
                    <a:pt x="21739479" y="1473708"/>
                  </a:lnTo>
                  <a:cubicBezTo>
                    <a:pt x="21739479" y="1636522"/>
                    <a:pt x="21607526" y="1768475"/>
                    <a:pt x="21444713" y="1768475"/>
                  </a:cubicBezTo>
                  <a:lnTo>
                    <a:pt x="294767" y="1768475"/>
                  </a:lnTo>
                  <a:cubicBezTo>
                    <a:pt x="131953" y="1768348"/>
                    <a:pt x="0" y="1636395"/>
                    <a:pt x="0" y="1473581"/>
                  </a:cubicBezTo>
                  <a:close/>
                </a:path>
              </a:pathLst>
            </a:custGeom>
            <a:solidFill>
              <a:srgbClr val="EFFBF2"/>
            </a:solidFill>
            <a:ln w="9525" cap="sq">
              <a:solidFill>
                <a:srgbClr val="D6E5E9"/>
              </a:solidFill>
              <a:prstDash val="solid"/>
              <a:miter/>
            </a:ln>
          </p:spPr>
        </p:sp>
      </p:grpSp>
      <p:grpSp>
        <p:nvGrpSpPr>
          <p:cNvPr name="Group 50" id="50"/>
          <p:cNvGrpSpPr/>
          <p:nvPr/>
        </p:nvGrpSpPr>
        <p:grpSpPr>
          <a:xfrm rot="0">
            <a:off x="1339434" y="6359462"/>
            <a:ext cx="722776" cy="722757"/>
            <a:chOff x="0" y="0"/>
            <a:chExt cx="963701" cy="963676"/>
          </a:xfrm>
        </p:grpSpPr>
        <p:sp>
          <p:nvSpPr>
            <p:cNvPr name="Freeform 51" id="51"/>
            <p:cNvSpPr/>
            <p:nvPr/>
          </p:nvSpPr>
          <p:spPr>
            <a:xfrm flipH="false" flipV="false" rot="0">
              <a:off x="0" y="0"/>
              <a:ext cx="963676" cy="963676"/>
            </a:xfrm>
            <a:custGeom>
              <a:avLst/>
              <a:gdLst/>
              <a:ahLst/>
              <a:cxnLst/>
              <a:rect r="r" b="b" t="t" l="l"/>
              <a:pathLst>
                <a:path h="963676" w="963676">
                  <a:moveTo>
                    <a:pt x="0" y="160655"/>
                  </a:moveTo>
                  <a:cubicBezTo>
                    <a:pt x="0" y="71882"/>
                    <a:pt x="71882" y="0"/>
                    <a:pt x="160655" y="0"/>
                  </a:cubicBezTo>
                  <a:lnTo>
                    <a:pt x="803021" y="0"/>
                  </a:lnTo>
                  <a:cubicBezTo>
                    <a:pt x="891667" y="0"/>
                    <a:pt x="963676" y="71882"/>
                    <a:pt x="963676" y="160655"/>
                  </a:cubicBezTo>
                  <a:lnTo>
                    <a:pt x="963676" y="803021"/>
                  </a:lnTo>
                  <a:cubicBezTo>
                    <a:pt x="963676" y="891667"/>
                    <a:pt x="891794" y="963676"/>
                    <a:pt x="803021" y="963676"/>
                  </a:cubicBezTo>
                  <a:lnTo>
                    <a:pt x="160655" y="963676"/>
                  </a:lnTo>
                  <a:cubicBezTo>
                    <a:pt x="71882" y="963676"/>
                    <a:pt x="0" y="891794"/>
                    <a:pt x="0" y="803021"/>
                  </a:cubicBezTo>
                  <a:close/>
                </a:path>
              </a:pathLst>
            </a:custGeom>
            <a:solidFill>
              <a:srgbClr val="008078"/>
            </a:solidFill>
            <a:ln w="9525" cap="sq">
              <a:solidFill>
                <a:srgbClr val="008078"/>
              </a:solidFill>
              <a:prstDash val="solid"/>
              <a:miter/>
            </a:ln>
          </p:spPr>
        </p:sp>
      </p:grpSp>
      <p:grpSp>
        <p:nvGrpSpPr>
          <p:cNvPr name="Group 52" id="52"/>
          <p:cNvGrpSpPr/>
          <p:nvPr/>
        </p:nvGrpSpPr>
        <p:grpSpPr>
          <a:xfrm rot="0">
            <a:off x="1371638" y="6364224"/>
            <a:ext cx="658387" cy="685800"/>
            <a:chOff x="0" y="0"/>
            <a:chExt cx="877849" cy="914400"/>
          </a:xfrm>
        </p:grpSpPr>
        <p:sp>
          <p:nvSpPr>
            <p:cNvPr name="Freeform 53" id="53"/>
            <p:cNvSpPr/>
            <p:nvPr/>
          </p:nvSpPr>
          <p:spPr>
            <a:xfrm flipH="false" flipV="false" rot="0">
              <a:off x="0" y="0"/>
              <a:ext cx="877845" cy="914400"/>
            </a:xfrm>
            <a:custGeom>
              <a:avLst/>
              <a:gdLst/>
              <a:ahLst/>
              <a:cxnLst/>
              <a:rect r="r" b="b" t="t" l="l"/>
              <a:pathLst>
                <a:path h="914400" w="877845">
                  <a:moveTo>
                    <a:pt x="0" y="0"/>
                  </a:moveTo>
                  <a:lnTo>
                    <a:pt x="877845" y="0"/>
                  </a:lnTo>
                  <a:lnTo>
                    <a:pt x="877845" y="914400"/>
                  </a:lnTo>
                  <a:lnTo>
                    <a:pt x="0" y="914400"/>
                  </a:lnTo>
                  <a:close/>
                </a:path>
              </a:pathLst>
            </a:custGeom>
            <a:blipFill>
              <a:blip r:embed="rId2">
                <a:alphaModFix amt="0"/>
              </a:blip>
              <a:stretch>
                <a:fillRect l="-83646" t="0" r="-83646" b="0"/>
              </a:stretch>
            </a:blipFill>
          </p:spPr>
        </p:sp>
        <p:sp>
          <p:nvSpPr>
            <p:cNvPr name="TextBox 54" id="54"/>
            <p:cNvSpPr txBox="true"/>
            <p:nvPr/>
          </p:nvSpPr>
          <p:spPr>
            <a:xfrm>
              <a:off x="0" y="9525"/>
              <a:ext cx="877849" cy="904875"/>
            </a:xfrm>
            <a:prstGeom prst="rect">
              <a:avLst/>
            </a:prstGeom>
          </p:spPr>
          <p:txBody>
            <a:bodyPr anchor="ctr" rtlCol="false" tIns="0" lIns="0" bIns="0" rIns="0"/>
            <a:lstStyle/>
            <a:p>
              <a:pPr algn="ctr">
                <a:lnSpc>
                  <a:spcPts val="3479"/>
                </a:lnSpc>
              </a:pPr>
              <a:r>
                <a:rPr lang="en-US" sz="2899" b="true">
                  <a:solidFill>
                    <a:srgbClr val="FFFFFF"/>
                  </a:solidFill>
                  <a:latin typeface="Aptos Bold"/>
                  <a:ea typeface="Aptos Bold"/>
                  <a:cs typeface="Aptos Bold"/>
                  <a:sym typeface="Aptos Bold"/>
                </a:rPr>
                <a:t>3</a:t>
              </a:r>
            </a:p>
          </p:txBody>
        </p:sp>
      </p:grpSp>
      <p:grpSp>
        <p:nvGrpSpPr>
          <p:cNvPr name="Group 55" id="55"/>
          <p:cNvGrpSpPr/>
          <p:nvPr/>
        </p:nvGrpSpPr>
        <p:grpSpPr>
          <a:xfrm rot="0">
            <a:off x="2359209" y="6185916"/>
            <a:ext cx="3086176" cy="464027"/>
            <a:chOff x="0" y="0"/>
            <a:chExt cx="4114902" cy="618702"/>
          </a:xfrm>
        </p:grpSpPr>
        <p:sp>
          <p:nvSpPr>
            <p:cNvPr name="Freeform 56" id="56"/>
            <p:cNvSpPr/>
            <p:nvPr/>
          </p:nvSpPr>
          <p:spPr>
            <a:xfrm flipH="false" flipV="false" rot="0">
              <a:off x="0" y="0"/>
              <a:ext cx="4114903" cy="618702"/>
            </a:xfrm>
            <a:custGeom>
              <a:avLst/>
              <a:gdLst/>
              <a:ahLst/>
              <a:cxnLst/>
              <a:rect r="r" b="b" t="t" l="l"/>
              <a:pathLst>
                <a:path h="618702" w="4114903">
                  <a:moveTo>
                    <a:pt x="0" y="0"/>
                  </a:moveTo>
                  <a:lnTo>
                    <a:pt x="4114903" y="0"/>
                  </a:lnTo>
                  <a:lnTo>
                    <a:pt x="4114903" y="618702"/>
                  </a:lnTo>
                  <a:lnTo>
                    <a:pt x="0" y="618702"/>
                  </a:lnTo>
                  <a:close/>
                </a:path>
              </a:pathLst>
            </a:custGeom>
            <a:blipFill>
              <a:blip r:embed="rId2">
                <a:alphaModFix amt="0"/>
              </a:blip>
              <a:stretch>
                <a:fillRect l="0" t="-82298" r="0" b="-76886"/>
              </a:stretch>
            </a:blipFill>
          </p:spPr>
        </p:sp>
        <p:sp>
          <p:nvSpPr>
            <p:cNvPr name="TextBox 57" id="57"/>
            <p:cNvSpPr txBox="true"/>
            <p:nvPr/>
          </p:nvSpPr>
          <p:spPr>
            <a:xfrm>
              <a:off x="0" y="9525"/>
              <a:ext cx="4114902" cy="609177"/>
            </a:xfrm>
            <a:prstGeom prst="rect">
              <a:avLst/>
            </a:prstGeom>
          </p:spPr>
          <p:txBody>
            <a:bodyPr anchor="ctr" rtlCol="false" tIns="0" lIns="0" bIns="0" rIns="0"/>
            <a:lstStyle/>
            <a:p>
              <a:pPr algn="l">
                <a:lnSpc>
                  <a:spcPts val="2999"/>
                </a:lnSpc>
              </a:pPr>
              <a:r>
                <a:rPr lang="en-US" sz="2499" b="true">
                  <a:solidFill>
                    <a:srgbClr val="1C2B42"/>
                  </a:solidFill>
                  <a:latin typeface="Aptos Bold"/>
                  <a:ea typeface="Aptos Bold"/>
                  <a:cs typeface="Aptos Bold"/>
                  <a:sym typeface="Aptos Bold"/>
                </a:rPr>
                <a:t>Modular inverses</a:t>
              </a:r>
            </a:p>
          </p:txBody>
        </p:sp>
      </p:grpSp>
      <p:grpSp>
        <p:nvGrpSpPr>
          <p:cNvPr name="Group 58" id="58"/>
          <p:cNvGrpSpPr/>
          <p:nvPr/>
        </p:nvGrpSpPr>
        <p:grpSpPr>
          <a:xfrm rot="0">
            <a:off x="5397384" y="5445252"/>
            <a:ext cx="11521726" cy="2568740"/>
            <a:chOff x="0" y="0"/>
            <a:chExt cx="15362301" cy="3424987"/>
          </a:xfrm>
        </p:grpSpPr>
        <p:sp>
          <p:nvSpPr>
            <p:cNvPr name="Freeform 59" id="59"/>
            <p:cNvSpPr/>
            <p:nvPr/>
          </p:nvSpPr>
          <p:spPr>
            <a:xfrm flipH="false" flipV="false" rot="0">
              <a:off x="0" y="0"/>
              <a:ext cx="15362304" cy="3424987"/>
            </a:xfrm>
            <a:custGeom>
              <a:avLst/>
              <a:gdLst/>
              <a:ahLst/>
              <a:cxnLst/>
              <a:rect r="r" b="b" t="t" l="l"/>
              <a:pathLst>
                <a:path h="3424987" w="15362304">
                  <a:moveTo>
                    <a:pt x="0" y="0"/>
                  </a:moveTo>
                  <a:lnTo>
                    <a:pt x="15362304" y="0"/>
                  </a:lnTo>
                  <a:lnTo>
                    <a:pt x="15362304" y="3424987"/>
                  </a:lnTo>
                  <a:lnTo>
                    <a:pt x="0" y="3424987"/>
                  </a:lnTo>
                  <a:close/>
                </a:path>
              </a:pathLst>
            </a:custGeom>
            <a:blipFill>
              <a:blip r:embed="rId2">
                <a:alphaModFix amt="0"/>
              </a:blip>
              <a:stretch>
                <a:fillRect l="0" t="-68975" r="0" b="-5818"/>
              </a:stretch>
            </a:blipFill>
          </p:spPr>
        </p:sp>
        <p:sp>
          <p:nvSpPr>
            <p:cNvPr name="TextBox 60" id="60"/>
            <p:cNvSpPr txBox="true"/>
            <p:nvPr/>
          </p:nvSpPr>
          <p:spPr>
            <a:xfrm>
              <a:off x="0" y="-9525"/>
              <a:ext cx="15362301" cy="3434512"/>
            </a:xfrm>
            <a:prstGeom prst="rect">
              <a:avLst/>
            </a:prstGeom>
          </p:spPr>
          <p:txBody>
            <a:bodyPr anchor="ctr" rtlCol="false" tIns="0" lIns="0" bIns="0" rIns="0"/>
            <a:lstStyle/>
            <a:p>
              <a:pPr algn="l">
                <a:lnSpc>
                  <a:spcPts val="2999"/>
                </a:lnSpc>
              </a:pPr>
              <a:r>
                <a:rPr lang="en-US" sz="2499">
                  <a:solidFill>
                    <a:srgbClr val="536980"/>
                  </a:solidFill>
                  <a:latin typeface="Cambria"/>
                  <a:ea typeface="Cambria"/>
                  <a:cs typeface="Cambria"/>
                  <a:sym typeface="Cambria"/>
                </a:rPr>
                <a:t>21 ≡ 1 (mod 5), so y₁ = 1</a:t>
              </a:r>
            </a:p>
            <a:p>
              <a:pPr algn="l">
                <a:lnSpc>
                  <a:spcPts val="2999"/>
                </a:lnSpc>
              </a:pPr>
              <a:r>
                <a:rPr lang="en-US" sz="2499">
                  <a:solidFill>
                    <a:srgbClr val="536980"/>
                  </a:solidFill>
                  <a:latin typeface="Cambria"/>
                  <a:ea typeface="Cambria"/>
                  <a:cs typeface="Cambria"/>
                  <a:sym typeface="Cambria"/>
                </a:rPr>
                <a:t>15 ≡ 1 (mod 7), so y₂ = 1</a:t>
              </a:r>
            </a:p>
            <a:p>
              <a:pPr algn="l">
                <a:lnSpc>
                  <a:spcPts val="2999"/>
                </a:lnSpc>
              </a:pPr>
              <a:r>
                <a:rPr lang="en-US" sz="2499">
                  <a:solidFill>
                    <a:srgbClr val="536980"/>
                  </a:solidFill>
                  <a:latin typeface="Cambria"/>
                  <a:ea typeface="Cambria"/>
                  <a:cs typeface="Cambria"/>
                  <a:sym typeface="Cambria"/>
                </a:rPr>
                <a:t>35 ≡ 2 (mod 3), so y₃ = 2</a:t>
              </a:r>
            </a:p>
          </p:txBody>
        </p:sp>
      </p:grpSp>
      <p:grpSp>
        <p:nvGrpSpPr>
          <p:cNvPr name="Group 61" id="61"/>
          <p:cNvGrpSpPr/>
          <p:nvPr/>
        </p:nvGrpSpPr>
        <p:grpSpPr>
          <a:xfrm rot="0">
            <a:off x="982818" y="7840790"/>
            <a:ext cx="16304543" cy="1134237"/>
            <a:chOff x="0" y="0"/>
            <a:chExt cx="21739390" cy="1512316"/>
          </a:xfrm>
        </p:grpSpPr>
        <p:sp>
          <p:nvSpPr>
            <p:cNvPr name="Freeform 62" id="62"/>
            <p:cNvSpPr/>
            <p:nvPr/>
          </p:nvSpPr>
          <p:spPr>
            <a:xfrm flipH="false" flipV="false" rot="0">
              <a:off x="0" y="0"/>
              <a:ext cx="21739479" cy="1512316"/>
            </a:xfrm>
            <a:custGeom>
              <a:avLst/>
              <a:gdLst/>
              <a:ahLst/>
              <a:cxnLst/>
              <a:rect r="r" b="b" t="t" l="l"/>
              <a:pathLst>
                <a:path h="1512316" w="21739479">
                  <a:moveTo>
                    <a:pt x="0" y="252095"/>
                  </a:moveTo>
                  <a:cubicBezTo>
                    <a:pt x="0" y="112903"/>
                    <a:pt x="112903" y="0"/>
                    <a:pt x="252095" y="0"/>
                  </a:cubicBezTo>
                  <a:lnTo>
                    <a:pt x="21487385" y="0"/>
                  </a:lnTo>
                  <a:cubicBezTo>
                    <a:pt x="21626576" y="0"/>
                    <a:pt x="21739479" y="112903"/>
                    <a:pt x="21739479" y="252095"/>
                  </a:cubicBezTo>
                  <a:lnTo>
                    <a:pt x="21739479" y="1260221"/>
                  </a:lnTo>
                  <a:cubicBezTo>
                    <a:pt x="21739479" y="1399413"/>
                    <a:pt x="21626576" y="1512316"/>
                    <a:pt x="21487385" y="1512316"/>
                  </a:cubicBezTo>
                  <a:lnTo>
                    <a:pt x="252095" y="1512316"/>
                  </a:lnTo>
                  <a:cubicBezTo>
                    <a:pt x="112903" y="1512316"/>
                    <a:pt x="0" y="1399413"/>
                    <a:pt x="0" y="1260221"/>
                  </a:cubicBezTo>
                  <a:close/>
                </a:path>
              </a:pathLst>
            </a:custGeom>
            <a:solidFill>
              <a:srgbClr val="EFF8FF"/>
            </a:solidFill>
            <a:ln w="9525" cap="sq">
              <a:solidFill>
                <a:srgbClr val="D6E5E9"/>
              </a:solidFill>
              <a:prstDash val="solid"/>
              <a:miter/>
            </a:ln>
          </p:spPr>
        </p:sp>
      </p:grpSp>
      <p:grpSp>
        <p:nvGrpSpPr>
          <p:cNvPr name="Group 63" id="63"/>
          <p:cNvGrpSpPr/>
          <p:nvPr/>
        </p:nvGrpSpPr>
        <p:grpSpPr>
          <a:xfrm rot="0">
            <a:off x="1344197" y="8150161"/>
            <a:ext cx="1851708" cy="509530"/>
            <a:chOff x="0" y="0"/>
            <a:chExt cx="2468944" cy="679374"/>
          </a:xfrm>
        </p:grpSpPr>
        <p:sp>
          <p:nvSpPr>
            <p:cNvPr name="Freeform 64" id="64"/>
            <p:cNvSpPr/>
            <p:nvPr/>
          </p:nvSpPr>
          <p:spPr>
            <a:xfrm flipH="false" flipV="false" rot="0">
              <a:off x="0" y="0"/>
              <a:ext cx="2468941" cy="679374"/>
            </a:xfrm>
            <a:custGeom>
              <a:avLst/>
              <a:gdLst/>
              <a:ahLst/>
              <a:cxnLst/>
              <a:rect r="r" b="b" t="t" l="l"/>
              <a:pathLst>
                <a:path h="679374" w="2468941">
                  <a:moveTo>
                    <a:pt x="0" y="0"/>
                  </a:moveTo>
                  <a:lnTo>
                    <a:pt x="2468941" y="0"/>
                  </a:lnTo>
                  <a:lnTo>
                    <a:pt x="2468941" y="679374"/>
                  </a:lnTo>
                  <a:lnTo>
                    <a:pt x="0" y="679374"/>
                  </a:lnTo>
                  <a:close/>
                </a:path>
              </a:pathLst>
            </a:custGeom>
            <a:blipFill>
              <a:blip r:embed="rId2">
                <a:alphaModFix amt="0"/>
              </a:blip>
              <a:stretch>
                <a:fillRect l="0" t="-30433" r="0" b="-11189"/>
              </a:stretch>
            </a:blipFill>
          </p:spPr>
        </p:sp>
        <p:sp>
          <p:nvSpPr>
            <p:cNvPr name="TextBox 65" id="65"/>
            <p:cNvSpPr txBox="true"/>
            <p:nvPr/>
          </p:nvSpPr>
          <p:spPr>
            <a:xfrm>
              <a:off x="0" y="0"/>
              <a:ext cx="2468944" cy="679374"/>
            </a:xfrm>
            <a:prstGeom prst="rect">
              <a:avLst/>
            </a:prstGeom>
          </p:spPr>
          <p:txBody>
            <a:bodyPr anchor="ctr" rtlCol="false" tIns="0" lIns="0" bIns="0" rIns="0"/>
            <a:lstStyle/>
            <a:p>
              <a:pPr algn="l">
                <a:lnSpc>
                  <a:spcPts val="3239"/>
                </a:lnSpc>
              </a:pPr>
              <a:r>
                <a:rPr lang="en-US" sz="2699" b="true">
                  <a:solidFill>
                    <a:srgbClr val="008078"/>
                  </a:solidFill>
                  <a:latin typeface="Aptos Bold"/>
                  <a:ea typeface="Aptos Bold"/>
                  <a:cs typeface="Aptos Bold"/>
                  <a:sym typeface="Aptos Bold"/>
                </a:rPr>
                <a:t>Remember:</a:t>
              </a:r>
            </a:p>
          </p:txBody>
        </p:sp>
      </p:grpSp>
      <p:grpSp>
        <p:nvGrpSpPr>
          <p:cNvPr name="Group 66" id="66"/>
          <p:cNvGrpSpPr/>
          <p:nvPr/>
        </p:nvGrpSpPr>
        <p:grpSpPr>
          <a:xfrm rot="0">
            <a:off x="3339927" y="8204492"/>
            <a:ext cx="13579183" cy="521208"/>
            <a:chOff x="0" y="0"/>
            <a:chExt cx="18105577" cy="694944"/>
          </a:xfrm>
        </p:grpSpPr>
        <p:sp>
          <p:nvSpPr>
            <p:cNvPr name="Freeform 67" id="67"/>
            <p:cNvSpPr/>
            <p:nvPr/>
          </p:nvSpPr>
          <p:spPr>
            <a:xfrm flipH="false" flipV="false" rot="0">
              <a:off x="0" y="0"/>
              <a:ext cx="18105572" cy="694944"/>
            </a:xfrm>
            <a:custGeom>
              <a:avLst/>
              <a:gdLst/>
              <a:ahLst/>
              <a:cxnLst/>
              <a:rect r="r" b="b" t="t" l="l"/>
              <a:pathLst>
                <a:path h="694944" w="18105572">
                  <a:moveTo>
                    <a:pt x="0" y="0"/>
                  </a:moveTo>
                  <a:lnTo>
                    <a:pt x="18105572" y="0"/>
                  </a:lnTo>
                  <a:lnTo>
                    <a:pt x="18105572" y="694944"/>
                  </a:lnTo>
                  <a:lnTo>
                    <a:pt x="0" y="694944"/>
                  </a:lnTo>
                  <a:close/>
                </a:path>
              </a:pathLst>
            </a:custGeom>
            <a:blipFill>
              <a:blip r:embed="rId2">
                <a:alphaModFix amt="0"/>
              </a:blip>
              <a:stretch>
                <a:fillRect l="0" t="-457649" r="0" b="-457649"/>
              </a:stretch>
            </a:blipFill>
          </p:spPr>
        </p:sp>
        <p:sp>
          <p:nvSpPr>
            <p:cNvPr name="TextBox 68" id="68"/>
            <p:cNvSpPr txBox="true"/>
            <p:nvPr/>
          </p:nvSpPr>
          <p:spPr>
            <a:xfrm>
              <a:off x="0" y="0"/>
              <a:ext cx="18105577" cy="694944"/>
            </a:xfrm>
            <a:prstGeom prst="rect">
              <a:avLst/>
            </a:prstGeom>
          </p:spPr>
          <p:txBody>
            <a:bodyPr anchor="ctr" rtlCol="false" tIns="0" lIns="0" bIns="0" rIns="0"/>
            <a:lstStyle/>
            <a:p>
              <a:pPr algn="l">
                <a:lnSpc>
                  <a:spcPts val="3119"/>
                </a:lnSpc>
              </a:pPr>
              <a:r>
                <a:rPr lang="en-US" sz="2599">
                  <a:solidFill>
                    <a:srgbClr val="1C2B42"/>
                  </a:solidFill>
                  <a:latin typeface="Aptos"/>
                  <a:ea typeface="Aptos"/>
                  <a:cs typeface="Aptos"/>
                  <a:sym typeface="Aptos"/>
                </a:rPr>
                <a:t>A modular inverse makes the product leave remainder 1 when divided by its modulus.</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62" y="-4762"/>
            <a:ext cx="18297525" cy="1298829"/>
            <a:chOff x="0" y="0"/>
            <a:chExt cx="24396700" cy="1731772"/>
          </a:xfrm>
        </p:grpSpPr>
        <p:sp>
          <p:nvSpPr>
            <p:cNvPr name="Freeform 3" id="3"/>
            <p:cNvSpPr/>
            <p:nvPr/>
          </p:nvSpPr>
          <p:spPr>
            <a:xfrm flipH="false" flipV="false" rot="0">
              <a:off x="0" y="0"/>
              <a:ext cx="24396700" cy="1731772"/>
            </a:xfrm>
            <a:custGeom>
              <a:avLst/>
              <a:gdLst/>
              <a:ahLst/>
              <a:cxnLst/>
              <a:rect r="r" b="b" t="t" l="l"/>
              <a:pathLst>
                <a:path h="1731772" w="24396700">
                  <a:moveTo>
                    <a:pt x="0" y="0"/>
                  </a:moveTo>
                  <a:lnTo>
                    <a:pt x="24396700" y="0"/>
                  </a:lnTo>
                  <a:lnTo>
                    <a:pt x="24396700" y="1731772"/>
                  </a:lnTo>
                  <a:lnTo>
                    <a:pt x="0" y="1731772"/>
                  </a:lnTo>
                  <a:close/>
                </a:path>
              </a:pathLst>
            </a:custGeom>
            <a:solidFill>
              <a:srgbClr val="115B55"/>
            </a:solidFill>
            <a:ln w="9525" cap="sq">
              <a:solidFill>
                <a:srgbClr val="115B55"/>
              </a:solidFill>
              <a:prstDash val="solid"/>
              <a:miter/>
            </a:ln>
          </p:spPr>
        </p:sp>
      </p:grpSp>
      <p:grpSp>
        <p:nvGrpSpPr>
          <p:cNvPr name="Group 4" id="4"/>
          <p:cNvGrpSpPr/>
          <p:nvPr/>
        </p:nvGrpSpPr>
        <p:grpSpPr>
          <a:xfrm rot="0">
            <a:off x="658387" y="178308"/>
            <a:ext cx="16322450" cy="850392"/>
            <a:chOff x="0" y="0"/>
            <a:chExt cx="21763266" cy="1133856"/>
          </a:xfrm>
        </p:grpSpPr>
        <p:sp>
          <p:nvSpPr>
            <p:cNvPr name="Freeform 5" id="5"/>
            <p:cNvSpPr/>
            <p:nvPr/>
          </p:nvSpPr>
          <p:spPr>
            <a:xfrm flipH="false" flipV="false" rot="0">
              <a:off x="0" y="0"/>
              <a:ext cx="21763264" cy="1133856"/>
            </a:xfrm>
            <a:custGeom>
              <a:avLst/>
              <a:gdLst/>
              <a:ahLst/>
              <a:cxnLst/>
              <a:rect r="r" b="b" t="t" l="l"/>
              <a:pathLst>
                <a:path h="1133856" w="21763264">
                  <a:moveTo>
                    <a:pt x="0" y="0"/>
                  </a:moveTo>
                  <a:lnTo>
                    <a:pt x="21763264" y="0"/>
                  </a:lnTo>
                  <a:lnTo>
                    <a:pt x="21763264" y="1133856"/>
                  </a:lnTo>
                  <a:lnTo>
                    <a:pt x="0" y="1133856"/>
                  </a:lnTo>
                  <a:close/>
                </a:path>
              </a:pathLst>
            </a:custGeom>
            <a:blipFill>
              <a:blip r:embed="rId2">
                <a:alphaModFix amt="0"/>
              </a:blip>
              <a:stretch>
                <a:fillRect l="0" t="-323996" r="0" b="-323996"/>
              </a:stretch>
            </a:blipFill>
          </p:spPr>
        </p:sp>
        <p:sp>
          <p:nvSpPr>
            <p:cNvPr name="TextBox 6" id="6"/>
            <p:cNvSpPr txBox="true"/>
            <p:nvPr/>
          </p:nvSpPr>
          <p:spPr>
            <a:xfrm>
              <a:off x="0" y="0"/>
              <a:ext cx="21763266" cy="1133856"/>
            </a:xfrm>
            <a:prstGeom prst="rect">
              <a:avLst/>
            </a:prstGeom>
          </p:spPr>
          <p:txBody>
            <a:bodyPr anchor="ctr" rtlCol="false" tIns="0" lIns="0" bIns="0" rIns="0"/>
            <a:lstStyle/>
            <a:p>
              <a:pPr algn="l">
                <a:lnSpc>
                  <a:spcPts val="4200"/>
                </a:lnSpc>
              </a:pPr>
              <a:r>
                <a:rPr lang="en-US" sz="3500" b="true">
                  <a:solidFill>
                    <a:srgbClr val="FFFFFF"/>
                  </a:solidFill>
                  <a:latin typeface="Lora Bold"/>
                  <a:ea typeface="Lora Bold"/>
                  <a:cs typeface="Lora Bold"/>
                  <a:sym typeface="Lora Bold"/>
                </a:rPr>
                <a:t>CRT </a:t>
              </a:r>
              <a:r>
                <a:rPr lang="en-US" sz="3500" b="true">
                  <a:solidFill>
                    <a:srgbClr val="FFFFFF"/>
                  </a:solidFill>
                  <a:latin typeface="Lora Bold"/>
                  <a:ea typeface="Lora Bold"/>
                  <a:cs typeface="Lora Bold"/>
                  <a:sym typeface="Lora Bold"/>
                </a:rPr>
                <a:t>Worked Example: Set the Signal Conditions</a:t>
              </a:r>
            </a:p>
          </p:txBody>
        </p:sp>
      </p:grpSp>
      <p:grpSp>
        <p:nvGrpSpPr>
          <p:cNvPr name="Group 7" id="7"/>
          <p:cNvGrpSpPr/>
          <p:nvPr/>
        </p:nvGrpSpPr>
        <p:grpSpPr>
          <a:xfrm rot="0">
            <a:off x="16619449" y="-4762"/>
            <a:ext cx="599323" cy="1298829"/>
            <a:chOff x="0" y="0"/>
            <a:chExt cx="799097" cy="1731772"/>
          </a:xfrm>
        </p:grpSpPr>
        <p:sp>
          <p:nvSpPr>
            <p:cNvPr name="Freeform 8" id="8"/>
            <p:cNvSpPr/>
            <p:nvPr/>
          </p:nvSpPr>
          <p:spPr>
            <a:xfrm flipH="false" flipV="false" rot="0">
              <a:off x="0" y="0"/>
              <a:ext cx="799084" cy="1731772"/>
            </a:xfrm>
            <a:custGeom>
              <a:avLst/>
              <a:gdLst/>
              <a:ahLst/>
              <a:cxnLst/>
              <a:rect r="r" b="b" t="t" l="l"/>
              <a:pathLst>
                <a:path h="1731772" w="799084">
                  <a:moveTo>
                    <a:pt x="0" y="1731772"/>
                  </a:moveTo>
                  <a:lnTo>
                    <a:pt x="199771" y="0"/>
                  </a:lnTo>
                  <a:lnTo>
                    <a:pt x="799084" y="0"/>
                  </a:lnTo>
                  <a:lnTo>
                    <a:pt x="599313" y="1731772"/>
                  </a:lnTo>
                  <a:close/>
                </a:path>
              </a:pathLst>
            </a:custGeom>
            <a:solidFill>
              <a:srgbClr val="EFFBF2"/>
            </a:solidFill>
            <a:ln w="9525" cap="sq">
              <a:solidFill>
                <a:srgbClr val="EFFBF2"/>
              </a:solidFill>
              <a:prstDash val="solid"/>
              <a:miter/>
            </a:ln>
          </p:spPr>
        </p:sp>
      </p:grpSp>
      <p:grpSp>
        <p:nvGrpSpPr>
          <p:cNvPr name="Group 9" id="9"/>
          <p:cNvGrpSpPr/>
          <p:nvPr/>
        </p:nvGrpSpPr>
        <p:grpSpPr>
          <a:xfrm rot="0">
            <a:off x="17209246" y="-4762"/>
            <a:ext cx="599323" cy="1298829"/>
            <a:chOff x="0" y="0"/>
            <a:chExt cx="799097" cy="1731772"/>
          </a:xfrm>
        </p:grpSpPr>
        <p:sp>
          <p:nvSpPr>
            <p:cNvPr name="Freeform 10" id="10"/>
            <p:cNvSpPr/>
            <p:nvPr/>
          </p:nvSpPr>
          <p:spPr>
            <a:xfrm flipH="false" flipV="false" rot="0">
              <a:off x="0" y="0"/>
              <a:ext cx="799084" cy="1731772"/>
            </a:xfrm>
            <a:custGeom>
              <a:avLst/>
              <a:gdLst/>
              <a:ahLst/>
              <a:cxnLst/>
              <a:rect r="r" b="b" t="t" l="l"/>
              <a:pathLst>
                <a:path h="1731772" w="799084">
                  <a:moveTo>
                    <a:pt x="0" y="1731772"/>
                  </a:moveTo>
                  <a:lnTo>
                    <a:pt x="199771" y="0"/>
                  </a:lnTo>
                  <a:lnTo>
                    <a:pt x="799084" y="0"/>
                  </a:lnTo>
                  <a:lnTo>
                    <a:pt x="599313" y="1731772"/>
                  </a:lnTo>
                  <a:close/>
                </a:path>
              </a:pathLst>
            </a:custGeom>
            <a:solidFill>
              <a:srgbClr val="9EC7AC"/>
            </a:solidFill>
            <a:ln w="9525" cap="sq">
              <a:solidFill>
                <a:srgbClr val="9EC7AC"/>
              </a:solidFill>
              <a:prstDash val="solid"/>
              <a:miter/>
            </a:ln>
          </p:spPr>
        </p:sp>
      </p:grpSp>
      <p:grpSp>
        <p:nvGrpSpPr>
          <p:cNvPr name="Group 11" id="11"/>
          <p:cNvGrpSpPr/>
          <p:nvPr/>
        </p:nvGrpSpPr>
        <p:grpSpPr>
          <a:xfrm rot="0">
            <a:off x="754399" y="1481328"/>
            <a:ext cx="16733939" cy="414820"/>
            <a:chOff x="0" y="0"/>
            <a:chExt cx="22311919" cy="553093"/>
          </a:xfrm>
        </p:grpSpPr>
        <p:sp>
          <p:nvSpPr>
            <p:cNvPr name="Freeform 12" id="12"/>
            <p:cNvSpPr/>
            <p:nvPr/>
          </p:nvSpPr>
          <p:spPr>
            <a:xfrm flipH="false" flipV="false" rot="0">
              <a:off x="0" y="0"/>
              <a:ext cx="22311917" cy="553093"/>
            </a:xfrm>
            <a:custGeom>
              <a:avLst/>
              <a:gdLst/>
              <a:ahLst/>
              <a:cxnLst/>
              <a:rect r="r" b="b" t="t" l="l"/>
              <a:pathLst>
                <a:path h="553093" w="22311917">
                  <a:moveTo>
                    <a:pt x="0" y="0"/>
                  </a:moveTo>
                  <a:lnTo>
                    <a:pt x="22311917" y="0"/>
                  </a:lnTo>
                  <a:lnTo>
                    <a:pt x="22311917" y="553093"/>
                  </a:lnTo>
                  <a:lnTo>
                    <a:pt x="0" y="553093"/>
                  </a:lnTo>
                  <a:close/>
                </a:path>
              </a:pathLst>
            </a:custGeom>
            <a:blipFill>
              <a:blip r:embed="rId2">
                <a:alphaModFix amt="0"/>
              </a:blip>
              <a:stretch>
                <a:fillRect l="0" t="-736433" r="0" b="-735628"/>
              </a:stretch>
            </a:blipFill>
          </p:spPr>
        </p:sp>
        <p:sp>
          <p:nvSpPr>
            <p:cNvPr name="TextBox 13" id="13"/>
            <p:cNvSpPr txBox="true"/>
            <p:nvPr/>
          </p:nvSpPr>
          <p:spPr>
            <a:xfrm>
              <a:off x="0" y="0"/>
              <a:ext cx="22311919" cy="553093"/>
            </a:xfrm>
            <a:prstGeom prst="rect">
              <a:avLst/>
            </a:prstGeom>
          </p:spPr>
          <p:txBody>
            <a:bodyPr anchor="ctr" rtlCol="false" tIns="0" lIns="0" bIns="0" rIns="0"/>
            <a:lstStyle/>
            <a:p>
              <a:pPr algn="l">
                <a:lnSpc>
                  <a:spcPts val="2639"/>
                </a:lnSpc>
              </a:pPr>
              <a:r>
                <a:rPr lang="en-US" sz="2199" b="true">
                  <a:solidFill>
                    <a:srgbClr val="008078"/>
                  </a:solidFill>
                  <a:latin typeface="Aptos Bold"/>
                  <a:ea typeface="Aptos Bold"/>
                  <a:cs typeface="Aptos Bold"/>
                  <a:sym typeface="Aptos Bold"/>
                </a:rPr>
                <a:t>STEP 3  •  SOLVE AND VERIFY</a:t>
              </a:r>
            </a:p>
          </p:txBody>
        </p:sp>
      </p:grpSp>
      <p:grpSp>
        <p:nvGrpSpPr>
          <p:cNvPr name="Group 14" id="14"/>
          <p:cNvGrpSpPr/>
          <p:nvPr/>
        </p:nvGrpSpPr>
        <p:grpSpPr>
          <a:xfrm rot="0">
            <a:off x="754399" y="1865376"/>
            <a:ext cx="16733939" cy="658368"/>
            <a:chOff x="0" y="0"/>
            <a:chExt cx="22311919" cy="877824"/>
          </a:xfrm>
        </p:grpSpPr>
        <p:sp>
          <p:nvSpPr>
            <p:cNvPr name="Freeform 15" id="15"/>
            <p:cNvSpPr/>
            <p:nvPr/>
          </p:nvSpPr>
          <p:spPr>
            <a:xfrm flipH="false" flipV="false" rot="0">
              <a:off x="0" y="0"/>
              <a:ext cx="22311917" cy="877824"/>
            </a:xfrm>
            <a:custGeom>
              <a:avLst/>
              <a:gdLst/>
              <a:ahLst/>
              <a:cxnLst/>
              <a:rect r="r" b="b" t="t" l="l"/>
              <a:pathLst>
                <a:path h="877824" w="22311917">
                  <a:moveTo>
                    <a:pt x="0" y="0"/>
                  </a:moveTo>
                  <a:lnTo>
                    <a:pt x="22311917" y="0"/>
                  </a:lnTo>
                  <a:lnTo>
                    <a:pt x="22311917" y="877824"/>
                  </a:lnTo>
                  <a:lnTo>
                    <a:pt x="0" y="877824"/>
                  </a:lnTo>
                  <a:close/>
                </a:path>
              </a:pathLst>
            </a:custGeom>
            <a:blipFill>
              <a:blip r:embed="rId2">
                <a:alphaModFix amt="0"/>
              </a:blip>
              <a:stretch>
                <a:fillRect l="0" t="-445257" r="0" b="-445257"/>
              </a:stretch>
            </a:blipFill>
          </p:spPr>
        </p:sp>
        <p:sp>
          <p:nvSpPr>
            <p:cNvPr name="TextBox 16" id="16"/>
            <p:cNvSpPr txBox="true"/>
            <p:nvPr/>
          </p:nvSpPr>
          <p:spPr>
            <a:xfrm>
              <a:off x="0" y="9525"/>
              <a:ext cx="22311919" cy="868299"/>
            </a:xfrm>
            <a:prstGeom prst="rect">
              <a:avLst/>
            </a:prstGeom>
          </p:spPr>
          <p:txBody>
            <a:bodyPr anchor="ctr" rtlCol="false" tIns="0" lIns="0" bIns="0" rIns="0"/>
            <a:lstStyle/>
            <a:p>
              <a:pPr algn="l">
                <a:lnSpc>
                  <a:spcPts val="2999"/>
                </a:lnSpc>
              </a:pPr>
              <a:r>
                <a:rPr lang="en-US" sz="2499">
                  <a:solidFill>
                    <a:srgbClr val="536980"/>
                  </a:solidFill>
                  <a:latin typeface="Aptos"/>
                  <a:ea typeface="Aptos"/>
                  <a:cs typeface="Aptos"/>
                  <a:sym typeface="Aptos"/>
                </a:rPr>
                <a:t>Combine the three terms, reduce modulo 105, and verify that the result satisfies every condition.</a:t>
              </a:r>
            </a:p>
          </p:txBody>
        </p:sp>
      </p:grpSp>
      <p:grpSp>
        <p:nvGrpSpPr>
          <p:cNvPr name="Group 17" id="17"/>
          <p:cNvGrpSpPr/>
          <p:nvPr/>
        </p:nvGrpSpPr>
        <p:grpSpPr>
          <a:xfrm rot="0">
            <a:off x="-4762" y="10117646"/>
            <a:ext cx="18297525" cy="174117"/>
            <a:chOff x="0" y="0"/>
            <a:chExt cx="24396700" cy="232156"/>
          </a:xfrm>
        </p:grpSpPr>
        <p:sp>
          <p:nvSpPr>
            <p:cNvPr name="Freeform 18" id="18"/>
            <p:cNvSpPr/>
            <p:nvPr/>
          </p:nvSpPr>
          <p:spPr>
            <a:xfrm flipH="false" flipV="false" rot="0">
              <a:off x="0" y="0"/>
              <a:ext cx="24396700" cy="232156"/>
            </a:xfrm>
            <a:custGeom>
              <a:avLst/>
              <a:gdLst/>
              <a:ahLst/>
              <a:cxnLst/>
              <a:rect r="r" b="b" t="t" l="l"/>
              <a:pathLst>
                <a:path h="232156" w="24396700">
                  <a:moveTo>
                    <a:pt x="0" y="0"/>
                  </a:moveTo>
                  <a:lnTo>
                    <a:pt x="24396700" y="0"/>
                  </a:lnTo>
                  <a:lnTo>
                    <a:pt x="24396700" y="232156"/>
                  </a:lnTo>
                  <a:lnTo>
                    <a:pt x="0" y="232156"/>
                  </a:lnTo>
                  <a:close/>
                </a:path>
              </a:pathLst>
            </a:custGeom>
            <a:solidFill>
              <a:srgbClr val="9EC7AC"/>
            </a:solidFill>
            <a:ln w="9525" cap="sq">
              <a:solidFill>
                <a:srgbClr val="9EC7AC"/>
              </a:solidFill>
              <a:prstDash val="solid"/>
              <a:miter/>
            </a:ln>
          </p:spPr>
        </p:sp>
      </p:grpSp>
      <p:grpSp>
        <p:nvGrpSpPr>
          <p:cNvPr name="Group 19" id="19"/>
          <p:cNvGrpSpPr/>
          <p:nvPr/>
        </p:nvGrpSpPr>
        <p:grpSpPr>
          <a:xfrm rot="0">
            <a:off x="754399" y="9669780"/>
            <a:ext cx="16733939" cy="301752"/>
            <a:chOff x="0" y="0"/>
            <a:chExt cx="22311919" cy="402336"/>
          </a:xfrm>
        </p:grpSpPr>
        <p:sp>
          <p:nvSpPr>
            <p:cNvPr name="Freeform 20" id="20"/>
            <p:cNvSpPr/>
            <p:nvPr/>
          </p:nvSpPr>
          <p:spPr>
            <a:xfrm flipH="false" flipV="false" rot="0">
              <a:off x="0" y="0"/>
              <a:ext cx="22311917" cy="402336"/>
            </a:xfrm>
            <a:custGeom>
              <a:avLst/>
              <a:gdLst/>
              <a:ahLst/>
              <a:cxnLst/>
              <a:rect r="r" b="b" t="t" l="l"/>
              <a:pathLst>
                <a:path h="402336" w="22311917">
                  <a:moveTo>
                    <a:pt x="0" y="0"/>
                  </a:moveTo>
                  <a:lnTo>
                    <a:pt x="22311917" y="0"/>
                  </a:lnTo>
                  <a:lnTo>
                    <a:pt x="22311917" y="402336"/>
                  </a:lnTo>
                  <a:lnTo>
                    <a:pt x="0" y="402336"/>
                  </a:lnTo>
                  <a:close/>
                </a:path>
              </a:pathLst>
            </a:custGeom>
            <a:blipFill>
              <a:blip r:embed="rId2">
                <a:alphaModFix amt="0"/>
              </a:blip>
              <a:stretch>
                <a:fillRect l="0" t="-1030560" r="0" b="-1030560"/>
              </a:stretch>
            </a:blipFill>
          </p:spPr>
        </p:sp>
        <p:sp>
          <p:nvSpPr>
            <p:cNvPr name="TextBox 21" id="21"/>
            <p:cNvSpPr txBox="true"/>
            <p:nvPr/>
          </p:nvSpPr>
          <p:spPr>
            <a:xfrm>
              <a:off x="0" y="9525"/>
              <a:ext cx="22311919" cy="392811"/>
            </a:xfrm>
            <a:prstGeom prst="rect">
              <a:avLst/>
            </a:prstGeom>
          </p:spPr>
          <p:txBody>
            <a:bodyPr anchor="ctr" rtlCol="false" tIns="0" lIns="0" bIns="0" rIns="0"/>
            <a:lstStyle/>
            <a:p>
              <a:pPr algn="l">
                <a:lnSpc>
                  <a:spcPts val="1799"/>
                </a:lnSpc>
              </a:pPr>
              <a:r>
                <a:rPr lang="en-US" sz="1499" b="true">
                  <a:solidFill>
                    <a:srgbClr val="008078"/>
                  </a:solidFill>
                  <a:latin typeface="Aptos Bold"/>
                  <a:ea typeface="Aptos Bold"/>
                  <a:cs typeface="Aptos Bold"/>
                  <a:sym typeface="Aptos Bold"/>
                </a:rPr>
                <a:t>EMERGENCY VEHICLE PRIORITY  •  CRT-BASED SYNCHRONIZATION</a:t>
              </a:r>
            </a:p>
          </p:txBody>
        </p:sp>
      </p:grpSp>
      <p:grpSp>
        <p:nvGrpSpPr>
          <p:cNvPr name="Group 22" id="22"/>
          <p:cNvGrpSpPr/>
          <p:nvPr/>
        </p:nvGrpSpPr>
        <p:grpSpPr>
          <a:xfrm rot="0">
            <a:off x="927945" y="2738438"/>
            <a:ext cx="9816713" cy="2231517"/>
            <a:chOff x="0" y="0"/>
            <a:chExt cx="13088950" cy="2975356"/>
          </a:xfrm>
        </p:grpSpPr>
        <p:sp>
          <p:nvSpPr>
            <p:cNvPr name="Freeform 23" id="23"/>
            <p:cNvSpPr/>
            <p:nvPr/>
          </p:nvSpPr>
          <p:spPr>
            <a:xfrm flipH="false" flipV="false" rot="0">
              <a:off x="0" y="0"/>
              <a:ext cx="13089001" cy="2975356"/>
            </a:xfrm>
            <a:custGeom>
              <a:avLst/>
              <a:gdLst/>
              <a:ahLst/>
              <a:cxnLst/>
              <a:rect r="r" b="b" t="t" l="l"/>
              <a:pathLst>
                <a:path h="2975356" w="13089001">
                  <a:moveTo>
                    <a:pt x="0" y="495935"/>
                  </a:moveTo>
                  <a:cubicBezTo>
                    <a:pt x="0" y="221996"/>
                    <a:pt x="221996" y="0"/>
                    <a:pt x="495935" y="0"/>
                  </a:cubicBezTo>
                  <a:lnTo>
                    <a:pt x="12593066" y="0"/>
                  </a:lnTo>
                  <a:cubicBezTo>
                    <a:pt x="12867005" y="0"/>
                    <a:pt x="13089001" y="221996"/>
                    <a:pt x="13089001" y="495935"/>
                  </a:cubicBezTo>
                  <a:lnTo>
                    <a:pt x="13089001" y="2479421"/>
                  </a:lnTo>
                  <a:cubicBezTo>
                    <a:pt x="13089001" y="2753360"/>
                    <a:pt x="12867005" y="2975356"/>
                    <a:pt x="12593066" y="2975356"/>
                  </a:cubicBezTo>
                  <a:lnTo>
                    <a:pt x="495935" y="2975356"/>
                  </a:lnTo>
                  <a:cubicBezTo>
                    <a:pt x="221996" y="2975356"/>
                    <a:pt x="0" y="2753360"/>
                    <a:pt x="0" y="2479421"/>
                  </a:cubicBezTo>
                  <a:close/>
                </a:path>
              </a:pathLst>
            </a:custGeom>
            <a:solidFill>
              <a:srgbClr val="EFF8FF"/>
            </a:solidFill>
            <a:ln w="9525" cap="sq">
              <a:solidFill>
                <a:srgbClr val="D6E5E9"/>
              </a:solidFill>
              <a:prstDash val="solid"/>
              <a:miter/>
            </a:ln>
          </p:spPr>
        </p:sp>
      </p:grpSp>
      <p:grpSp>
        <p:nvGrpSpPr>
          <p:cNvPr name="Group 24" id="24"/>
          <p:cNvGrpSpPr/>
          <p:nvPr/>
        </p:nvGrpSpPr>
        <p:grpSpPr>
          <a:xfrm rot="0">
            <a:off x="1344197" y="2962656"/>
            <a:ext cx="8847039" cy="411480"/>
            <a:chOff x="0" y="0"/>
            <a:chExt cx="11796052" cy="548640"/>
          </a:xfrm>
        </p:grpSpPr>
        <p:sp>
          <p:nvSpPr>
            <p:cNvPr name="Freeform 25" id="25"/>
            <p:cNvSpPr/>
            <p:nvPr/>
          </p:nvSpPr>
          <p:spPr>
            <a:xfrm flipH="false" flipV="false" rot="0">
              <a:off x="0" y="0"/>
              <a:ext cx="11796054" cy="548640"/>
            </a:xfrm>
            <a:custGeom>
              <a:avLst/>
              <a:gdLst/>
              <a:ahLst/>
              <a:cxnLst/>
              <a:rect r="r" b="b" t="t" l="l"/>
              <a:pathLst>
                <a:path h="548640" w="11796054">
                  <a:moveTo>
                    <a:pt x="0" y="0"/>
                  </a:moveTo>
                  <a:lnTo>
                    <a:pt x="11796054" y="0"/>
                  </a:lnTo>
                  <a:lnTo>
                    <a:pt x="11796054" y="548640"/>
                  </a:lnTo>
                  <a:lnTo>
                    <a:pt x="0" y="548640"/>
                  </a:lnTo>
                  <a:close/>
                </a:path>
              </a:pathLst>
            </a:custGeom>
            <a:blipFill>
              <a:blip r:embed="rId2">
                <a:alphaModFix amt="0"/>
              </a:blip>
              <a:stretch>
                <a:fillRect l="0" t="-368938" r="0" b="-368938"/>
              </a:stretch>
            </a:blipFill>
          </p:spPr>
        </p:sp>
        <p:sp>
          <p:nvSpPr>
            <p:cNvPr name="TextBox 26" id="26"/>
            <p:cNvSpPr txBox="true"/>
            <p:nvPr/>
          </p:nvSpPr>
          <p:spPr>
            <a:xfrm>
              <a:off x="0" y="0"/>
              <a:ext cx="11796052" cy="548640"/>
            </a:xfrm>
            <a:prstGeom prst="rect">
              <a:avLst/>
            </a:prstGeom>
          </p:spPr>
          <p:txBody>
            <a:bodyPr anchor="ctr" rtlCol="false" tIns="0" lIns="0" bIns="0" rIns="0"/>
            <a:lstStyle/>
            <a:p>
              <a:pPr algn="l">
                <a:lnSpc>
                  <a:spcPts val="2399"/>
                </a:lnSpc>
              </a:pPr>
              <a:r>
                <a:rPr lang="en-US" sz="1999" b="true">
                  <a:solidFill>
                    <a:srgbClr val="008078"/>
                  </a:solidFill>
                  <a:latin typeface="Aptos Bold"/>
                  <a:ea typeface="Aptos Bold"/>
                  <a:cs typeface="Aptos Bold"/>
                  <a:sym typeface="Aptos Bold"/>
                </a:rPr>
                <a:t>COMBINE THE TERMS</a:t>
              </a:r>
            </a:p>
          </p:txBody>
        </p:sp>
      </p:grpSp>
      <p:grpSp>
        <p:nvGrpSpPr>
          <p:cNvPr name="Group 27" id="27"/>
          <p:cNvGrpSpPr/>
          <p:nvPr/>
        </p:nvGrpSpPr>
        <p:grpSpPr>
          <a:xfrm rot="0">
            <a:off x="1303049" y="3168396"/>
            <a:ext cx="8984209" cy="2051685"/>
            <a:chOff x="0" y="0"/>
            <a:chExt cx="11978945" cy="2735580"/>
          </a:xfrm>
        </p:grpSpPr>
        <p:sp>
          <p:nvSpPr>
            <p:cNvPr name="Freeform 28" id="28"/>
            <p:cNvSpPr/>
            <p:nvPr/>
          </p:nvSpPr>
          <p:spPr>
            <a:xfrm flipH="false" flipV="false" rot="0">
              <a:off x="0" y="0"/>
              <a:ext cx="11978939" cy="2735580"/>
            </a:xfrm>
            <a:custGeom>
              <a:avLst/>
              <a:gdLst/>
              <a:ahLst/>
              <a:cxnLst/>
              <a:rect r="r" b="b" t="t" l="l"/>
              <a:pathLst>
                <a:path h="2735580" w="11978939">
                  <a:moveTo>
                    <a:pt x="0" y="0"/>
                  </a:moveTo>
                  <a:lnTo>
                    <a:pt x="11978939" y="0"/>
                  </a:lnTo>
                  <a:lnTo>
                    <a:pt x="11978939" y="2735580"/>
                  </a:lnTo>
                  <a:lnTo>
                    <a:pt x="0" y="2735580"/>
                  </a:lnTo>
                  <a:close/>
                </a:path>
              </a:pathLst>
            </a:custGeom>
            <a:blipFill>
              <a:blip r:embed="rId2">
                <a:alphaModFix amt="0"/>
              </a:blip>
              <a:stretch>
                <a:fillRect l="0" t="-72621" r="0" b="1974"/>
              </a:stretch>
            </a:blipFill>
          </p:spPr>
        </p:sp>
        <p:sp>
          <p:nvSpPr>
            <p:cNvPr name="TextBox 29" id="29"/>
            <p:cNvSpPr txBox="true"/>
            <p:nvPr/>
          </p:nvSpPr>
          <p:spPr>
            <a:xfrm>
              <a:off x="0" y="-9525"/>
              <a:ext cx="11978945" cy="2745105"/>
            </a:xfrm>
            <a:prstGeom prst="rect">
              <a:avLst/>
            </a:prstGeom>
          </p:spPr>
          <p:txBody>
            <a:bodyPr anchor="ctr" rtlCol="false" tIns="0" lIns="0" bIns="0" rIns="0"/>
            <a:lstStyle/>
            <a:p>
              <a:pPr algn="l">
                <a:lnSpc>
                  <a:spcPts val="2879"/>
                </a:lnSpc>
              </a:pPr>
              <a:r>
                <a:rPr lang="en-US" sz="2399" b="true">
                  <a:solidFill>
                    <a:srgbClr val="1C2B42"/>
                  </a:solidFill>
                  <a:latin typeface="Cambria Bold"/>
                  <a:ea typeface="Cambria Bold"/>
                  <a:cs typeface="Cambria Bold"/>
                  <a:sym typeface="Cambria Bold"/>
                </a:rPr>
                <a:t>t = (2 × 21 × 1) + (3 × 15 × 1) + (2 × 35 × 2)</a:t>
              </a:r>
            </a:p>
          </p:txBody>
        </p:sp>
      </p:grpSp>
      <p:grpSp>
        <p:nvGrpSpPr>
          <p:cNvPr name="Group 30" id="30"/>
          <p:cNvGrpSpPr/>
          <p:nvPr/>
        </p:nvGrpSpPr>
        <p:grpSpPr>
          <a:xfrm rot="0">
            <a:off x="1344197" y="2641223"/>
            <a:ext cx="8984209" cy="2047935"/>
            <a:chOff x="0" y="0"/>
            <a:chExt cx="11978945" cy="2730580"/>
          </a:xfrm>
        </p:grpSpPr>
        <p:sp>
          <p:nvSpPr>
            <p:cNvPr name="Freeform 31" id="31"/>
            <p:cNvSpPr/>
            <p:nvPr/>
          </p:nvSpPr>
          <p:spPr>
            <a:xfrm flipH="false" flipV="false" rot="0">
              <a:off x="0" y="0"/>
              <a:ext cx="11978939" cy="2730580"/>
            </a:xfrm>
            <a:custGeom>
              <a:avLst/>
              <a:gdLst/>
              <a:ahLst/>
              <a:cxnLst/>
              <a:rect r="r" b="b" t="t" l="l"/>
              <a:pathLst>
                <a:path h="2730580" w="11978939">
                  <a:moveTo>
                    <a:pt x="0" y="0"/>
                  </a:moveTo>
                  <a:lnTo>
                    <a:pt x="11978939" y="0"/>
                  </a:lnTo>
                  <a:lnTo>
                    <a:pt x="11978939" y="2730580"/>
                  </a:lnTo>
                  <a:lnTo>
                    <a:pt x="0" y="2730580"/>
                  </a:lnTo>
                  <a:close/>
                </a:path>
              </a:pathLst>
            </a:custGeom>
            <a:blipFill>
              <a:blip r:embed="rId2">
                <a:alphaModFix amt="0"/>
              </a:blip>
              <a:stretch>
                <a:fillRect l="0" t="-73759" r="0" b="2799"/>
              </a:stretch>
            </a:blipFill>
          </p:spPr>
        </p:sp>
        <p:sp>
          <p:nvSpPr>
            <p:cNvPr name="TextBox 32" id="32"/>
            <p:cNvSpPr txBox="true"/>
            <p:nvPr/>
          </p:nvSpPr>
          <p:spPr>
            <a:xfrm>
              <a:off x="0" y="-9525"/>
              <a:ext cx="11978945" cy="2740105"/>
            </a:xfrm>
            <a:prstGeom prst="rect">
              <a:avLst/>
            </a:prstGeom>
          </p:spPr>
          <p:txBody>
            <a:bodyPr anchor="ctr" rtlCol="false" tIns="0" lIns="0" bIns="0" rIns="0"/>
            <a:lstStyle/>
            <a:p>
              <a:pPr algn="l">
                <a:lnSpc>
                  <a:spcPts val="3359"/>
                </a:lnSpc>
              </a:pPr>
              <a:r>
                <a:rPr lang="en-US" sz="2799" b="true">
                  <a:solidFill>
                    <a:srgbClr val="007753"/>
                  </a:solidFill>
                  <a:latin typeface="Cambria Bold"/>
                  <a:ea typeface="Cambria Bold"/>
                  <a:cs typeface="Cambria Bold"/>
                  <a:sym typeface="Cambria Bold"/>
                </a:rPr>
                <a:t>t = 42 + 45 + 140 = 227</a:t>
              </a:r>
            </a:p>
          </p:txBody>
        </p:sp>
      </p:grpSp>
      <p:grpSp>
        <p:nvGrpSpPr>
          <p:cNvPr name="Group 33" id="33"/>
          <p:cNvGrpSpPr/>
          <p:nvPr/>
        </p:nvGrpSpPr>
        <p:grpSpPr>
          <a:xfrm rot="0">
            <a:off x="11078042" y="2738438"/>
            <a:ext cx="6209309" cy="2231517"/>
            <a:chOff x="0" y="0"/>
            <a:chExt cx="8279079" cy="2975356"/>
          </a:xfrm>
        </p:grpSpPr>
        <p:sp>
          <p:nvSpPr>
            <p:cNvPr name="Freeform 34" id="34"/>
            <p:cNvSpPr/>
            <p:nvPr/>
          </p:nvSpPr>
          <p:spPr>
            <a:xfrm flipH="false" flipV="false" rot="0">
              <a:off x="0" y="0"/>
              <a:ext cx="8279130" cy="2975356"/>
            </a:xfrm>
            <a:custGeom>
              <a:avLst/>
              <a:gdLst/>
              <a:ahLst/>
              <a:cxnLst/>
              <a:rect r="r" b="b" t="t" l="l"/>
              <a:pathLst>
                <a:path h="2975356" w="8279130">
                  <a:moveTo>
                    <a:pt x="0" y="495935"/>
                  </a:moveTo>
                  <a:cubicBezTo>
                    <a:pt x="0" y="221996"/>
                    <a:pt x="221996" y="0"/>
                    <a:pt x="495935" y="0"/>
                  </a:cubicBezTo>
                  <a:lnTo>
                    <a:pt x="7783195" y="0"/>
                  </a:lnTo>
                  <a:cubicBezTo>
                    <a:pt x="8057134" y="0"/>
                    <a:pt x="8279130" y="221996"/>
                    <a:pt x="8279130" y="495935"/>
                  </a:cubicBezTo>
                  <a:lnTo>
                    <a:pt x="8279130" y="2479421"/>
                  </a:lnTo>
                  <a:cubicBezTo>
                    <a:pt x="8279130" y="2753360"/>
                    <a:pt x="8057134" y="2975356"/>
                    <a:pt x="7783195" y="2975356"/>
                  </a:cubicBezTo>
                  <a:lnTo>
                    <a:pt x="495935" y="2975356"/>
                  </a:lnTo>
                  <a:cubicBezTo>
                    <a:pt x="221996" y="2975356"/>
                    <a:pt x="0" y="2753360"/>
                    <a:pt x="0" y="2479421"/>
                  </a:cubicBezTo>
                  <a:close/>
                </a:path>
              </a:pathLst>
            </a:custGeom>
            <a:solidFill>
              <a:srgbClr val="EBF9F4"/>
            </a:solidFill>
            <a:ln w="9525" cap="sq">
              <a:solidFill>
                <a:srgbClr val="D6E5E9"/>
              </a:solidFill>
              <a:prstDash val="solid"/>
              <a:miter/>
            </a:ln>
          </p:spPr>
        </p:sp>
      </p:grpSp>
      <p:grpSp>
        <p:nvGrpSpPr>
          <p:cNvPr name="Group 35" id="35"/>
          <p:cNvGrpSpPr/>
          <p:nvPr/>
        </p:nvGrpSpPr>
        <p:grpSpPr>
          <a:xfrm rot="0">
            <a:off x="11453146" y="2962656"/>
            <a:ext cx="5486533" cy="411480"/>
            <a:chOff x="0" y="0"/>
            <a:chExt cx="7315378" cy="548640"/>
          </a:xfrm>
        </p:grpSpPr>
        <p:sp>
          <p:nvSpPr>
            <p:cNvPr name="Freeform 36" id="36"/>
            <p:cNvSpPr/>
            <p:nvPr/>
          </p:nvSpPr>
          <p:spPr>
            <a:xfrm flipH="false" flipV="false" rot="0">
              <a:off x="0" y="0"/>
              <a:ext cx="7315383" cy="548640"/>
            </a:xfrm>
            <a:custGeom>
              <a:avLst/>
              <a:gdLst/>
              <a:ahLst/>
              <a:cxnLst/>
              <a:rect r="r" b="b" t="t" l="l"/>
              <a:pathLst>
                <a:path h="548640" w="7315383">
                  <a:moveTo>
                    <a:pt x="0" y="0"/>
                  </a:moveTo>
                  <a:lnTo>
                    <a:pt x="7315383" y="0"/>
                  </a:lnTo>
                  <a:lnTo>
                    <a:pt x="7315383" y="548640"/>
                  </a:lnTo>
                  <a:lnTo>
                    <a:pt x="0" y="548640"/>
                  </a:lnTo>
                  <a:close/>
                </a:path>
              </a:pathLst>
            </a:custGeom>
            <a:blipFill>
              <a:blip r:embed="rId2">
                <a:alphaModFix amt="0"/>
              </a:blip>
              <a:stretch>
                <a:fillRect l="0" t="-209806" r="0" b="-209806"/>
              </a:stretch>
            </a:blipFill>
          </p:spPr>
        </p:sp>
        <p:sp>
          <p:nvSpPr>
            <p:cNvPr name="TextBox 37" id="37"/>
            <p:cNvSpPr txBox="true"/>
            <p:nvPr/>
          </p:nvSpPr>
          <p:spPr>
            <a:xfrm>
              <a:off x="0" y="-9525"/>
              <a:ext cx="7315378" cy="558165"/>
            </a:xfrm>
            <a:prstGeom prst="rect">
              <a:avLst/>
            </a:prstGeom>
          </p:spPr>
          <p:txBody>
            <a:bodyPr anchor="ctr" rtlCol="false" tIns="0" lIns="0" bIns="0" rIns="0"/>
            <a:lstStyle/>
            <a:p>
              <a:pPr algn="l">
                <a:lnSpc>
                  <a:spcPts val="2519"/>
                </a:lnSpc>
              </a:pPr>
              <a:r>
                <a:rPr lang="en-US" sz="2099" b="true">
                  <a:solidFill>
                    <a:srgbClr val="008078"/>
                  </a:solidFill>
                  <a:latin typeface="Aptos Bold"/>
                  <a:ea typeface="Aptos Bold"/>
                  <a:cs typeface="Aptos Bold"/>
                  <a:sym typeface="Aptos Bold"/>
                </a:rPr>
                <a:t>REDUCE MODULO 105</a:t>
              </a:r>
            </a:p>
          </p:txBody>
        </p:sp>
      </p:grpSp>
      <p:grpSp>
        <p:nvGrpSpPr>
          <p:cNvPr name="Group 38" id="38"/>
          <p:cNvGrpSpPr/>
          <p:nvPr/>
        </p:nvGrpSpPr>
        <p:grpSpPr>
          <a:xfrm rot="0">
            <a:off x="11487436" y="2883439"/>
            <a:ext cx="5417953" cy="1758094"/>
            <a:chOff x="0" y="0"/>
            <a:chExt cx="7223938" cy="2344125"/>
          </a:xfrm>
        </p:grpSpPr>
        <p:sp>
          <p:nvSpPr>
            <p:cNvPr name="Freeform 39" id="39"/>
            <p:cNvSpPr/>
            <p:nvPr/>
          </p:nvSpPr>
          <p:spPr>
            <a:xfrm flipH="false" flipV="false" rot="0">
              <a:off x="0" y="0"/>
              <a:ext cx="7223940" cy="2344125"/>
            </a:xfrm>
            <a:custGeom>
              <a:avLst/>
              <a:gdLst/>
              <a:ahLst/>
              <a:cxnLst/>
              <a:rect r="r" b="b" t="t" l="l"/>
              <a:pathLst>
                <a:path h="2344125" w="7223940">
                  <a:moveTo>
                    <a:pt x="0" y="0"/>
                  </a:moveTo>
                  <a:lnTo>
                    <a:pt x="7223940" y="0"/>
                  </a:lnTo>
                  <a:lnTo>
                    <a:pt x="7223940" y="2344125"/>
                  </a:lnTo>
                  <a:lnTo>
                    <a:pt x="0" y="2344125"/>
                  </a:lnTo>
                  <a:close/>
                </a:path>
              </a:pathLst>
            </a:custGeom>
            <a:blipFill>
              <a:blip r:embed="rId2">
                <a:alphaModFix amt="0"/>
              </a:blip>
              <a:stretch>
                <a:fillRect l="0" t="-47564" r="0" b="27469"/>
              </a:stretch>
            </a:blipFill>
          </p:spPr>
        </p:sp>
        <p:sp>
          <p:nvSpPr>
            <p:cNvPr name="TextBox 40" id="40"/>
            <p:cNvSpPr txBox="true"/>
            <p:nvPr/>
          </p:nvSpPr>
          <p:spPr>
            <a:xfrm>
              <a:off x="0" y="-9525"/>
              <a:ext cx="7223938" cy="2353650"/>
            </a:xfrm>
            <a:prstGeom prst="rect">
              <a:avLst/>
            </a:prstGeom>
          </p:spPr>
          <p:txBody>
            <a:bodyPr anchor="ctr" rtlCol="false" tIns="0" lIns="0" bIns="0" rIns="0"/>
            <a:lstStyle/>
            <a:p>
              <a:pPr algn="l">
                <a:lnSpc>
                  <a:spcPts val="2879"/>
                </a:lnSpc>
              </a:pPr>
              <a:r>
                <a:rPr lang="en-US" sz="2399">
                  <a:solidFill>
                    <a:srgbClr val="1C2B42"/>
                  </a:solidFill>
                  <a:latin typeface="Cambria"/>
                  <a:ea typeface="Cambria"/>
                  <a:cs typeface="Cambria"/>
                  <a:sym typeface="Cambria"/>
                </a:rPr>
                <a:t>227 = 2 × 105 + 17</a:t>
              </a:r>
            </a:p>
          </p:txBody>
        </p:sp>
      </p:grpSp>
      <p:grpSp>
        <p:nvGrpSpPr>
          <p:cNvPr name="Group 41" id="41"/>
          <p:cNvGrpSpPr/>
          <p:nvPr/>
        </p:nvGrpSpPr>
        <p:grpSpPr>
          <a:xfrm rot="0">
            <a:off x="11501157" y="3394282"/>
            <a:ext cx="5417953" cy="1825799"/>
            <a:chOff x="0" y="0"/>
            <a:chExt cx="7223938" cy="2434399"/>
          </a:xfrm>
        </p:grpSpPr>
        <p:sp>
          <p:nvSpPr>
            <p:cNvPr name="Freeform 42" id="42"/>
            <p:cNvSpPr/>
            <p:nvPr/>
          </p:nvSpPr>
          <p:spPr>
            <a:xfrm flipH="false" flipV="false" rot="0">
              <a:off x="0" y="0"/>
              <a:ext cx="7223940" cy="2434399"/>
            </a:xfrm>
            <a:custGeom>
              <a:avLst/>
              <a:gdLst/>
              <a:ahLst/>
              <a:cxnLst/>
              <a:rect r="r" b="b" t="t" l="l"/>
              <a:pathLst>
                <a:path h="2434399" w="7223940">
                  <a:moveTo>
                    <a:pt x="0" y="0"/>
                  </a:moveTo>
                  <a:lnTo>
                    <a:pt x="7223940" y="0"/>
                  </a:lnTo>
                  <a:lnTo>
                    <a:pt x="7223940" y="2434399"/>
                  </a:lnTo>
                  <a:lnTo>
                    <a:pt x="0" y="2434399"/>
                  </a:lnTo>
                  <a:close/>
                </a:path>
              </a:pathLst>
            </a:custGeom>
            <a:blipFill>
              <a:blip r:embed="rId2">
                <a:alphaModFix amt="0"/>
              </a:blip>
              <a:stretch>
                <a:fillRect l="0" t="-42044" r="0" b="26403"/>
              </a:stretch>
            </a:blipFill>
          </p:spPr>
        </p:sp>
        <p:sp>
          <p:nvSpPr>
            <p:cNvPr name="TextBox 43" id="43"/>
            <p:cNvSpPr txBox="true"/>
            <p:nvPr/>
          </p:nvSpPr>
          <p:spPr>
            <a:xfrm>
              <a:off x="0" y="-9525"/>
              <a:ext cx="7223938" cy="2443924"/>
            </a:xfrm>
            <a:prstGeom prst="rect">
              <a:avLst/>
            </a:prstGeom>
          </p:spPr>
          <p:txBody>
            <a:bodyPr anchor="ctr" rtlCol="false" tIns="0" lIns="0" bIns="0" rIns="0"/>
            <a:lstStyle/>
            <a:p>
              <a:pPr algn="l">
                <a:lnSpc>
                  <a:spcPts val="2999"/>
                </a:lnSpc>
              </a:pPr>
              <a:r>
                <a:rPr lang="en-US" sz="2499" b="true">
                  <a:solidFill>
                    <a:srgbClr val="007753"/>
                  </a:solidFill>
                  <a:latin typeface="Cambria Bold"/>
                  <a:ea typeface="Cambria Bold"/>
                  <a:cs typeface="Cambria Bold"/>
                  <a:sym typeface="Cambria Bold"/>
                </a:rPr>
                <a:t>t ≡ 17 (mod 105)</a:t>
              </a:r>
            </a:p>
          </p:txBody>
        </p:sp>
      </p:grpSp>
      <p:grpSp>
        <p:nvGrpSpPr>
          <p:cNvPr name="Group 44" id="44"/>
          <p:cNvGrpSpPr/>
          <p:nvPr/>
        </p:nvGrpSpPr>
        <p:grpSpPr>
          <a:xfrm rot="0">
            <a:off x="927945" y="5413058"/>
            <a:ext cx="16359407" cy="2546985"/>
            <a:chOff x="0" y="0"/>
            <a:chExt cx="21812542" cy="3395980"/>
          </a:xfrm>
        </p:grpSpPr>
        <p:sp>
          <p:nvSpPr>
            <p:cNvPr name="Freeform 45" id="45"/>
            <p:cNvSpPr/>
            <p:nvPr/>
          </p:nvSpPr>
          <p:spPr>
            <a:xfrm flipH="false" flipV="false" rot="0">
              <a:off x="0" y="0"/>
              <a:ext cx="21812631" cy="3395980"/>
            </a:xfrm>
            <a:custGeom>
              <a:avLst/>
              <a:gdLst/>
              <a:ahLst/>
              <a:cxnLst/>
              <a:rect r="r" b="b" t="t" l="l"/>
              <a:pathLst>
                <a:path h="3395980" w="21812631">
                  <a:moveTo>
                    <a:pt x="0" y="566039"/>
                  </a:moveTo>
                  <a:cubicBezTo>
                    <a:pt x="0" y="253365"/>
                    <a:pt x="253365" y="0"/>
                    <a:pt x="566039" y="0"/>
                  </a:cubicBezTo>
                  <a:lnTo>
                    <a:pt x="21246592" y="0"/>
                  </a:lnTo>
                  <a:cubicBezTo>
                    <a:pt x="21559138" y="0"/>
                    <a:pt x="21812631" y="253365"/>
                    <a:pt x="21812631" y="566039"/>
                  </a:cubicBezTo>
                  <a:lnTo>
                    <a:pt x="21812631" y="2829941"/>
                  </a:lnTo>
                  <a:cubicBezTo>
                    <a:pt x="21812631" y="3142488"/>
                    <a:pt x="21559265" y="3395980"/>
                    <a:pt x="21246592" y="3395980"/>
                  </a:cubicBezTo>
                  <a:lnTo>
                    <a:pt x="566039" y="3395980"/>
                  </a:lnTo>
                  <a:cubicBezTo>
                    <a:pt x="253365" y="3395980"/>
                    <a:pt x="0" y="3142615"/>
                    <a:pt x="0" y="2829941"/>
                  </a:cubicBezTo>
                  <a:close/>
                </a:path>
              </a:pathLst>
            </a:custGeom>
            <a:solidFill>
              <a:srgbClr val="EFFBF2"/>
            </a:solidFill>
            <a:ln w="9525" cap="sq">
              <a:solidFill>
                <a:srgbClr val="D6E5E9"/>
              </a:solidFill>
              <a:prstDash val="solid"/>
              <a:miter/>
            </a:ln>
          </p:spPr>
        </p:sp>
      </p:grpSp>
      <p:grpSp>
        <p:nvGrpSpPr>
          <p:cNvPr name="Group 46" id="46"/>
          <p:cNvGrpSpPr/>
          <p:nvPr/>
        </p:nvGrpSpPr>
        <p:grpSpPr>
          <a:xfrm rot="0">
            <a:off x="1344197" y="5650992"/>
            <a:ext cx="4800724" cy="464026"/>
            <a:chOff x="0" y="0"/>
            <a:chExt cx="6400965" cy="618702"/>
          </a:xfrm>
        </p:grpSpPr>
        <p:sp>
          <p:nvSpPr>
            <p:cNvPr name="Freeform 47" id="47"/>
            <p:cNvSpPr/>
            <p:nvPr/>
          </p:nvSpPr>
          <p:spPr>
            <a:xfrm flipH="false" flipV="false" rot="0">
              <a:off x="0" y="0"/>
              <a:ext cx="6400960" cy="618702"/>
            </a:xfrm>
            <a:custGeom>
              <a:avLst/>
              <a:gdLst/>
              <a:ahLst/>
              <a:cxnLst/>
              <a:rect r="r" b="b" t="t" l="l"/>
              <a:pathLst>
                <a:path h="618702" w="6400960">
                  <a:moveTo>
                    <a:pt x="0" y="0"/>
                  </a:moveTo>
                  <a:lnTo>
                    <a:pt x="6400960" y="0"/>
                  </a:lnTo>
                  <a:lnTo>
                    <a:pt x="6400960" y="618702"/>
                  </a:lnTo>
                  <a:lnTo>
                    <a:pt x="0" y="618702"/>
                  </a:lnTo>
                  <a:close/>
                </a:path>
              </a:pathLst>
            </a:custGeom>
            <a:blipFill>
              <a:blip r:embed="rId2">
                <a:alphaModFix amt="0"/>
              </a:blip>
              <a:stretch>
                <a:fillRect l="0" t="-157250" r="0" b="-145926"/>
              </a:stretch>
            </a:blipFill>
          </p:spPr>
        </p:sp>
        <p:sp>
          <p:nvSpPr>
            <p:cNvPr name="TextBox 48" id="48"/>
            <p:cNvSpPr txBox="true"/>
            <p:nvPr/>
          </p:nvSpPr>
          <p:spPr>
            <a:xfrm>
              <a:off x="0" y="9525"/>
              <a:ext cx="6400965" cy="609177"/>
            </a:xfrm>
            <a:prstGeom prst="rect">
              <a:avLst/>
            </a:prstGeom>
          </p:spPr>
          <p:txBody>
            <a:bodyPr anchor="ctr" rtlCol="false" tIns="0" lIns="0" bIns="0" rIns="0"/>
            <a:lstStyle/>
            <a:p>
              <a:pPr algn="l">
                <a:lnSpc>
                  <a:spcPts val="2999"/>
                </a:lnSpc>
              </a:pPr>
              <a:r>
                <a:rPr lang="en-US" sz="2499" b="true">
                  <a:solidFill>
                    <a:srgbClr val="008078"/>
                  </a:solidFill>
                  <a:latin typeface="Aptos Bold"/>
                  <a:ea typeface="Aptos Bold"/>
                  <a:cs typeface="Aptos Bold"/>
                  <a:sym typeface="Aptos Bold"/>
                </a:rPr>
                <a:t>VERIFY THE SOLUTION</a:t>
              </a:r>
            </a:p>
          </p:txBody>
        </p:sp>
      </p:grpSp>
      <p:grpSp>
        <p:nvGrpSpPr>
          <p:cNvPr name="Group 49" id="49"/>
          <p:cNvGrpSpPr/>
          <p:nvPr/>
        </p:nvGrpSpPr>
        <p:grpSpPr>
          <a:xfrm rot="0">
            <a:off x="1371638" y="6240780"/>
            <a:ext cx="4869304" cy="466344"/>
            <a:chOff x="0" y="0"/>
            <a:chExt cx="6492405" cy="621792"/>
          </a:xfrm>
        </p:grpSpPr>
        <p:sp>
          <p:nvSpPr>
            <p:cNvPr name="Freeform 50" id="50"/>
            <p:cNvSpPr/>
            <p:nvPr/>
          </p:nvSpPr>
          <p:spPr>
            <a:xfrm flipH="false" flipV="false" rot="0">
              <a:off x="0" y="0"/>
              <a:ext cx="6492401" cy="621792"/>
            </a:xfrm>
            <a:custGeom>
              <a:avLst/>
              <a:gdLst/>
              <a:ahLst/>
              <a:cxnLst/>
              <a:rect r="r" b="b" t="t" l="l"/>
              <a:pathLst>
                <a:path h="621792" w="6492401">
                  <a:moveTo>
                    <a:pt x="0" y="0"/>
                  </a:moveTo>
                  <a:lnTo>
                    <a:pt x="6492401" y="0"/>
                  </a:lnTo>
                  <a:lnTo>
                    <a:pt x="6492401" y="621792"/>
                  </a:lnTo>
                  <a:lnTo>
                    <a:pt x="0" y="621792"/>
                  </a:lnTo>
                  <a:close/>
                </a:path>
              </a:pathLst>
            </a:custGeom>
            <a:blipFill>
              <a:blip r:embed="rId2">
                <a:alphaModFix amt="0"/>
              </a:blip>
              <a:stretch>
                <a:fillRect l="0" t="-153451" r="0" b="-153451"/>
              </a:stretch>
            </a:blipFill>
          </p:spPr>
        </p:sp>
        <p:sp>
          <p:nvSpPr>
            <p:cNvPr name="TextBox 51" id="51"/>
            <p:cNvSpPr txBox="true"/>
            <p:nvPr/>
          </p:nvSpPr>
          <p:spPr>
            <a:xfrm>
              <a:off x="0" y="-47625"/>
              <a:ext cx="6492405" cy="669417"/>
            </a:xfrm>
            <a:prstGeom prst="rect">
              <a:avLst/>
            </a:prstGeom>
          </p:spPr>
          <p:txBody>
            <a:bodyPr anchor="ctr" rtlCol="false" tIns="0" lIns="0" bIns="0" rIns="0"/>
            <a:lstStyle/>
            <a:p>
              <a:pPr algn="l">
                <a:lnSpc>
                  <a:spcPts val="2639"/>
                </a:lnSpc>
              </a:pPr>
              <a:r>
                <a:rPr lang="en-US" sz="2199">
                  <a:solidFill>
                    <a:srgbClr val="1C2B42"/>
                  </a:solidFill>
                  <a:latin typeface="Calibri (MS)"/>
                  <a:ea typeface="Calibri (MS)"/>
                  <a:cs typeface="Calibri (MS)"/>
                  <a:sym typeface="Calibri (MS)"/>
                </a:rPr>
                <a:t>✓  17 ÷ 5 leaves remainder 2</a:t>
              </a:r>
            </a:p>
          </p:txBody>
        </p:sp>
      </p:grpSp>
      <p:grpSp>
        <p:nvGrpSpPr>
          <p:cNvPr name="Group 52" id="52"/>
          <p:cNvGrpSpPr/>
          <p:nvPr/>
        </p:nvGrpSpPr>
        <p:grpSpPr>
          <a:xfrm rot="0">
            <a:off x="1405928" y="6473952"/>
            <a:ext cx="4800724" cy="1535953"/>
            <a:chOff x="0" y="0"/>
            <a:chExt cx="6400965" cy="2047938"/>
          </a:xfrm>
        </p:grpSpPr>
        <p:sp>
          <p:nvSpPr>
            <p:cNvPr name="Freeform 53" id="53"/>
            <p:cNvSpPr/>
            <p:nvPr/>
          </p:nvSpPr>
          <p:spPr>
            <a:xfrm flipH="false" flipV="false" rot="0">
              <a:off x="0" y="0"/>
              <a:ext cx="6400960" cy="2047938"/>
            </a:xfrm>
            <a:custGeom>
              <a:avLst/>
              <a:gdLst/>
              <a:ahLst/>
              <a:cxnLst/>
              <a:rect r="r" b="b" t="t" l="l"/>
              <a:pathLst>
                <a:path h="2047938" w="6400960">
                  <a:moveTo>
                    <a:pt x="0" y="0"/>
                  </a:moveTo>
                  <a:lnTo>
                    <a:pt x="6400960" y="0"/>
                  </a:lnTo>
                  <a:lnTo>
                    <a:pt x="6400960" y="2047938"/>
                  </a:lnTo>
                  <a:lnTo>
                    <a:pt x="0" y="2047938"/>
                  </a:lnTo>
                  <a:close/>
                </a:path>
              </a:pathLst>
            </a:custGeom>
            <a:blipFill>
              <a:blip r:embed="rId2">
                <a:alphaModFix amt="0"/>
              </a:blip>
              <a:stretch>
                <a:fillRect l="0" t="-43934" r="0" b="22131"/>
              </a:stretch>
            </a:blipFill>
          </p:spPr>
        </p:sp>
        <p:sp>
          <p:nvSpPr>
            <p:cNvPr name="TextBox 54" id="54"/>
            <p:cNvSpPr txBox="true"/>
            <p:nvPr/>
          </p:nvSpPr>
          <p:spPr>
            <a:xfrm>
              <a:off x="0" y="-19050"/>
              <a:ext cx="6400965" cy="2066988"/>
            </a:xfrm>
            <a:prstGeom prst="rect">
              <a:avLst/>
            </a:prstGeom>
          </p:spPr>
          <p:txBody>
            <a:bodyPr anchor="ctr" rtlCol="false" tIns="0" lIns="0" bIns="0" rIns="0"/>
            <a:lstStyle/>
            <a:p>
              <a:pPr algn="l">
                <a:lnSpc>
                  <a:spcPts val="2519"/>
                </a:lnSpc>
              </a:pPr>
              <a:r>
                <a:rPr lang="en-US" sz="2099" b="true">
                  <a:solidFill>
                    <a:srgbClr val="007753"/>
                  </a:solidFill>
                  <a:latin typeface="Cambria Bold"/>
                  <a:ea typeface="Cambria Bold"/>
                  <a:cs typeface="Cambria Bold"/>
                  <a:sym typeface="Cambria Bold"/>
                </a:rPr>
                <a:t>17 ≡ 2 (mod 5)</a:t>
              </a:r>
            </a:p>
          </p:txBody>
        </p:sp>
      </p:grpSp>
      <p:grpSp>
        <p:nvGrpSpPr>
          <p:cNvPr name="Group 55" id="55"/>
          <p:cNvGrpSpPr/>
          <p:nvPr/>
        </p:nvGrpSpPr>
        <p:grpSpPr>
          <a:xfrm rot="0">
            <a:off x="6611274" y="6240780"/>
            <a:ext cx="4869304" cy="466344"/>
            <a:chOff x="0" y="0"/>
            <a:chExt cx="6492405" cy="621792"/>
          </a:xfrm>
        </p:grpSpPr>
        <p:sp>
          <p:nvSpPr>
            <p:cNvPr name="Freeform 56" id="56"/>
            <p:cNvSpPr/>
            <p:nvPr/>
          </p:nvSpPr>
          <p:spPr>
            <a:xfrm flipH="false" flipV="false" rot="0">
              <a:off x="0" y="0"/>
              <a:ext cx="6492401" cy="621792"/>
            </a:xfrm>
            <a:custGeom>
              <a:avLst/>
              <a:gdLst/>
              <a:ahLst/>
              <a:cxnLst/>
              <a:rect r="r" b="b" t="t" l="l"/>
              <a:pathLst>
                <a:path h="621792" w="6492401">
                  <a:moveTo>
                    <a:pt x="0" y="0"/>
                  </a:moveTo>
                  <a:lnTo>
                    <a:pt x="6492401" y="0"/>
                  </a:lnTo>
                  <a:lnTo>
                    <a:pt x="6492401" y="621792"/>
                  </a:lnTo>
                  <a:lnTo>
                    <a:pt x="0" y="621792"/>
                  </a:lnTo>
                  <a:close/>
                </a:path>
              </a:pathLst>
            </a:custGeom>
            <a:blipFill>
              <a:blip r:embed="rId2">
                <a:alphaModFix amt="0"/>
              </a:blip>
              <a:stretch>
                <a:fillRect l="0" t="-153451" r="0" b="-153451"/>
              </a:stretch>
            </a:blipFill>
          </p:spPr>
        </p:sp>
        <p:sp>
          <p:nvSpPr>
            <p:cNvPr name="TextBox 57" id="57"/>
            <p:cNvSpPr txBox="true"/>
            <p:nvPr/>
          </p:nvSpPr>
          <p:spPr>
            <a:xfrm>
              <a:off x="0" y="-47625"/>
              <a:ext cx="6492405" cy="669417"/>
            </a:xfrm>
            <a:prstGeom prst="rect">
              <a:avLst/>
            </a:prstGeom>
          </p:spPr>
          <p:txBody>
            <a:bodyPr anchor="ctr" rtlCol="false" tIns="0" lIns="0" bIns="0" rIns="0"/>
            <a:lstStyle/>
            <a:p>
              <a:pPr algn="l">
                <a:lnSpc>
                  <a:spcPts val="2639"/>
                </a:lnSpc>
              </a:pPr>
              <a:r>
                <a:rPr lang="en-US" sz="2199">
                  <a:solidFill>
                    <a:srgbClr val="1C2B42"/>
                  </a:solidFill>
                  <a:latin typeface="Calibri (MS)"/>
                  <a:ea typeface="Calibri (MS)"/>
                  <a:cs typeface="Calibri (MS)"/>
                  <a:sym typeface="Calibri (MS)"/>
                </a:rPr>
                <a:t>✓  17 ÷ 7 leaves remainder 3</a:t>
              </a:r>
            </a:p>
          </p:txBody>
        </p:sp>
      </p:grpSp>
      <p:grpSp>
        <p:nvGrpSpPr>
          <p:cNvPr name="Group 58" id="58"/>
          <p:cNvGrpSpPr/>
          <p:nvPr/>
        </p:nvGrpSpPr>
        <p:grpSpPr>
          <a:xfrm rot="0">
            <a:off x="6645564" y="6424089"/>
            <a:ext cx="4800724" cy="1535953"/>
            <a:chOff x="0" y="0"/>
            <a:chExt cx="6400965" cy="2047938"/>
          </a:xfrm>
        </p:grpSpPr>
        <p:sp>
          <p:nvSpPr>
            <p:cNvPr name="Freeform 59" id="59"/>
            <p:cNvSpPr/>
            <p:nvPr/>
          </p:nvSpPr>
          <p:spPr>
            <a:xfrm flipH="false" flipV="false" rot="0">
              <a:off x="0" y="0"/>
              <a:ext cx="6400960" cy="2047938"/>
            </a:xfrm>
            <a:custGeom>
              <a:avLst/>
              <a:gdLst/>
              <a:ahLst/>
              <a:cxnLst/>
              <a:rect r="r" b="b" t="t" l="l"/>
              <a:pathLst>
                <a:path h="2047938" w="6400960">
                  <a:moveTo>
                    <a:pt x="0" y="0"/>
                  </a:moveTo>
                  <a:lnTo>
                    <a:pt x="6400960" y="0"/>
                  </a:lnTo>
                  <a:lnTo>
                    <a:pt x="6400960" y="2047938"/>
                  </a:lnTo>
                  <a:lnTo>
                    <a:pt x="0" y="2047938"/>
                  </a:lnTo>
                  <a:close/>
                </a:path>
              </a:pathLst>
            </a:custGeom>
            <a:blipFill>
              <a:blip r:embed="rId2">
                <a:alphaModFix amt="0"/>
              </a:blip>
              <a:stretch>
                <a:fillRect l="0" t="-43934" r="0" b="22131"/>
              </a:stretch>
            </a:blipFill>
          </p:spPr>
        </p:sp>
        <p:sp>
          <p:nvSpPr>
            <p:cNvPr name="TextBox 60" id="60"/>
            <p:cNvSpPr txBox="true"/>
            <p:nvPr/>
          </p:nvSpPr>
          <p:spPr>
            <a:xfrm>
              <a:off x="0" y="-19050"/>
              <a:ext cx="6400965" cy="2066988"/>
            </a:xfrm>
            <a:prstGeom prst="rect">
              <a:avLst/>
            </a:prstGeom>
          </p:spPr>
          <p:txBody>
            <a:bodyPr anchor="ctr" rtlCol="false" tIns="0" lIns="0" bIns="0" rIns="0"/>
            <a:lstStyle/>
            <a:p>
              <a:pPr algn="l">
                <a:lnSpc>
                  <a:spcPts val="2519"/>
                </a:lnSpc>
              </a:pPr>
              <a:r>
                <a:rPr lang="en-US" sz="2099" b="true">
                  <a:solidFill>
                    <a:srgbClr val="007753"/>
                  </a:solidFill>
                  <a:latin typeface="Cambria Bold"/>
                  <a:ea typeface="Cambria Bold"/>
                  <a:cs typeface="Cambria Bold"/>
                  <a:sym typeface="Cambria Bold"/>
                </a:rPr>
                <a:t>17 ≡ 3 (mod 7)</a:t>
              </a:r>
            </a:p>
          </p:txBody>
        </p:sp>
      </p:grpSp>
      <p:grpSp>
        <p:nvGrpSpPr>
          <p:cNvPr name="Group 61" id="61"/>
          <p:cNvGrpSpPr/>
          <p:nvPr/>
        </p:nvGrpSpPr>
        <p:grpSpPr>
          <a:xfrm rot="0">
            <a:off x="11850919" y="6240780"/>
            <a:ext cx="4869304" cy="466344"/>
            <a:chOff x="0" y="0"/>
            <a:chExt cx="6492405" cy="621792"/>
          </a:xfrm>
        </p:grpSpPr>
        <p:sp>
          <p:nvSpPr>
            <p:cNvPr name="Freeform 62" id="62"/>
            <p:cNvSpPr/>
            <p:nvPr/>
          </p:nvSpPr>
          <p:spPr>
            <a:xfrm flipH="false" flipV="false" rot="0">
              <a:off x="0" y="0"/>
              <a:ext cx="6492401" cy="621792"/>
            </a:xfrm>
            <a:custGeom>
              <a:avLst/>
              <a:gdLst/>
              <a:ahLst/>
              <a:cxnLst/>
              <a:rect r="r" b="b" t="t" l="l"/>
              <a:pathLst>
                <a:path h="621792" w="6492401">
                  <a:moveTo>
                    <a:pt x="0" y="0"/>
                  </a:moveTo>
                  <a:lnTo>
                    <a:pt x="6492401" y="0"/>
                  </a:lnTo>
                  <a:lnTo>
                    <a:pt x="6492401" y="621792"/>
                  </a:lnTo>
                  <a:lnTo>
                    <a:pt x="0" y="621792"/>
                  </a:lnTo>
                  <a:close/>
                </a:path>
              </a:pathLst>
            </a:custGeom>
            <a:blipFill>
              <a:blip r:embed="rId2">
                <a:alphaModFix amt="0"/>
              </a:blip>
              <a:stretch>
                <a:fillRect l="0" t="-153451" r="0" b="-153451"/>
              </a:stretch>
            </a:blipFill>
          </p:spPr>
        </p:sp>
        <p:sp>
          <p:nvSpPr>
            <p:cNvPr name="TextBox 63" id="63"/>
            <p:cNvSpPr txBox="true"/>
            <p:nvPr/>
          </p:nvSpPr>
          <p:spPr>
            <a:xfrm>
              <a:off x="0" y="-47625"/>
              <a:ext cx="6492405" cy="669417"/>
            </a:xfrm>
            <a:prstGeom prst="rect">
              <a:avLst/>
            </a:prstGeom>
          </p:spPr>
          <p:txBody>
            <a:bodyPr anchor="ctr" rtlCol="false" tIns="0" lIns="0" bIns="0" rIns="0"/>
            <a:lstStyle/>
            <a:p>
              <a:pPr algn="l">
                <a:lnSpc>
                  <a:spcPts val="2639"/>
                </a:lnSpc>
              </a:pPr>
              <a:r>
                <a:rPr lang="en-US" sz="2199">
                  <a:solidFill>
                    <a:srgbClr val="1C2B42"/>
                  </a:solidFill>
                  <a:latin typeface="Calibri (MS)"/>
                  <a:ea typeface="Calibri (MS)"/>
                  <a:cs typeface="Calibri (MS)"/>
                  <a:sym typeface="Calibri (MS)"/>
                </a:rPr>
                <a:t>✓  17 ÷ 3 leaves remainder 2</a:t>
              </a:r>
            </a:p>
          </p:txBody>
        </p:sp>
      </p:grpSp>
      <p:grpSp>
        <p:nvGrpSpPr>
          <p:cNvPr name="Group 64" id="64"/>
          <p:cNvGrpSpPr/>
          <p:nvPr/>
        </p:nvGrpSpPr>
        <p:grpSpPr>
          <a:xfrm rot="0">
            <a:off x="11818725" y="6424089"/>
            <a:ext cx="4800724" cy="1535953"/>
            <a:chOff x="0" y="0"/>
            <a:chExt cx="6400965" cy="2047938"/>
          </a:xfrm>
        </p:grpSpPr>
        <p:sp>
          <p:nvSpPr>
            <p:cNvPr name="Freeform 65" id="65"/>
            <p:cNvSpPr/>
            <p:nvPr/>
          </p:nvSpPr>
          <p:spPr>
            <a:xfrm flipH="false" flipV="false" rot="0">
              <a:off x="0" y="0"/>
              <a:ext cx="6400960" cy="2047938"/>
            </a:xfrm>
            <a:custGeom>
              <a:avLst/>
              <a:gdLst/>
              <a:ahLst/>
              <a:cxnLst/>
              <a:rect r="r" b="b" t="t" l="l"/>
              <a:pathLst>
                <a:path h="2047938" w="6400960">
                  <a:moveTo>
                    <a:pt x="0" y="0"/>
                  </a:moveTo>
                  <a:lnTo>
                    <a:pt x="6400960" y="0"/>
                  </a:lnTo>
                  <a:lnTo>
                    <a:pt x="6400960" y="2047938"/>
                  </a:lnTo>
                  <a:lnTo>
                    <a:pt x="0" y="2047938"/>
                  </a:lnTo>
                  <a:close/>
                </a:path>
              </a:pathLst>
            </a:custGeom>
            <a:blipFill>
              <a:blip r:embed="rId2">
                <a:alphaModFix amt="0"/>
              </a:blip>
              <a:stretch>
                <a:fillRect l="0" t="-43934" r="0" b="22131"/>
              </a:stretch>
            </a:blipFill>
          </p:spPr>
        </p:sp>
        <p:sp>
          <p:nvSpPr>
            <p:cNvPr name="TextBox 66" id="66"/>
            <p:cNvSpPr txBox="true"/>
            <p:nvPr/>
          </p:nvSpPr>
          <p:spPr>
            <a:xfrm>
              <a:off x="0" y="-19050"/>
              <a:ext cx="6400965" cy="2066988"/>
            </a:xfrm>
            <a:prstGeom prst="rect">
              <a:avLst/>
            </a:prstGeom>
          </p:spPr>
          <p:txBody>
            <a:bodyPr anchor="ctr" rtlCol="false" tIns="0" lIns="0" bIns="0" rIns="0"/>
            <a:lstStyle/>
            <a:p>
              <a:pPr algn="l">
                <a:lnSpc>
                  <a:spcPts val="2519"/>
                </a:lnSpc>
              </a:pPr>
              <a:r>
                <a:rPr lang="en-US" sz="2099" b="true">
                  <a:solidFill>
                    <a:srgbClr val="007753"/>
                  </a:solidFill>
                  <a:latin typeface="Cambria Bold"/>
                  <a:ea typeface="Cambria Bold"/>
                  <a:cs typeface="Cambria Bold"/>
                  <a:sym typeface="Cambria Bold"/>
                </a:rPr>
                <a:t>17 ≡ 2 (mod 3)</a:t>
              </a:r>
            </a:p>
          </p:txBody>
        </p:sp>
      </p:grpSp>
      <p:grpSp>
        <p:nvGrpSpPr>
          <p:cNvPr name="Group 67" id="67"/>
          <p:cNvGrpSpPr/>
          <p:nvPr/>
        </p:nvGrpSpPr>
        <p:grpSpPr>
          <a:xfrm rot="0">
            <a:off x="927945" y="8265986"/>
            <a:ext cx="16359407" cy="901065"/>
            <a:chOff x="0" y="0"/>
            <a:chExt cx="21812542" cy="1201420"/>
          </a:xfrm>
        </p:grpSpPr>
        <p:sp>
          <p:nvSpPr>
            <p:cNvPr name="Freeform 68" id="68"/>
            <p:cNvSpPr/>
            <p:nvPr/>
          </p:nvSpPr>
          <p:spPr>
            <a:xfrm flipH="false" flipV="false" rot="0">
              <a:off x="0" y="0"/>
              <a:ext cx="21812631" cy="1201420"/>
            </a:xfrm>
            <a:custGeom>
              <a:avLst/>
              <a:gdLst/>
              <a:ahLst/>
              <a:cxnLst/>
              <a:rect r="r" b="b" t="t" l="l"/>
              <a:pathLst>
                <a:path h="1201420" w="21812631">
                  <a:moveTo>
                    <a:pt x="0" y="200279"/>
                  </a:moveTo>
                  <a:cubicBezTo>
                    <a:pt x="0" y="89662"/>
                    <a:pt x="89662" y="0"/>
                    <a:pt x="200279" y="0"/>
                  </a:cubicBezTo>
                  <a:lnTo>
                    <a:pt x="21612352" y="0"/>
                  </a:lnTo>
                  <a:cubicBezTo>
                    <a:pt x="21722969" y="0"/>
                    <a:pt x="21812631" y="89662"/>
                    <a:pt x="21812631" y="200279"/>
                  </a:cubicBezTo>
                  <a:lnTo>
                    <a:pt x="21812631" y="1001141"/>
                  </a:lnTo>
                  <a:cubicBezTo>
                    <a:pt x="21812631" y="1111758"/>
                    <a:pt x="21722969" y="1201420"/>
                    <a:pt x="21612352" y="1201420"/>
                  </a:cubicBezTo>
                  <a:lnTo>
                    <a:pt x="200279" y="1201420"/>
                  </a:lnTo>
                  <a:cubicBezTo>
                    <a:pt x="89662" y="1201420"/>
                    <a:pt x="0" y="1111758"/>
                    <a:pt x="0" y="1001141"/>
                  </a:cubicBezTo>
                  <a:close/>
                </a:path>
              </a:pathLst>
            </a:custGeom>
            <a:solidFill>
              <a:srgbClr val="EBF9F4"/>
            </a:solidFill>
            <a:ln w="9525" cap="sq">
              <a:solidFill>
                <a:srgbClr val="D6E5E9"/>
              </a:solidFill>
              <a:prstDash val="solid"/>
              <a:miter/>
            </a:ln>
          </p:spPr>
        </p:sp>
      </p:grpSp>
      <p:grpSp>
        <p:nvGrpSpPr>
          <p:cNvPr name="Group 69" id="69"/>
          <p:cNvGrpSpPr/>
          <p:nvPr/>
        </p:nvGrpSpPr>
        <p:grpSpPr>
          <a:xfrm rot="0">
            <a:off x="1303049" y="8421624"/>
            <a:ext cx="15568051" cy="480060"/>
            <a:chOff x="0" y="0"/>
            <a:chExt cx="20757401" cy="640080"/>
          </a:xfrm>
        </p:grpSpPr>
        <p:sp>
          <p:nvSpPr>
            <p:cNvPr name="Freeform 70" id="70"/>
            <p:cNvSpPr/>
            <p:nvPr/>
          </p:nvSpPr>
          <p:spPr>
            <a:xfrm flipH="false" flipV="false" rot="0">
              <a:off x="0" y="0"/>
              <a:ext cx="20757398" cy="640080"/>
            </a:xfrm>
            <a:custGeom>
              <a:avLst/>
              <a:gdLst/>
              <a:ahLst/>
              <a:cxnLst/>
              <a:rect r="r" b="b" t="t" l="l"/>
              <a:pathLst>
                <a:path h="640080" w="20757398">
                  <a:moveTo>
                    <a:pt x="0" y="0"/>
                  </a:moveTo>
                  <a:lnTo>
                    <a:pt x="20757398" y="0"/>
                  </a:lnTo>
                  <a:lnTo>
                    <a:pt x="20757398" y="640080"/>
                  </a:lnTo>
                  <a:lnTo>
                    <a:pt x="0" y="640080"/>
                  </a:lnTo>
                  <a:close/>
                </a:path>
              </a:pathLst>
            </a:custGeom>
            <a:blipFill>
              <a:blip r:embed="rId2">
                <a:alphaModFix amt="0"/>
              </a:blip>
              <a:stretch>
                <a:fillRect l="0" t="-581887" r="0" b="-581887"/>
              </a:stretch>
            </a:blipFill>
          </p:spPr>
        </p:sp>
        <p:sp>
          <p:nvSpPr>
            <p:cNvPr name="TextBox 71" id="71"/>
            <p:cNvSpPr txBox="true"/>
            <p:nvPr/>
          </p:nvSpPr>
          <p:spPr>
            <a:xfrm>
              <a:off x="0" y="0"/>
              <a:ext cx="20757401" cy="640080"/>
            </a:xfrm>
            <a:prstGeom prst="rect">
              <a:avLst/>
            </a:prstGeom>
          </p:spPr>
          <p:txBody>
            <a:bodyPr anchor="ctr" rtlCol="false" tIns="0" lIns="0" bIns="0" rIns="0"/>
            <a:lstStyle/>
            <a:p>
              <a:pPr algn="l">
                <a:lnSpc>
                  <a:spcPts val="2759"/>
                </a:lnSpc>
              </a:pPr>
              <a:r>
                <a:rPr lang="en-US" sz="2299" b="true">
                  <a:solidFill>
                    <a:srgbClr val="1C2B42"/>
                  </a:solidFill>
                  <a:latin typeface="Aptos Bold"/>
                  <a:ea typeface="Aptos Bold"/>
                  <a:cs typeface="Aptos Bold"/>
                  <a:sym typeface="Aptos Bold"/>
                </a:rPr>
                <a:t>RESULT: t = 17 is the smallest non-negative solution. Other solutions are 122, 227, 332, …</a:t>
              </a:r>
            </a:p>
          </p:txBody>
        </p:sp>
      </p:grpSp>
      <p:grpSp>
        <p:nvGrpSpPr>
          <p:cNvPr name="Group 72" id="72"/>
          <p:cNvGrpSpPr/>
          <p:nvPr/>
        </p:nvGrpSpPr>
        <p:grpSpPr>
          <a:xfrm rot="0">
            <a:off x="1028729" y="9272016"/>
            <a:ext cx="16185280" cy="356089"/>
            <a:chOff x="0" y="0"/>
            <a:chExt cx="21580373" cy="474785"/>
          </a:xfrm>
        </p:grpSpPr>
        <p:sp>
          <p:nvSpPr>
            <p:cNvPr name="Freeform 73" id="73"/>
            <p:cNvSpPr/>
            <p:nvPr/>
          </p:nvSpPr>
          <p:spPr>
            <a:xfrm flipH="false" flipV="false" rot="0">
              <a:off x="0" y="0"/>
              <a:ext cx="21580379" cy="474785"/>
            </a:xfrm>
            <a:custGeom>
              <a:avLst/>
              <a:gdLst/>
              <a:ahLst/>
              <a:cxnLst/>
              <a:rect r="r" b="b" t="t" l="l"/>
              <a:pathLst>
                <a:path h="474785" w="21580379">
                  <a:moveTo>
                    <a:pt x="0" y="0"/>
                  </a:moveTo>
                  <a:lnTo>
                    <a:pt x="21580379" y="0"/>
                  </a:lnTo>
                  <a:lnTo>
                    <a:pt x="21580379" y="474785"/>
                  </a:lnTo>
                  <a:lnTo>
                    <a:pt x="0" y="474785"/>
                  </a:lnTo>
                  <a:close/>
                </a:path>
              </a:pathLst>
            </a:custGeom>
            <a:blipFill>
              <a:blip r:embed="rId2">
                <a:alphaModFix amt="0"/>
              </a:blip>
              <a:stretch>
                <a:fillRect l="0" t="-839429" r="0" b="-831873"/>
              </a:stretch>
            </a:blipFill>
          </p:spPr>
        </p:sp>
        <p:sp>
          <p:nvSpPr>
            <p:cNvPr name="TextBox 74" id="74"/>
            <p:cNvSpPr txBox="true"/>
            <p:nvPr/>
          </p:nvSpPr>
          <p:spPr>
            <a:xfrm>
              <a:off x="0" y="0"/>
              <a:ext cx="21580373" cy="474785"/>
            </a:xfrm>
            <a:prstGeom prst="rect">
              <a:avLst/>
            </a:prstGeom>
          </p:spPr>
          <p:txBody>
            <a:bodyPr anchor="ctr" rtlCol="false" tIns="0" lIns="0" bIns="0" rIns="0"/>
            <a:lstStyle/>
            <a:p>
              <a:pPr algn="l">
                <a:lnSpc>
                  <a:spcPts val="2279"/>
                </a:lnSpc>
              </a:pPr>
              <a:r>
                <a:rPr lang="en-US" sz="1899" b="true">
                  <a:solidFill>
                    <a:srgbClr val="E06E2A"/>
                  </a:solidFill>
                  <a:latin typeface="Aptos Bold"/>
                  <a:ea typeface="Aptos Bold"/>
                  <a:cs typeface="Aptos Bold"/>
                  <a:sym typeface="Aptos Bold"/>
                </a:rPr>
                <a:t>This is a solution to the assumed equations—not automatically a real ambulance departure time.</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98137" y="667283"/>
            <a:ext cx="16105565" cy="1803521"/>
          </a:xfrm>
          <a:prstGeom prst="rect">
            <a:avLst/>
          </a:prstGeom>
        </p:spPr>
        <p:txBody>
          <a:bodyPr anchor="t" rtlCol="false" tIns="0" lIns="0" bIns="0" rIns="0">
            <a:spAutoFit/>
          </a:bodyPr>
          <a:lstStyle/>
          <a:p>
            <a:pPr algn="l">
              <a:lnSpc>
                <a:spcPts val="2341"/>
              </a:lnSpc>
            </a:pPr>
            <a:r>
              <a:rPr lang="en-US" sz="1950" b="true">
                <a:solidFill>
                  <a:srgbClr val="0284C7"/>
                </a:solidFill>
                <a:latin typeface="Inter Bold"/>
                <a:ea typeface="Inter Bold"/>
                <a:cs typeface="Inter Bold"/>
                <a:sym typeface="Inter Bold"/>
              </a:rPr>
              <a:t>MATHEMATICAL FORMULATION &amp; SAFETY</a:t>
            </a:r>
          </a:p>
          <a:p>
            <a:pPr algn="l">
              <a:lnSpc>
                <a:spcPts val="6124"/>
              </a:lnSpc>
            </a:pPr>
            <a:r>
              <a:rPr lang="en-US" sz="5103" b="true">
                <a:solidFill>
                  <a:srgbClr val="0F172A"/>
                </a:solidFill>
                <a:latin typeface="Inter Bold"/>
                <a:ea typeface="Inter Bold"/>
                <a:cs typeface="Inter Bold"/>
                <a:sym typeface="Inter Bold"/>
              </a:rPr>
              <a:t>Congruence Mapping &amp; Green-Window Safety</a:t>
            </a:r>
          </a:p>
        </p:txBody>
      </p:sp>
      <p:sp>
        <p:nvSpPr>
          <p:cNvPr name="Freeform 3" id="3"/>
          <p:cNvSpPr/>
          <p:nvPr/>
        </p:nvSpPr>
        <p:spPr>
          <a:xfrm flipH="false" flipV="false" rot="0">
            <a:off x="652967" y="2934557"/>
            <a:ext cx="8818445" cy="6347660"/>
          </a:xfrm>
          <a:custGeom>
            <a:avLst/>
            <a:gdLst/>
            <a:ahLst/>
            <a:cxnLst/>
            <a:rect r="r" b="b" t="t" l="l"/>
            <a:pathLst>
              <a:path h="6347660" w="8818445">
                <a:moveTo>
                  <a:pt x="0" y="0"/>
                </a:moveTo>
                <a:lnTo>
                  <a:pt x="8818445" y="0"/>
                </a:lnTo>
                <a:lnTo>
                  <a:pt x="8818445" y="6347660"/>
                </a:lnTo>
                <a:lnTo>
                  <a:pt x="0" y="63476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509941" y="3363049"/>
            <a:ext cx="2538556" cy="535896"/>
            <a:chOff x="0" y="0"/>
            <a:chExt cx="3294380" cy="695452"/>
          </a:xfrm>
        </p:grpSpPr>
        <p:sp>
          <p:nvSpPr>
            <p:cNvPr name="Freeform 5" id="5"/>
            <p:cNvSpPr/>
            <p:nvPr/>
          </p:nvSpPr>
          <p:spPr>
            <a:xfrm flipH="false" flipV="false" rot="0">
              <a:off x="0" y="0"/>
              <a:ext cx="3294380" cy="695452"/>
            </a:xfrm>
            <a:custGeom>
              <a:avLst/>
              <a:gdLst/>
              <a:ahLst/>
              <a:cxnLst/>
              <a:rect r="r" b="b" t="t" l="l"/>
              <a:pathLst>
                <a:path h="695452" w="3294380">
                  <a:moveTo>
                    <a:pt x="0" y="104267"/>
                  </a:moveTo>
                  <a:cubicBezTo>
                    <a:pt x="0" y="46736"/>
                    <a:pt x="46736" y="0"/>
                    <a:pt x="104267" y="0"/>
                  </a:cubicBezTo>
                  <a:lnTo>
                    <a:pt x="3190113" y="0"/>
                  </a:lnTo>
                  <a:cubicBezTo>
                    <a:pt x="3247771" y="0"/>
                    <a:pt x="3294380" y="46736"/>
                    <a:pt x="3294380" y="104267"/>
                  </a:cubicBezTo>
                  <a:lnTo>
                    <a:pt x="3294380" y="591185"/>
                  </a:lnTo>
                  <a:cubicBezTo>
                    <a:pt x="3294380" y="648843"/>
                    <a:pt x="3247644" y="695452"/>
                    <a:pt x="3190113" y="695452"/>
                  </a:cubicBezTo>
                  <a:lnTo>
                    <a:pt x="104267" y="695452"/>
                  </a:lnTo>
                  <a:cubicBezTo>
                    <a:pt x="46736" y="695452"/>
                    <a:pt x="0" y="648843"/>
                    <a:pt x="0" y="591185"/>
                  </a:cubicBezTo>
                  <a:close/>
                </a:path>
              </a:pathLst>
            </a:custGeom>
            <a:solidFill>
              <a:srgbClr val="059669"/>
            </a:solidFill>
          </p:spPr>
        </p:sp>
      </p:grpSp>
      <p:sp>
        <p:nvSpPr>
          <p:cNvPr name="TextBox 6" id="6"/>
          <p:cNvSpPr txBox="true"/>
          <p:nvPr/>
        </p:nvSpPr>
        <p:spPr>
          <a:xfrm rot="0">
            <a:off x="1509941" y="3466138"/>
            <a:ext cx="2470814" cy="323883"/>
          </a:xfrm>
          <a:prstGeom prst="rect">
            <a:avLst/>
          </a:prstGeom>
        </p:spPr>
        <p:txBody>
          <a:bodyPr anchor="t" rtlCol="false" tIns="0" lIns="0" bIns="0" rIns="0">
            <a:spAutoFit/>
          </a:bodyPr>
          <a:lstStyle/>
          <a:p>
            <a:pPr algn="ctr">
              <a:lnSpc>
                <a:spcPts val="2580"/>
              </a:lnSpc>
            </a:pPr>
            <a:r>
              <a:rPr lang="en-US" sz="2150" b="true">
                <a:solidFill>
                  <a:srgbClr val="FFFFFF"/>
                </a:solidFill>
                <a:latin typeface="Inter Bold"/>
                <a:ea typeface="Inter Bold"/>
                <a:cs typeface="Inter Bold"/>
                <a:sym typeface="Inter Bold"/>
              </a:rPr>
              <a:t>TARGET PHASE</a:t>
            </a:r>
          </a:p>
        </p:txBody>
      </p:sp>
      <p:sp>
        <p:nvSpPr>
          <p:cNvPr name="TextBox 7" id="7"/>
          <p:cNvSpPr txBox="true"/>
          <p:nvPr/>
        </p:nvSpPr>
        <p:spPr>
          <a:xfrm rot="0">
            <a:off x="1509941" y="4108494"/>
            <a:ext cx="7961500" cy="990577"/>
          </a:xfrm>
          <a:prstGeom prst="rect">
            <a:avLst/>
          </a:prstGeom>
        </p:spPr>
        <p:txBody>
          <a:bodyPr anchor="t" rtlCol="false" tIns="0" lIns="0" bIns="0" rIns="0">
            <a:spAutoFit/>
          </a:bodyPr>
          <a:lstStyle/>
          <a:p>
            <a:pPr algn="l">
              <a:lnSpc>
                <a:spcPts val="3182"/>
              </a:lnSpc>
            </a:pPr>
            <a:r>
              <a:rPr lang="en-US" sz="2650">
                <a:solidFill>
                  <a:srgbClr val="64748B"/>
                </a:solidFill>
                <a:latin typeface="Inter"/>
                <a:ea typeface="Inter"/>
                <a:cs typeface="Inter"/>
                <a:sym typeface="Inter"/>
              </a:rPr>
              <a:t>Arrival Time Calculation:</a:t>
            </a:r>
          </a:p>
          <a:p>
            <a:pPr algn="l">
              <a:lnSpc>
                <a:spcPts val="4683"/>
              </a:lnSpc>
            </a:pPr>
            <a:r>
              <a:rPr lang="en-US" sz="3903" b="true">
                <a:solidFill>
                  <a:srgbClr val="0F172A"/>
                </a:solidFill>
                <a:latin typeface="Fira Code Bold"/>
                <a:ea typeface="Fira Code Bold"/>
                <a:cs typeface="Fira Code Bold"/>
                <a:sym typeface="Fira Code Bold"/>
              </a:rPr>
              <a:t>T + Dᵢ ≡ Oᵢ + rᵢ (mod Cᵢ)</a:t>
            </a:r>
          </a:p>
        </p:txBody>
      </p:sp>
      <p:grpSp>
        <p:nvGrpSpPr>
          <p:cNvPr name="Group 8" id="8"/>
          <p:cNvGrpSpPr/>
          <p:nvPr/>
        </p:nvGrpSpPr>
        <p:grpSpPr>
          <a:xfrm rot="0">
            <a:off x="1509941" y="6245657"/>
            <a:ext cx="7961471" cy="28575"/>
            <a:chOff x="0" y="0"/>
            <a:chExt cx="10615295" cy="38100"/>
          </a:xfrm>
        </p:grpSpPr>
        <p:sp>
          <p:nvSpPr>
            <p:cNvPr name="Freeform 9" id="9"/>
            <p:cNvSpPr/>
            <p:nvPr/>
          </p:nvSpPr>
          <p:spPr>
            <a:xfrm flipH="false" flipV="false" rot="0">
              <a:off x="0" y="0"/>
              <a:ext cx="10615295" cy="38100"/>
            </a:xfrm>
            <a:custGeom>
              <a:avLst/>
              <a:gdLst/>
              <a:ahLst/>
              <a:cxnLst/>
              <a:rect r="r" b="b" t="t" l="l"/>
              <a:pathLst>
                <a:path h="38100" w="10615295">
                  <a:moveTo>
                    <a:pt x="0" y="0"/>
                  </a:moveTo>
                  <a:lnTo>
                    <a:pt x="10615295" y="0"/>
                  </a:lnTo>
                  <a:lnTo>
                    <a:pt x="10615295" y="38100"/>
                  </a:lnTo>
                  <a:lnTo>
                    <a:pt x="0" y="38100"/>
                  </a:lnTo>
                  <a:close/>
                </a:path>
              </a:pathLst>
            </a:custGeom>
            <a:solidFill>
              <a:srgbClr val="E2E8F0"/>
            </a:solidFill>
          </p:spPr>
        </p:sp>
      </p:grpSp>
      <p:sp>
        <p:nvSpPr>
          <p:cNvPr name="TextBox 10" id="10"/>
          <p:cNvSpPr txBox="true"/>
          <p:nvPr/>
        </p:nvSpPr>
        <p:spPr>
          <a:xfrm rot="0">
            <a:off x="1509941" y="6501146"/>
            <a:ext cx="7961500" cy="2489864"/>
          </a:xfrm>
          <a:prstGeom prst="rect">
            <a:avLst/>
          </a:prstGeom>
        </p:spPr>
        <p:txBody>
          <a:bodyPr anchor="t" rtlCol="false" tIns="0" lIns="0" bIns="0" rIns="0">
            <a:spAutoFit/>
          </a:bodyPr>
          <a:lstStyle/>
          <a:p>
            <a:pPr algn="l">
              <a:lnSpc>
                <a:spcPts val="2702"/>
              </a:lnSpc>
            </a:pPr>
            <a:r>
              <a:rPr lang="en-US" sz="2250">
                <a:solidFill>
                  <a:srgbClr val="64748B"/>
                </a:solidFill>
                <a:latin typeface="Inter"/>
                <a:ea typeface="Inter"/>
                <a:cs typeface="Inter"/>
                <a:sym typeface="Inter"/>
              </a:rPr>
              <a:t>Solving for Departure (T):</a:t>
            </a:r>
          </a:p>
          <a:p>
            <a:pPr algn="l">
              <a:lnSpc>
                <a:spcPts val="4683"/>
              </a:lnSpc>
            </a:pPr>
            <a:r>
              <a:rPr lang="en-US" sz="3903" b="true">
                <a:solidFill>
                  <a:srgbClr val="059669"/>
                </a:solidFill>
                <a:latin typeface="Fira Code Bold"/>
                <a:ea typeface="Fira Code Bold"/>
                <a:cs typeface="Fira Code Bold"/>
                <a:sym typeface="Fira Code Bold"/>
              </a:rPr>
              <a:t>T ≡ Oᵢ + rᵢ - Dᵢ (mod Cᵢ)</a:t>
            </a:r>
          </a:p>
          <a:p>
            <a:pPr algn="l">
              <a:lnSpc>
                <a:spcPts val="2070"/>
              </a:lnSpc>
            </a:pPr>
            <a:r>
              <a:rPr lang="en-US" sz="1725">
                <a:solidFill>
                  <a:srgbClr val="64748B"/>
                </a:solidFill>
                <a:latin typeface="Inter"/>
                <a:ea typeface="Inter"/>
                <a:cs typeface="Inter"/>
                <a:sym typeface="Inter"/>
              </a:rPr>
              <a:t>T: Departure | Dᵢ: Travel Delay | Oᵢ: Offset | rᵢ: Green Target | Cᵢ: Cycle</a:t>
            </a:r>
          </a:p>
        </p:txBody>
      </p:sp>
      <p:sp>
        <p:nvSpPr>
          <p:cNvPr name="Freeform 11" id="11"/>
          <p:cNvSpPr/>
          <p:nvPr/>
        </p:nvSpPr>
        <p:spPr>
          <a:xfrm flipH="false" flipV="false" rot="0">
            <a:off x="10278361" y="2934557"/>
            <a:ext cx="6896681" cy="6347660"/>
          </a:xfrm>
          <a:custGeom>
            <a:avLst/>
            <a:gdLst/>
            <a:ahLst/>
            <a:cxnLst/>
            <a:rect r="r" b="b" t="t" l="l"/>
            <a:pathLst>
              <a:path h="6347660" w="6896681">
                <a:moveTo>
                  <a:pt x="0" y="0"/>
                </a:moveTo>
                <a:lnTo>
                  <a:pt x="6896681" y="0"/>
                </a:lnTo>
                <a:lnTo>
                  <a:pt x="6896681" y="6347660"/>
                </a:lnTo>
                <a:lnTo>
                  <a:pt x="0" y="63476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2" id="12"/>
          <p:cNvGrpSpPr/>
          <p:nvPr/>
        </p:nvGrpSpPr>
        <p:grpSpPr>
          <a:xfrm rot="0">
            <a:off x="10706843" y="3240958"/>
            <a:ext cx="3706216" cy="612317"/>
            <a:chOff x="0" y="0"/>
            <a:chExt cx="4209415" cy="695452"/>
          </a:xfrm>
        </p:grpSpPr>
        <p:sp>
          <p:nvSpPr>
            <p:cNvPr name="Freeform 13" id="13"/>
            <p:cNvSpPr/>
            <p:nvPr/>
          </p:nvSpPr>
          <p:spPr>
            <a:xfrm flipH="false" flipV="false" rot="0">
              <a:off x="0" y="0"/>
              <a:ext cx="4209415" cy="695452"/>
            </a:xfrm>
            <a:custGeom>
              <a:avLst/>
              <a:gdLst/>
              <a:ahLst/>
              <a:cxnLst/>
              <a:rect r="r" b="b" t="t" l="l"/>
              <a:pathLst>
                <a:path h="695452" w="4209415">
                  <a:moveTo>
                    <a:pt x="0" y="104267"/>
                  </a:moveTo>
                  <a:cubicBezTo>
                    <a:pt x="0" y="46736"/>
                    <a:pt x="46736" y="0"/>
                    <a:pt x="104267" y="0"/>
                  </a:cubicBezTo>
                  <a:lnTo>
                    <a:pt x="4105148" y="0"/>
                  </a:lnTo>
                  <a:cubicBezTo>
                    <a:pt x="4162806" y="0"/>
                    <a:pt x="4209415" y="46736"/>
                    <a:pt x="4209415" y="104267"/>
                  </a:cubicBezTo>
                  <a:lnTo>
                    <a:pt x="4209415" y="591185"/>
                  </a:lnTo>
                  <a:cubicBezTo>
                    <a:pt x="4209415" y="648843"/>
                    <a:pt x="4162679" y="695452"/>
                    <a:pt x="4105148" y="695452"/>
                  </a:cubicBezTo>
                  <a:lnTo>
                    <a:pt x="104267" y="695452"/>
                  </a:lnTo>
                  <a:cubicBezTo>
                    <a:pt x="46736" y="695452"/>
                    <a:pt x="0" y="648843"/>
                    <a:pt x="0" y="591185"/>
                  </a:cubicBezTo>
                  <a:close/>
                </a:path>
              </a:pathLst>
            </a:custGeom>
            <a:solidFill>
              <a:srgbClr val="EA580C"/>
            </a:solidFill>
          </p:spPr>
        </p:sp>
      </p:grpSp>
      <p:sp>
        <p:nvSpPr>
          <p:cNvPr name="TextBox 14" id="14"/>
          <p:cNvSpPr txBox="true"/>
          <p:nvPr/>
        </p:nvSpPr>
        <p:spPr>
          <a:xfrm rot="0">
            <a:off x="10706843" y="3385175"/>
            <a:ext cx="3706216" cy="314356"/>
          </a:xfrm>
          <a:prstGeom prst="rect">
            <a:avLst/>
          </a:prstGeom>
        </p:spPr>
        <p:txBody>
          <a:bodyPr anchor="t" rtlCol="false" tIns="0" lIns="0" bIns="0" rIns="0">
            <a:spAutoFit/>
          </a:bodyPr>
          <a:lstStyle/>
          <a:p>
            <a:pPr algn="ctr">
              <a:lnSpc>
                <a:spcPts val="2460"/>
              </a:lnSpc>
            </a:pPr>
            <a:r>
              <a:rPr lang="en-US" sz="2050" b="true">
                <a:solidFill>
                  <a:srgbClr val="FFFFFF"/>
                </a:solidFill>
                <a:latin typeface="Inter Bold"/>
                <a:ea typeface="Inter Bold"/>
                <a:cs typeface="Inter Bold"/>
                <a:sym typeface="Inter Bold"/>
              </a:rPr>
              <a:t>CRITICAL SAFETY CHECK</a:t>
            </a:r>
          </a:p>
        </p:txBody>
      </p:sp>
      <p:sp>
        <p:nvSpPr>
          <p:cNvPr name="TextBox 15" id="15"/>
          <p:cNvSpPr txBox="true"/>
          <p:nvPr/>
        </p:nvSpPr>
        <p:spPr>
          <a:xfrm rot="0">
            <a:off x="10547343" y="4240782"/>
            <a:ext cx="6039755" cy="1085891"/>
          </a:xfrm>
          <a:prstGeom prst="rect">
            <a:avLst/>
          </a:prstGeom>
        </p:spPr>
        <p:txBody>
          <a:bodyPr anchor="t" rtlCol="false" tIns="0" lIns="0" bIns="0" rIns="0">
            <a:spAutoFit/>
          </a:bodyPr>
          <a:lstStyle/>
          <a:p>
            <a:pPr algn="l">
              <a:lnSpc>
                <a:spcPts val="3481"/>
              </a:lnSpc>
            </a:pPr>
            <a:r>
              <a:rPr lang="en-US" sz="2901" b="true">
                <a:solidFill>
                  <a:srgbClr val="0F172A"/>
                </a:solidFill>
                <a:latin typeface="Inter Bold"/>
                <a:ea typeface="Inter Bold"/>
                <a:cs typeface="Inter Bold"/>
                <a:sym typeface="Inter Bold"/>
              </a:rPr>
              <a:t>Green-Window Feasibility</a:t>
            </a:r>
          </a:p>
          <a:p>
            <a:pPr algn="l">
              <a:lnSpc>
                <a:spcPts val="2580"/>
              </a:lnSpc>
            </a:pPr>
            <a:r>
              <a:rPr lang="en-US" sz="2150">
                <a:solidFill>
                  <a:srgbClr val="64748B"/>
                </a:solidFill>
                <a:latin typeface="Inter"/>
                <a:ea typeface="Inter"/>
                <a:cs typeface="Inter"/>
                <a:sym typeface="Inter"/>
              </a:rPr>
              <a:t>We must verify that computed arrival time falls within physical green duration.</a:t>
            </a:r>
          </a:p>
        </p:txBody>
      </p:sp>
      <p:sp>
        <p:nvSpPr>
          <p:cNvPr name="Freeform 16" id="16"/>
          <p:cNvSpPr/>
          <p:nvPr/>
        </p:nvSpPr>
        <p:spPr>
          <a:xfrm flipH="false" flipV="false" rot="0">
            <a:off x="10690155" y="5679900"/>
            <a:ext cx="6073150" cy="1200160"/>
          </a:xfrm>
          <a:custGeom>
            <a:avLst/>
            <a:gdLst/>
            <a:ahLst/>
            <a:cxnLst/>
            <a:rect r="r" b="b" t="t" l="l"/>
            <a:pathLst>
              <a:path h="1200160" w="6073150">
                <a:moveTo>
                  <a:pt x="0" y="0"/>
                </a:moveTo>
                <a:lnTo>
                  <a:pt x="6073150" y="0"/>
                </a:lnTo>
                <a:lnTo>
                  <a:pt x="6073150" y="1200160"/>
                </a:lnTo>
                <a:lnTo>
                  <a:pt x="0" y="12001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7" id="17"/>
          <p:cNvGrpSpPr/>
          <p:nvPr/>
        </p:nvGrpSpPr>
        <p:grpSpPr>
          <a:xfrm rot="0">
            <a:off x="10706843" y="5696588"/>
            <a:ext cx="164687" cy="1166812"/>
            <a:chOff x="0" y="0"/>
            <a:chExt cx="219583" cy="1555750"/>
          </a:xfrm>
        </p:grpSpPr>
        <p:sp>
          <p:nvSpPr>
            <p:cNvPr name="Freeform 18" id="18"/>
            <p:cNvSpPr/>
            <p:nvPr/>
          </p:nvSpPr>
          <p:spPr>
            <a:xfrm flipH="false" flipV="false" rot="0">
              <a:off x="0" y="0"/>
              <a:ext cx="219583" cy="1555750"/>
            </a:xfrm>
            <a:custGeom>
              <a:avLst/>
              <a:gdLst/>
              <a:ahLst/>
              <a:cxnLst/>
              <a:rect r="r" b="b" t="t" l="l"/>
              <a:pathLst>
                <a:path h="1555750" w="219583">
                  <a:moveTo>
                    <a:pt x="0" y="0"/>
                  </a:moveTo>
                  <a:lnTo>
                    <a:pt x="219583" y="0"/>
                  </a:lnTo>
                  <a:lnTo>
                    <a:pt x="219583" y="1555750"/>
                  </a:lnTo>
                  <a:lnTo>
                    <a:pt x="0" y="1555750"/>
                  </a:lnTo>
                  <a:close/>
                </a:path>
              </a:pathLst>
            </a:custGeom>
            <a:solidFill>
              <a:srgbClr val="059669"/>
            </a:solidFill>
          </p:spPr>
        </p:sp>
      </p:grpSp>
      <p:sp>
        <p:nvSpPr>
          <p:cNvPr name="TextBox 19" id="19"/>
          <p:cNvSpPr txBox="true"/>
          <p:nvPr/>
        </p:nvSpPr>
        <p:spPr>
          <a:xfrm rot="0">
            <a:off x="11050010" y="5971127"/>
            <a:ext cx="5490686" cy="686333"/>
          </a:xfrm>
          <a:prstGeom prst="rect">
            <a:avLst/>
          </a:prstGeom>
        </p:spPr>
        <p:txBody>
          <a:bodyPr anchor="t" rtlCol="false" tIns="0" lIns="0" bIns="0" rIns="0">
            <a:spAutoFit/>
          </a:bodyPr>
          <a:lstStyle/>
          <a:p>
            <a:pPr algn="l">
              <a:lnSpc>
                <a:spcPts val="3422"/>
              </a:lnSpc>
            </a:pPr>
            <a:r>
              <a:rPr lang="en-US" sz="2852" b="true">
                <a:solidFill>
                  <a:srgbClr val="0F172A"/>
                </a:solidFill>
                <a:latin typeface="Fira Code Bold"/>
                <a:ea typeface="Fira Code Bold"/>
                <a:cs typeface="Fira Code Bold"/>
                <a:sym typeface="Fira Code Bold"/>
              </a:rPr>
              <a:t>0 ≤ (tᵢ - Oᵢ) mod Cᵢ &lt; Gᵢ</a:t>
            </a:r>
          </a:p>
        </p:txBody>
      </p:sp>
      <p:grpSp>
        <p:nvGrpSpPr>
          <p:cNvPr name="Group 20" id="20"/>
          <p:cNvGrpSpPr/>
          <p:nvPr/>
        </p:nvGrpSpPr>
        <p:grpSpPr>
          <a:xfrm rot="0">
            <a:off x="12216784" y="7069264"/>
            <a:ext cx="2196274" cy="2045303"/>
            <a:chOff x="0" y="0"/>
            <a:chExt cx="2928366" cy="2727071"/>
          </a:xfrm>
        </p:grpSpPr>
        <p:sp>
          <p:nvSpPr>
            <p:cNvPr name="Freeform 21" id="21" descr="slide_8_Picture_3.png"/>
            <p:cNvSpPr/>
            <p:nvPr/>
          </p:nvSpPr>
          <p:spPr>
            <a:xfrm flipH="false" flipV="false" rot="0">
              <a:off x="0" y="0"/>
              <a:ext cx="2928366" cy="2727071"/>
            </a:xfrm>
            <a:custGeom>
              <a:avLst/>
              <a:gdLst/>
              <a:ahLst/>
              <a:cxnLst/>
              <a:rect r="r" b="b" t="t" l="l"/>
              <a:pathLst>
                <a:path h="2727071" w="2928366">
                  <a:moveTo>
                    <a:pt x="0" y="0"/>
                  </a:moveTo>
                  <a:lnTo>
                    <a:pt x="2928366" y="0"/>
                  </a:lnTo>
                  <a:lnTo>
                    <a:pt x="2928366" y="2727071"/>
                  </a:lnTo>
                  <a:lnTo>
                    <a:pt x="0" y="2727071"/>
                  </a:lnTo>
                  <a:lnTo>
                    <a:pt x="0" y="0"/>
                  </a:lnTo>
                  <a:close/>
                </a:path>
              </a:pathLst>
            </a:custGeom>
            <a:blipFill>
              <a:blip r:embed="rId8"/>
              <a:stretch>
                <a:fillRect l="0" t="-86" r="0" b="-85"/>
              </a:stretch>
            </a:blipFill>
          </p:spPr>
        </p:sp>
      </p:grpSp>
      <p:grpSp>
        <p:nvGrpSpPr>
          <p:cNvPr name="Group 22" id="22"/>
          <p:cNvGrpSpPr/>
          <p:nvPr/>
        </p:nvGrpSpPr>
        <p:grpSpPr>
          <a:xfrm rot="0">
            <a:off x="0" y="9768249"/>
            <a:ext cx="18287524" cy="516293"/>
            <a:chOff x="0" y="0"/>
            <a:chExt cx="24383365" cy="688391"/>
          </a:xfrm>
        </p:grpSpPr>
        <p:sp>
          <p:nvSpPr>
            <p:cNvPr name="Freeform 23" id="23"/>
            <p:cNvSpPr/>
            <p:nvPr/>
          </p:nvSpPr>
          <p:spPr>
            <a:xfrm flipH="false" flipV="false" rot="0">
              <a:off x="0" y="-23"/>
              <a:ext cx="24383364" cy="688386"/>
            </a:xfrm>
            <a:custGeom>
              <a:avLst/>
              <a:gdLst/>
              <a:ahLst/>
              <a:cxnLst/>
              <a:rect r="r" b="b" t="t" l="l"/>
              <a:pathLst>
                <a:path h="688386" w="24383364">
                  <a:moveTo>
                    <a:pt x="0" y="83589"/>
                  </a:moveTo>
                  <a:cubicBezTo>
                    <a:pt x="8127746" y="-205971"/>
                    <a:pt x="16255619" y="373149"/>
                    <a:pt x="24383364" y="83589"/>
                  </a:cubicBezTo>
                  <a:lnTo>
                    <a:pt x="24383364" y="604797"/>
                  </a:lnTo>
                  <a:cubicBezTo>
                    <a:pt x="16255619" y="894357"/>
                    <a:pt x="8127746" y="315237"/>
                    <a:pt x="0" y="604797"/>
                  </a:cubicBezTo>
                  <a:close/>
                </a:path>
              </a:pathLst>
            </a:custGeom>
            <a:solidFill>
              <a:srgbClr val="9FC7AA"/>
            </a:solid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98137" y="3431677"/>
            <a:ext cx="3500342" cy="5216176"/>
            <a:chOff x="0" y="0"/>
            <a:chExt cx="4667123" cy="6954901"/>
          </a:xfrm>
        </p:grpSpPr>
        <p:sp>
          <p:nvSpPr>
            <p:cNvPr name="Freeform 3" id="3"/>
            <p:cNvSpPr/>
            <p:nvPr/>
          </p:nvSpPr>
          <p:spPr>
            <a:xfrm flipH="false" flipV="false" rot="0">
              <a:off x="0" y="0"/>
              <a:ext cx="4667123" cy="6954901"/>
            </a:xfrm>
            <a:custGeom>
              <a:avLst/>
              <a:gdLst/>
              <a:ahLst/>
              <a:cxnLst/>
              <a:rect r="r" b="b" t="t" l="l"/>
              <a:pathLst>
                <a:path h="6954901" w="4667123">
                  <a:moveTo>
                    <a:pt x="0" y="373380"/>
                  </a:moveTo>
                  <a:cubicBezTo>
                    <a:pt x="0" y="167132"/>
                    <a:pt x="167132" y="0"/>
                    <a:pt x="373380" y="0"/>
                  </a:cubicBezTo>
                  <a:lnTo>
                    <a:pt x="4293743" y="0"/>
                  </a:lnTo>
                  <a:cubicBezTo>
                    <a:pt x="4499991" y="0"/>
                    <a:pt x="4667123" y="167132"/>
                    <a:pt x="4667123" y="373380"/>
                  </a:cubicBezTo>
                  <a:lnTo>
                    <a:pt x="4667123" y="6581521"/>
                  </a:lnTo>
                  <a:cubicBezTo>
                    <a:pt x="4667123" y="6787769"/>
                    <a:pt x="4499991" y="6954901"/>
                    <a:pt x="4293743" y="6954901"/>
                  </a:cubicBezTo>
                  <a:lnTo>
                    <a:pt x="373380" y="6954901"/>
                  </a:lnTo>
                  <a:cubicBezTo>
                    <a:pt x="167132" y="6954901"/>
                    <a:pt x="0" y="6787769"/>
                    <a:pt x="0" y="6581521"/>
                  </a:cubicBezTo>
                  <a:close/>
                </a:path>
              </a:pathLst>
            </a:custGeom>
            <a:solidFill>
              <a:srgbClr val="F0F9FF"/>
            </a:solidFill>
          </p:spPr>
        </p:sp>
      </p:grpSp>
      <p:grpSp>
        <p:nvGrpSpPr>
          <p:cNvPr name="Group 4" id="4"/>
          <p:cNvGrpSpPr/>
          <p:nvPr/>
        </p:nvGrpSpPr>
        <p:grpSpPr>
          <a:xfrm rot="0">
            <a:off x="2525716" y="4118019"/>
            <a:ext cx="645128" cy="576548"/>
            <a:chOff x="0" y="0"/>
            <a:chExt cx="860171" cy="768731"/>
          </a:xfrm>
        </p:grpSpPr>
        <p:sp>
          <p:nvSpPr>
            <p:cNvPr name="Freeform 5" id="5" descr="slide_9_Picture_8.png"/>
            <p:cNvSpPr/>
            <p:nvPr/>
          </p:nvSpPr>
          <p:spPr>
            <a:xfrm flipH="false" flipV="false" rot="0">
              <a:off x="0" y="0"/>
              <a:ext cx="860171" cy="768731"/>
            </a:xfrm>
            <a:custGeom>
              <a:avLst/>
              <a:gdLst/>
              <a:ahLst/>
              <a:cxnLst/>
              <a:rect r="r" b="b" t="t" l="l"/>
              <a:pathLst>
                <a:path h="768731" w="860171">
                  <a:moveTo>
                    <a:pt x="0" y="0"/>
                  </a:moveTo>
                  <a:lnTo>
                    <a:pt x="860171" y="0"/>
                  </a:lnTo>
                  <a:lnTo>
                    <a:pt x="860171" y="768731"/>
                  </a:lnTo>
                  <a:lnTo>
                    <a:pt x="0" y="768731"/>
                  </a:lnTo>
                  <a:lnTo>
                    <a:pt x="0" y="0"/>
                  </a:lnTo>
                  <a:close/>
                </a:path>
              </a:pathLst>
            </a:custGeom>
            <a:blipFill>
              <a:blip r:embed="rId2"/>
              <a:stretch>
                <a:fillRect l="-134" t="0" r="-134" b="0"/>
              </a:stretch>
            </a:blipFill>
          </p:spPr>
        </p:sp>
      </p:grpSp>
      <p:sp>
        <p:nvSpPr>
          <p:cNvPr name="TextBox 6" id="6"/>
          <p:cNvSpPr txBox="true"/>
          <p:nvPr/>
        </p:nvSpPr>
        <p:spPr>
          <a:xfrm rot="0">
            <a:off x="1372676" y="5353421"/>
            <a:ext cx="2951245" cy="438205"/>
          </a:xfrm>
          <a:prstGeom prst="rect">
            <a:avLst/>
          </a:prstGeom>
        </p:spPr>
        <p:txBody>
          <a:bodyPr anchor="t" rtlCol="false" tIns="0" lIns="0" bIns="0" rIns="0">
            <a:spAutoFit/>
          </a:bodyPr>
          <a:lstStyle/>
          <a:p>
            <a:pPr algn="ctr">
              <a:lnSpc>
                <a:spcPts val="3481"/>
              </a:lnSpc>
            </a:pPr>
            <a:r>
              <a:rPr lang="en-US" sz="2901" b="true">
                <a:solidFill>
                  <a:srgbClr val="0369A1"/>
                </a:solidFill>
                <a:latin typeface="Inter Bold"/>
                <a:ea typeface="Inter Bold"/>
                <a:cs typeface="Inter Bold"/>
                <a:sym typeface="Inter Bold"/>
              </a:rPr>
              <a:t>1. Inputs</a:t>
            </a:r>
          </a:p>
        </p:txBody>
      </p:sp>
      <p:sp>
        <p:nvSpPr>
          <p:cNvPr name="TextBox 7" id="7"/>
          <p:cNvSpPr txBox="true"/>
          <p:nvPr/>
        </p:nvSpPr>
        <p:spPr>
          <a:xfrm rot="0">
            <a:off x="1372676" y="6167504"/>
            <a:ext cx="2951245" cy="666778"/>
          </a:xfrm>
          <a:prstGeom prst="rect">
            <a:avLst/>
          </a:prstGeom>
        </p:spPr>
        <p:txBody>
          <a:bodyPr anchor="t" rtlCol="false" tIns="0" lIns="0" bIns="0" rIns="0">
            <a:spAutoFit/>
          </a:bodyPr>
          <a:lstStyle/>
          <a:p>
            <a:pPr algn="ctr">
              <a:lnSpc>
                <a:spcPts val="2670"/>
              </a:lnSpc>
            </a:pPr>
            <a:r>
              <a:rPr lang="en-US" sz="2225">
                <a:solidFill>
                  <a:srgbClr val="075985"/>
                </a:solidFill>
                <a:latin typeface="Inter"/>
                <a:ea typeface="Inter"/>
                <a:cs typeface="Inter"/>
                <a:sym typeface="Inter"/>
              </a:rPr>
              <a:t>Cycle lengths, offsets (Cᵢ, Oᵢ, Dᵢ).</a:t>
            </a:r>
          </a:p>
        </p:txBody>
      </p:sp>
      <p:grpSp>
        <p:nvGrpSpPr>
          <p:cNvPr name="Group 8" id="8"/>
          <p:cNvGrpSpPr/>
          <p:nvPr/>
        </p:nvGrpSpPr>
        <p:grpSpPr>
          <a:xfrm rot="0">
            <a:off x="5284784" y="3431677"/>
            <a:ext cx="3500342" cy="5216176"/>
            <a:chOff x="0" y="0"/>
            <a:chExt cx="4667123" cy="6954901"/>
          </a:xfrm>
        </p:grpSpPr>
        <p:sp>
          <p:nvSpPr>
            <p:cNvPr name="Freeform 9" id="9"/>
            <p:cNvSpPr/>
            <p:nvPr/>
          </p:nvSpPr>
          <p:spPr>
            <a:xfrm flipH="false" flipV="false" rot="0">
              <a:off x="0" y="0"/>
              <a:ext cx="4667123" cy="6954901"/>
            </a:xfrm>
            <a:custGeom>
              <a:avLst/>
              <a:gdLst/>
              <a:ahLst/>
              <a:cxnLst/>
              <a:rect r="r" b="b" t="t" l="l"/>
              <a:pathLst>
                <a:path h="6954901" w="4667123">
                  <a:moveTo>
                    <a:pt x="0" y="373380"/>
                  </a:moveTo>
                  <a:cubicBezTo>
                    <a:pt x="0" y="167132"/>
                    <a:pt x="167132" y="0"/>
                    <a:pt x="373380" y="0"/>
                  </a:cubicBezTo>
                  <a:lnTo>
                    <a:pt x="4293743" y="0"/>
                  </a:lnTo>
                  <a:cubicBezTo>
                    <a:pt x="4499991" y="0"/>
                    <a:pt x="4667123" y="167132"/>
                    <a:pt x="4667123" y="373380"/>
                  </a:cubicBezTo>
                  <a:lnTo>
                    <a:pt x="4667123" y="6581521"/>
                  </a:lnTo>
                  <a:cubicBezTo>
                    <a:pt x="4667123" y="6787769"/>
                    <a:pt x="4499991" y="6954901"/>
                    <a:pt x="4293743" y="6954901"/>
                  </a:cubicBezTo>
                  <a:lnTo>
                    <a:pt x="373380" y="6954901"/>
                  </a:lnTo>
                  <a:cubicBezTo>
                    <a:pt x="167132" y="6954901"/>
                    <a:pt x="0" y="6787769"/>
                    <a:pt x="0" y="6581521"/>
                  </a:cubicBezTo>
                  <a:close/>
                </a:path>
              </a:pathLst>
            </a:custGeom>
            <a:solidFill>
              <a:srgbClr val="F0FDFA"/>
            </a:solidFill>
          </p:spPr>
        </p:sp>
      </p:grpSp>
      <p:grpSp>
        <p:nvGrpSpPr>
          <p:cNvPr name="Group 10" id="10"/>
          <p:cNvGrpSpPr/>
          <p:nvPr/>
        </p:nvGrpSpPr>
        <p:grpSpPr>
          <a:xfrm rot="0">
            <a:off x="6822186" y="4118019"/>
            <a:ext cx="425482" cy="576548"/>
            <a:chOff x="0" y="0"/>
            <a:chExt cx="567309" cy="768731"/>
          </a:xfrm>
        </p:grpSpPr>
        <p:sp>
          <p:nvSpPr>
            <p:cNvPr name="Freeform 11" id="11" descr="slide_9_Picture_9.png"/>
            <p:cNvSpPr/>
            <p:nvPr/>
          </p:nvSpPr>
          <p:spPr>
            <a:xfrm flipH="false" flipV="false" rot="0">
              <a:off x="0" y="0"/>
              <a:ext cx="567309" cy="768731"/>
            </a:xfrm>
            <a:custGeom>
              <a:avLst/>
              <a:gdLst/>
              <a:ahLst/>
              <a:cxnLst/>
              <a:rect r="r" b="b" t="t" l="l"/>
              <a:pathLst>
                <a:path h="768731" w="567309">
                  <a:moveTo>
                    <a:pt x="0" y="0"/>
                  </a:moveTo>
                  <a:lnTo>
                    <a:pt x="567309" y="0"/>
                  </a:lnTo>
                  <a:lnTo>
                    <a:pt x="567309" y="768731"/>
                  </a:lnTo>
                  <a:lnTo>
                    <a:pt x="0" y="768731"/>
                  </a:lnTo>
                  <a:lnTo>
                    <a:pt x="0" y="0"/>
                  </a:lnTo>
                  <a:close/>
                </a:path>
              </a:pathLst>
            </a:custGeom>
            <a:blipFill>
              <a:blip r:embed="rId3"/>
              <a:stretch>
                <a:fillRect l="-1226" t="0" r="-1229" b="0"/>
              </a:stretch>
            </a:blipFill>
          </p:spPr>
        </p:sp>
      </p:grpSp>
      <p:sp>
        <p:nvSpPr>
          <p:cNvPr name="TextBox 12" id="12"/>
          <p:cNvSpPr txBox="true"/>
          <p:nvPr/>
        </p:nvSpPr>
        <p:spPr>
          <a:xfrm rot="0">
            <a:off x="5559323" y="5353421"/>
            <a:ext cx="2951245" cy="438205"/>
          </a:xfrm>
          <a:prstGeom prst="rect">
            <a:avLst/>
          </a:prstGeom>
        </p:spPr>
        <p:txBody>
          <a:bodyPr anchor="t" rtlCol="false" tIns="0" lIns="0" bIns="0" rIns="0">
            <a:spAutoFit/>
          </a:bodyPr>
          <a:lstStyle/>
          <a:p>
            <a:pPr algn="ctr">
              <a:lnSpc>
                <a:spcPts val="3481"/>
              </a:lnSpc>
            </a:pPr>
            <a:r>
              <a:rPr lang="en-US" sz="2901" b="true">
                <a:solidFill>
                  <a:srgbClr val="0F766E"/>
                </a:solidFill>
                <a:latin typeface="Inter Bold"/>
                <a:ea typeface="Inter Bold"/>
                <a:cs typeface="Inter Bold"/>
                <a:sym typeface="Inter Bold"/>
              </a:rPr>
              <a:t>2. Solver</a:t>
            </a:r>
          </a:p>
        </p:txBody>
      </p:sp>
      <p:sp>
        <p:nvSpPr>
          <p:cNvPr name="TextBox 13" id="13"/>
          <p:cNvSpPr txBox="true"/>
          <p:nvPr/>
        </p:nvSpPr>
        <p:spPr>
          <a:xfrm rot="0">
            <a:off x="5559323" y="6167504"/>
            <a:ext cx="2951245" cy="666778"/>
          </a:xfrm>
          <a:prstGeom prst="rect">
            <a:avLst/>
          </a:prstGeom>
        </p:spPr>
        <p:txBody>
          <a:bodyPr anchor="t" rtlCol="false" tIns="0" lIns="0" bIns="0" rIns="0">
            <a:spAutoFit/>
          </a:bodyPr>
          <a:lstStyle/>
          <a:p>
            <a:pPr algn="ctr">
              <a:lnSpc>
                <a:spcPts val="2670"/>
              </a:lnSpc>
            </a:pPr>
            <a:r>
              <a:rPr lang="en-US" sz="2225">
                <a:solidFill>
                  <a:srgbClr val="115E59"/>
                </a:solidFill>
                <a:latin typeface="Inter"/>
                <a:ea typeface="Inter"/>
                <a:cs typeface="Inter"/>
                <a:sym typeface="Inter"/>
              </a:rPr>
              <a:t>Generate &amp; solve CRT congruences.</a:t>
            </a:r>
          </a:p>
        </p:txBody>
      </p:sp>
      <p:grpSp>
        <p:nvGrpSpPr>
          <p:cNvPr name="Group 14" id="14"/>
          <p:cNvGrpSpPr/>
          <p:nvPr/>
        </p:nvGrpSpPr>
        <p:grpSpPr>
          <a:xfrm rot="0">
            <a:off x="9471441" y="3431677"/>
            <a:ext cx="3500342" cy="5216176"/>
            <a:chOff x="0" y="0"/>
            <a:chExt cx="4667123" cy="6954901"/>
          </a:xfrm>
        </p:grpSpPr>
        <p:sp>
          <p:nvSpPr>
            <p:cNvPr name="Freeform 15" id="15"/>
            <p:cNvSpPr/>
            <p:nvPr/>
          </p:nvSpPr>
          <p:spPr>
            <a:xfrm flipH="false" flipV="false" rot="0">
              <a:off x="0" y="0"/>
              <a:ext cx="4667123" cy="6954901"/>
            </a:xfrm>
            <a:custGeom>
              <a:avLst/>
              <a:gdLst/>
              <a:ahLst/>
              <a:cxnLst/>
              <a:rect r="r" b="b" t="t" l="l"/>
              <a:pathLst>
                <a:path h="6954901" w="4667123">
                  <a:moveTo>
                    <a:pt x="0" y="373380"/>
                  </a:moveTo>
                  <a:cubicBezTo>
                    <a:pt x="0" y="167132"/>
                    <a:pt x="167132" y="0"/>
                    <a:pt x="373380" y="0"/>
                  </a:cubicBezTo>
                  <a:lnTo>
                    <a:pt x="4293743" y="0"/>
                  </a:lnTo>
                  <a:cubicBezTo>
                    <a:pt x="4499991" y="0"/>
                    <a:pt x="4667123" y="167132"/>
                    <a:pt x="4667123" y="373380"/>
                  </a:cubicBezTo>
                  <a:lnTo>
                    <a:pt x="4667123" y="6581521"/>
                  </a:lnTo>
                  <a:cubicBezTo>
                    <a:pt x="4667123" y="6787769"/>
                    <a:pt x="4499991" y="6954901"/>
                    <a:pt x="4293743" y="6954901"/>
                  </a:cubicBezTo>
                  <a:lnTo>
                    <a:pt x="373380" y="6954901"/>
                  </a:lnTo>
                  <a:cubicBezTo>
                    <a:pt x="167132" y="6954901"/>
                    <a:pt x="0" y="6787769"/>
                    <a:pt x="0" y="6581521"/>
                  </a:cubicBezTo>
                  <a:close/>
                </a:path>
              </a:pathLst>
            </a:custGeom>
            <a:solidFill>
              <a:srgbClr val="FFF7ED"/>
            </a:solidFill>
          </p:spPr>
        </p:sp>
      </p:grpSp>
      <p:grpSp>
        <p:nvGrpSpPr>
          <p:cNvPr name="Group 16" id="16"/>
          <p:cNvGrpSpPr/>
          <p:nvPr/>
        </p:nvGrpSpPr>
        <p:grpSpPr>
          <a:xfrm rot="0">
            <a:off x="10933338" y="4118019"/>
            <a:ext cx="576548" cy="576548"/>
            <a:chOff x="0" y="0"/>
            <a:chExt cx="768731" cy="768731"/>
          </a:xfrm>
        </p:grpSpPr>
        <p:sp>
          <p:nvSpPr>
            <p:cNvPr name="Freeform 17" id="17" descr="slide_9_Picture_10.png"/>
            <p:cNvSpPr/>
            <p:nvPr/>
          </p:nvSpPr>
          <p:spPr>
            <a:xfrm flipH="false" flipV="false" rot="0">
              <a:off x="0" y="0"/>
              <a:ext cx="768731" cy="768731"/>
            </a:xfrm>
            <a:custGeom>
              <a:avLst/>
              <a:gdLst/>
              <a:ahLst/>
              <a:cxnLst/>
              <a:rect r="r" b="b" t="t" l="l"/>
              <a:pathLst>
                <a:path h="768731" w="768731">
                  <a:moveTo>
                    <a:pt x="0" y="0"/>
                  </a:moveTo>
                  <a:lnTo>
                    <a:pt x="768731" y="0"/>
                  </a:lnTo>
                  <a:lnTo>
                    <a:pt x="768731" y="768731"/>
                  </a:lnTo>
                  <a:lnTo>
                    <a:pt x="0" y="768731"/>
                  </a:lnTo>
                  <a:lnTo>
                    <a:pt x="0" y="0"/>
                  </a:lnTo>
                  <a:close/>
                </a:path>
              </a:pathLst>
            </a:custGeom>
            <a:blipFill>
              <a:blip r:embed="rId4"/>
              <a:stretch>
                <a:fillRect l="0" t="0" r="0" b="0"/>
              </a:stretch>
            </a:blipFill>
          </p:spPr>
        </p:sp>
      </p:grpSp>
      <p:sp>
        <p:nvSpPr>
          <p:cNvPr name="TextBox 18" id="18"/>
          <p:cNvSpPr txBox="true"/>
          <p:nvPr/>
        </p:nvSpPr>
        <p:spPr>
          <a:xfrm rot="0">
            <a:off x="9745970" y="5353421"/>
            <a:ext cx="2951245" cy="438205"/>
          </a:xfrm>
          <a:prstGeom prst="rect">
            <a:avLst/>
          </a:prstGeom>
        </p:spPr>
        <p:txBody>
          <a:bodyPr anchor="t" rtlCol="false" tIns="0" lIns="0" bIns="0" rIns="0">
            <a:spAutoFit/>
          </a:bodyPr>
          <a:lstStyle/>
          <a:p>
            <a:pPr algn="ctr">
              <a:lnSpc>
                <a:spcPts val="3481"/>
              </a:lnSpc>
            </a:pPr>
            <a:r>
              <a:rPr lang="en-US" sz="2901" b="true">
                <a:solidFill>
                  <a:srgbClr val="C2410C"/>
                </a:solidFill>
                <a:latin typeface="Inter Bold"/>
                <a:ea typeface="Inter Bold"/>
                <a:cs typeface="Inter Bold"/>
                <a:sym typeface="Inter Bold"/>
              </a:rPr>
              <a:t>3. Validation</a:t>
            </a:r>
          </a:p>
        </p:txBody>
      </p:sp>
      <p:sp>
        <p:nvSpPr>
          <p:cNvPr name="TextBox 19" id="19"/>
          <p:cNvSpPr txBox="true"/>
          <p:nvPr/>
        </p:nvSpPr>
        <p:spPr>
          <a:xfrm rot="0">
            <a:off x="9745970" y="6167504"/>
            <a:ext cx="2951245" cy="1000153"/>
          </a:xfrm>
          <a:prstGeom prst="rect">
            <a:avLst/>
          </a:prstGeom>
        </p:spPr>
        <p:txBody>
          <a:bodyPr anchor="t" rtlCol="false" tIns="0" lIns="0" bIns="0" rIns="0">
            <a:spAutoFit/>
          </a:bodyPr>
          <a:lstStyle/>
          <a:p>
            <a:pPr algn="ctr">
              <a:lnSpc>
                <a:spcPts val="2670"/>
              </a:lnSpc>
            </a:pPr>
            <a:r>
              <a:rPr lang="en-US" sz="2225">
                <a:solidFill>
                  <a:srgbClr val="9A3412"/>
                </a:solidFill>
                <a:latin typeface="Inter"/>
                <a:ea typeface="Inter"/>
                <a:cs typeface="Inter"/>
                <a:sym typeface="Inter"/>
              </a:rPr>
              <a:t>Green-window bounds feasibility check.</a:t>
            </a:r>
          </a:p>
        </p:txBody>
      </p:sp>
      <p:grpSp>
        <p:nvGrpSpPr>
          <p:cNvPr name="Group 20" id="20"/>
          <p:cNvGrpSpPr/>
          <p:nvPr/>
        </p:nvGrpSpPr>
        <p:grpSpPr>
          <a:xfrm rot="0">
            <a:off x="13658088" y="3431677"/>
            <a:ext cx="3500342" cy="5216176"/>
            <a:chOff x="0" y="0"/>
            <a:chExt cx="4667123" cy="6954901"/>
          </a:xfrm>
        </p:grpSpPr>
        <p:sp>
          <p:nvSpPr>
            <p:cNvPr name="Freeform 21" id="21"/>
            <p:cNvSpPr/>
            <p:nvPr/>
          </p:nvSpPr>
          <p:spPr>
            <a:xfrm flipH="false" flipV="false" rot="0">
              <a:off x="0" y="0"/>
              <a:ext cx="4667123" cy="6954901"/>
            </a:xfrm>
            <a:custGeom>
              <a:avLst/>
              <a:gdLst/>
              <a:ahLst/>
              <a:cxnLst/>
              <a:rect r="r" b="b" t="t" l="l"/>
              <a:pathLst>
                <a:path h="6954901" w="4667123">
                  <a:moveTo>
                    <a:pt x="0" y="373380"/>
                  </a:moveTo>
                  <a:cubicBezTo>
                    <a:pt x="0" y="167132"/>
                    <a:pt x="167132" y="0"/>
                    <a:pt x="373380" y="0"/>
                  </a:cubicBezTo>
                  <a:lnTo>
                    <a:pt x="4293743" y="0"/>
                  </a:lnTo>
                  <a:cubicBezTo>
                    <a:pt x="4499991" y="0"/>
                    <a:pt x="4667123" y="167132"/>
                    <a:pt x="4667123" y="373380"/>
                  </a:cubicBezTo>
                  <a:lnTo>
                    <a:pt x="4667123" y="6581521"/>
                  </a:lnTo>
                  <a:cubicBezTo>
                    <a:pt x="4667123" y="6787769"/>
                    <a:pt x="4499991" y="6954901"/>
                    <a:pt x="4293743" y="6954901"/>
                  </a:cubicBezTo>
                  <a:lnTo>
                    <a:pt x="373380" y="6954901"/>
                  </a:lnTo>
                  <a:cubicBezTo>
                    <a:pt x="167132" y="6954901"/>
                    <a:pt x="0" y="6787769"/>
                    <a:pt x="0" y="6581521"/>
                  </a:cubicBezTo>
                  <a:close/>
                </a:path>
              </a:pathLst>
            </a:custGeom>
            <a:solidFill>
              <a:srgbClr val="F0FDF4"/>
            </a:solidFill>
          </p:spPr>
        </p:sp>
      </p:grpSp>
      <p:grpSp>
        <p:nvGrpSpPr>
          <p:cNvPr name="Group 22" id="22"/>
          <p:cNvGrpSpPr/>
          <p:nvPr/>
        </p:nvGrpSpPr>
        <p:grpSpPr>
          <a:xfrm rot="0">
            <a:off x="15161171" y="4118019"/>
            <a:ext cx="494157" cy="576548"/>
            <a:chOff x="0" y="0"/>
            <a:chExt cx="658876" cy="768731"/>
          </a:xfrm>
        </p:grpSpPr>
        <p:sp>
          <p:nvSpPr>
            <p:cNvPr name="Freeform 23" id="23" descr="slide_9_Picture_11.png"/>
            <p:cNvSpPr/>
            <p:nvPr/>
          </p:nvSpPr>
          <p:spPr>
            <a:xfrm flipH="false" flipV="false" rot="0">
              <a:off x="0" y="0"/>
              <a:ext cx="658876" cy="768731"/>
            </a:xfrm>
            <a:custGeom>
              <a:avLst/>
              <a:gdLst/>
              <a:ahLst/>
              <a:cxnLst/>
              <a:rect r="r" b="b" t="t" l="l"/>
              <a:pathLst>
                <a:path h="768731" w="658876">
                  <a:moveTo>
                    <a:pt x="0" y="0"/>
                  </a:moveTo>
                  <a:lnTo>
                    <a:pt x="658876" y="0"/>
                  </a:lnTo>
                  <a:lnTo>
                    <a:pt x="658876" y="768731"/>
                  </a:lnTo>
                  <a:lnTo>
                    <a:pt x="0" y="768731"/>
                  </a:lnTo>
                  <a:lnTo>
                    <a:pt x="0" y="0"/>
                  </a:lnTo>
                  <a:close/>
                </a:path>
              </a:pathLst>
            </a:custGeom>
            <a:blipFill>
              <a:blip r:embed="rId5"/>
              <a:stretch>
                <a:fillRect l="-2501" t="0" r="-2503" b="0"/>
              </a:stretch>
            </a:blipFill>
          </p:spPr>
        </p:sp>
      </p:grpSp>
      <p:sp>
        <p:nvSpPr>
          <p:cNvPr name="TextBox 24" id="24"/>
          <p:cNvSpPr txBox="true"/>
          <p:nvPr/>
        </p:nvSpPr>
        <p:spPr>
          <a:xfrm rot="0">
            <a:off x="13942152" y="5353421"/>
            <a:ext cx="2951245" cy="457257"/>
          </a:xfrm>
          <a:prstGeom prst="rect">
            <a:avLst/>
          </a:prstGeom>
        </p:spPr>
        <p:txBody>
          <a:bodyPr anchor="t" rtlCol="false" tIns="0" lIns="0" bIns="0" rIns="0">
            <a:spAutoFit/>
          </a:bodyPr>
          <a:lstStyle/>
          <a:p>
            <a:pPr algn="ctr">
              <a:lnSpc>
                <a:spcPts val="3601"/>
              </a:lnSpc>
            </a:pPr>
            <a:r>
              <a:rPr lang="en-US" sz="3001" b="true">
                <a:solidFill>
                  <a:srgbClr val="047857"/>
                </a:solidFill>
                <a:latin typeface="Inter Bold"/>
                <a:ea typeface="Inter Bold"/>
                <a:cs typeface="Inter Bold"/>
                <a:sym typeface="Inter Bold"/>
              </a:rPr>
              <a:t>4. Output</a:t>
            </a:r>
          </a:p>
        </p:txBody>
      </p:sp>
      <p:sp>
        <p:nvSpPr>
          <p:cNvPr name="TextBox 25" id="25"/>
          <p:cNvSpPr txBox="true"/>
          <p:nvPr/>
        </p:nvSpPr>
        <p:spPr>
          <a:xfrm rot="0">
            <a:off x="13932627" y="6167504"/>
            <a:ext cx="2951245" cy="1000153"/>
          </a:xfrm>
          <a:prstGeom prst="rect">
            <a:avLst/>
          </a:prstGeom>
        </p:spPr>
        <p:txBody>
          <a:bodyPr anchor="t" rtlCol="false" tIns="0" lIns="0" bIns="0" rIns="0">
            <a:spAutoFit/>
          </a:bodyPr>
          <a:lstStyle/>
          <a:p>
            <a:pPr algn="ctr">
              <a:lnSpc>
                <a:spcPts val="2670"/>
              </a:lnSpc>
            </a:pPr>
            <a:r>
              <a:rPr lang="en-US" sz="2225">
                <a:solidFill>
                  <a:srgbClr val="065F46"/>
                </a:solidFill>
                <a:latin typeface="Inter"/>
                <a:ea typeface="Inter"/>
                <a:cs typeface="Inter"/>
                <a:sym typeface="Inter"/>
              </a:rPr>
              <a:t>Feasible departure schedule &amp; green wave.</a:t>
            </a:r>
          </a:p>
        </p:txBody>
      </p:sp>
      <p:grpSp>
        <p:nvGrpSpPr>
          <p:cNvPr name="Group 26" id="26"/>
          <p:cNvGrpSpPr/>
          <p:nvPr/>
        </p:nvGrpSpPr>
        <p:grpSpPr>
          <a:xfrm rot="0">
            <a:off x="4735716" y="5765225"/>
            <a:ext cx="411766" cy="466725"/>
            <a:chOff x="0" y="0"/>
            <a:chExt cx="549021" cy="622300"/>
          </a:xfrm>
        </p:grpSpPr>
        <p:sp>
          <p:nvSpPr>
            <p:cNvPr name="Freeform 27" id="27" descr="slide_9_Picture_5.png"/>
            <p:cNvSpPr/>
            <p:nvPr/>
          </p:nvSpPr>
          <p:spPr>
            <a:xfrm flipH="false" flipV="false" rot="0">
              <a:off x="0" y="0"/>
              <a:ext cx="549021" cy="622300"/>
            </a:xfrm>
            <a:custGeom>
              <a:avLst/>
              <a:gdLst/>
              <a:ahLst/>
              <a:cxnLst/>
              <a:rect r="r" b="b" t="t" l="l"/>
              <a:pathLst>
                <a:path h="622300" w="549021">
                  <a:moveTo>
                    <a:pt x="0" y="0"/>
                  </a:moveTo>
                  <a:lnTo>
                    <a:pt x="549021" y="0"/>
                  </a:lnTo>
                  <a:lnTo>
                    <a:pt x="549021" y="622300"/>
                  </a:lnTo>
                  <a:lnTo>
                    <a:pt x="0" y="622300"/>
                  </a:lnTo>
                  <a:lnTo>
                    <a:pt x="0" y="0"/>
                  </a:lnTo>
                  <a:close/>
                </a:path>
              </a:pathLst>
            </a:custGeom>
            <a:blipFill>
              <a:blip r:embed="rId6"/>
              <a:stretch>
                <a:fillRect l="-1950" t="0" r="-1952" b="0"/>
              </a:stretch>
            </a:blipFill>
          </p:spPr>
        </p:sp>
      </p:grpSp>
      <p:grpSp>
        <p:nvGrpSpPr>
          <p:cNvPr name="Group 28" id="28"/>
          <p:cNvGrpSpPr/>
          <p:nvPr/>
        </p:nvGrpSpPr>
        <p:grpSpPr>
          <a:xfrm rot="0">
            <a:off x="8922372" y="5765225"/>
            <a:ext cx="411766" cy="466725"/>
            <a:chOff x="0" y="0"/>
            <a:chExt cx="549021" cy="622300"/>
          </a:xfrm>
        </p:grpSpPr>
        <p:sp>
          <p:nvSpPr>
            <p:cNvPr name="Freeform 29" id="29" descr="slide_9_Picture_5.png"/>
            <p:cNvSpPr/>
            <p:nvPr/>
          </p:nvSpPr>
          <p:spPr>
            <a:xfrm flipH="false" flipV="false" rot="0">
              <a:off x="0" y="0"/>
              <a:ext cx="549021" cy="622300"/>
            </a:xfrm>
            <a:custGeom>
              <a:avLst/>
              <a:gdLst/>
              <a:ahLst/>
              <a:cxnLst/>
              <a:rect r="r" b="b" t="t" l="l"/>
              <a:pathLst>
                <a:path h="622300" w="549021">
                  <a:moveTo>
                    <a:pt x="0" y="0"/>
                  </a:moveTo>
                  <a:lnTo>
                    <a:pt x="549021" y="0"/>
                  </a:lnTo>
                  <a:lnTo>
                    <a:pt x="549021" y="622300"/>
                  </a:lnTo>
                  <a:lnTo>
                    <a:pt x="0" y="622300"/>
                  </a:lnTo>
                  <a:lnTo>
                    <a:pt x="0" y="0"/>
                  </a:lnTo>
                  <a:close/>
                </a:path>
              </a:pathLst>
            </a:custGeom>
            <a:blipFill>
              <a:blip r:embed="rId6"/>
              <a:stretch>
                <a:fillRect l="-1950" t="0" r="-1952" b="0"/>
              </a:stretch>
            </a:blipFill>
          </p:spPr>
        </p:sp>
      </p:grpSp>
      <p:grpSp>
        <p:nvGrpSpPr>
          <p:cNvPr name="Group 30" id="30"/>
          <p:cNvGrpSpPr/>
          <p:nvPr/>
        </p:nvGrpSpPr>
        <p:grpSpPr>
          <a:xfrm rot="0">
            <a:off x="13109019" y="5765225"/>
            <a:ext cx="411766" cy="466725"/>
            <a:chOff x="0" y="0"/>
            <a:chExt cx="549021" cy="622300"/>
          </a:xfrm>
        </p:grpSpPr>
        <p:sp>
          <p:nvSpPr>
            <p:cNvPr name="Freeform 31" id="31" descr="slide_9_Picture_5.png"/>
            <p:cNvSpPr/>
            <p:nvPr/>
          </p:nvSpPr>
          <p:spPr>
            <a:xfrm flipH="false" flipV="false" rot="0">
              <a:off x="0" y="0"/>
              <a:ext cx="549021" cy="622300"/>
            </a:xfrm>
            <a:custGeom>
              <a:avLst/>
              <a:gdLst/>
              <a:ahLst/>
              <a:cxnLst/>
              <a:rect r="r" b="b" t="t" l="l"/>
              <a:pathLst>
                <a:path h="622300" w="549021">
                  <a:moveTo>
                    <a:pt x="0" y="0"/>
                  </a:moveTo>
                  <a:lnTo>
                    <a:pt x="549021" y="0"/>
                  </a:lnTo>
                  <a:lnTo>
                    <a:pt x="549021" y="622300"/>
                  </a:lnTo>
                  <a:lnTo>
                    <a:pt x="0" y="622300"/>
                  </a:lnTo>
                  <a:lnTo>
                    <a:pt x="0" y="0"/>
                  </a:lnTo>
                  <a:close/>
                </a:path>
              </a:pathLst>
            </a:custGeom>
            <a:blipFill>
              <a:blip r:embed="rId6"/>
              <a:stretch>
                <a:fillRect l="-1950" t="0" r="-1952" b="0"/>
              </a:stretch>
            </a:blipFill>
          </p:spPr>
        </p:sp>
      </p:grpSp>
      <p:grpSp>
        <p:nvGrpSpPr>
          <p:cNvPr name="Group 32" id="32"/>
          <p:cNvGrpSpPr/>
          <p:nvPr/>
        </p:nvGrpSpPr>
        <p:grpSpPr>
          <a:xfrm rot="0">
            <a:off x="0" y="212512"/>
            <a:ext cx="18287524" cy="1069848"/>
            <a:chOff x="0" y="0"/>
            <a:chExt cx="24383365" cy="1426464"/>
          </a:xfrm>
        </p:grpSpPr>
        <p:sp>
          <p:nvSpPr>
            <p:cNvPr name="Freeform 33" id="33"/>
            <p:cNvSpPr/>
            <p:nvPr/>
          </p:nvSpPr>
          <p:spPr>
            <a:xfrm flipH="false" flipV="false" rot="0">
              <a:off x="0" y="0"/>
              <a:ext cx="24383364" cy="1426464"/>
            </a:xfrm>
            <a:custGeom>
              <a:avLst/>
              <a:gdLst/>
              <a:ahLst/>
              <a:cxnLst/>
              <a:rect r="r" b="b" t="t" l="l"/>
              <a:pathLst>
                <a:path h="1426464" w="24383364">
                  <a:moveTo>
                    <a:pt x="0" y="0"/>
                  </a:moveTo>
                  <a:lnTo>
                    <a:pt x="24383364" y="0"/>
                  </a:lnTo>
                  <a:lnTo>
                    <a:pt x="24383364" y="1426464"/>
                  </a:lnTo>
                  <a:lnTo>
                    <a:pt x="0" y="1426464"/>
                  </a:lnTo>
                  <a:close/>
                </a:path>
              </a:pathLst>
            </a:custGeom>
            <a:solidFill>
              <a:srgbClr val="115E59"/>
            </a:solidFill>
          </p:spPr>
        </p:sp>
      </p:grpSp>
      <p:grpSp>
        <p:nvGrpSpPr>
          <p:cNvPr name="Group 34" id="34"/>
          <p:cNvGrpSpPr/>
          <p:nvPr/>
        </p:nvGrpSpPr>
        <p:grpSpPr>
          <a:xfrm rot="0">
            <a:off x="16390620" y="212512"/>
            <a:ext cx="713232" cy="1069848"/>
            <a:chOff x="0" y="0"/>
            <a:chExt cx="950976" cy="1426464"/>
          </a:xfrm>
        </p:grpSpPr>
        <p:sp>
          <p:nvSpPr>
            <p:cNvPr name="Freeform 35" id="35"/>
            <p:cNvSpPr/>
            <p:nvPr/>
          </p:nvSpPr>
          <p:spPr>
            <a:xfrm flipH="false" flipV="false" rot="0">
              <a:off x="0" y="0"/>
              <a:ext cx="950976" cy="1426464"/>
            </a:xfrm>
            <a:custGeom>
              <a:avLst/>
              <a:gdLst/>
              <a:ahLst/>
              <a:cxnLst/>
              <a:rect r="r" b="b" t="t" l="l"/>
              <a:pathLst>
                <a:path h="1426464" w="950976">
                  <a:moveTo>
                    <a:pt x="0" y="1426464"/>
                  </a:moveTo>
                  <a:lnTo>
                    <a:pt x="237744" y="0"/>
                  </a:lnTo>
                  <a:lnTo>
                    <a:pt x="950976" y="0"/>
                  </a:lnTo>
                  <a:lnTo>
                    <a:pt x="713232" y="1426464"/>
                  </a:lnTo>
                  <a:close/>
                </a:path>
              </a:pathLst>
            </a:custGeom>
            <a:solidFill>
              <a:srgbClr val="F0FDF4"/>
            </a:solidFill>
          </p:spPr>
        </p:sp>
      </p:grpSp>
      <p:grpSp>
        <p:nvGrpSpPr>
          <p:cNvPr name="Group 36" id="36"/>
          <p:cNvGrpSpPr/>
          <p:nvPr/>
        </p:nvGrpSpPr>
        <p:grpSpPr>
          <a:xfrm rot="0">
            <a:off x="17035272" y="212512"/>
            <a:ext cx="754380" cy="1069848"/>
            <a:chOff x="0" y="0"/>
            <a:chExt cx="1005840" cy="1426464"/>
          </a:xfrm>
        </p:grpSpPr>
        <p:sp>
          <p:nvSpPr>
            <p:cNvPr name="Freeform 37" id="37"/>
            <p:cNvSpPr/>
            <p:nvPr/>
          </p:nvSpPr>
          <p:spPr>
            <a:xfrm flipH="false" flipV="false" rot="0">
              <a:off x="0" y="0"/>
              <a:ext cx="1005840" cy="1426464"/>
            </a:xfrm>
            <a:custGeom>
              <a:avLst/>
              <a:gdLst/>
              <a:ahLst/>
              <a:cxnLst/>
              <a:rect r="r" b="b" t="t" l="l"/>
              <a:pathLst>
                <a:path h="1426464" w="1005840">
                  <a:moveTo>
                    <a:pt x="0" y="1426464"/>
                  </a:moveTo>
                  <a:lnTo>
                    <a:pt x="251460" y="0"/>
                  </a:lnTo>
                  <a:lnTo>
                    <a:pt x="1005840" y="0"/>
                  </a:lnTo>
                  <a:lnTo>
                    <a:pt x="754380" y="1426464"/>
                  </a:lnTo>
                  <a:close/>
                </a:path>
              </a:pathLst>
            </a:custGeom>
            <a:solidFill>
              <a:srgbClr val="9FC7AA"/>
            </a:solidFill>
          </p:spPr>
        </p:sp>
      </p:grpSp>
      <p:sp>
        <p:nvSpPr>
          <p:cNvPr name="TextBox 38" id="38"/>
          <p:cNvSpPr txBox="true"/>
          <p:nvPr/>
        </p:nvSpPr>
        <p:spPr>
          <a:xfrm rot="0">
            <a:off x="1153735" y="79162"/>
            <a:ext cx="16105565" cy="1066786"/>
          </a:xfrm>
          <a:prstGeom prst="rect">
            <a:avLst/>
          </a:prstGeom>
        </p:spPr>
        <p:txBody>
          <a:bodyPr anchor="t" rtlCol="false" tIns="0" lIns="0" bIns="0" rIns="0">
            <a:spAutoFit/>
          </a:bodyPr>
          <a:lstStyle/>
          <a:p>
            <a:pPr algn="l">
              <a:lnSpc>
                <a:spcPts val="2341"/>
              </a:lnSpc>
            </a:pPr>
          </a:p>
          <a:p>
            <a:pPr algn="l">
              <a:lnSpc>
                <a:spcPts val="6124"/>
              </a:lnSpc>
            </a:pPr>
            <a:r>
              <a:rPr lang="en-US" b="true" sz="5103">
                <a:solidFill>
                  <a:srgbClr val="FFFFFF"/>
                </a:solidFill>
                <a:latin typeface="Lora Bold"/>
                <a:ea typeface="Lora Bold"/>
                <a:cs typeface="Lora Bold"/>
                <a:sym typeface="Lora Bold"/>
              </a:rPr>
              <a:t>Architecture &amp; Data Flow</a:t>
            </a:r>
          </a:p>
        </p:txBody>
      </p:sp>
      <p:grpSp>
        <p:nvGrpSpPr>
          <p:cNvPr name="Group 39" id="39"/>
          <p:cNvGrpSpPr/>
          <p:nvPr/>
        </p:nvGrpSpPr>
        <p:grpSpPr>
          <a:xfrm rot="0">
            <a:off x="0" y="9777774"/>
            <a:ext cx="18287524" cy="516293"/>
            <a:chOff x="0" y="0"/>
            <a:chExt cx="24383365" cy="688391"/>
          </a:xfrm>
        </p:grpSpPr>
        <p:sp>
          <p:nvSpPr>
            <p:cNvPr name="Freeform 40" id="40"/>
            <p:cNvSpPr/>
            <p:nvPr/>
          </p:nvSpPr>
          <p:spPr>
            <a:xfrm flipH="false" flipV="false" rot="0">
              <a:off x="0" y="-23"/>
              <a:ext cx="24383364" cy="688386"/>
            </a:xfrm>
            <a:custGeom>
              <a:avLst/>
              <a:gdLst/>
              <a:ahLst/>
              <a:cxnLst/>
              <a:rect r="r" b="b" t="t" l="l"/>
              <a:pathLst>
                <a:path h="688386" w="24383364">
                  <a:moveTo>
                    <a:pt x="0" y="83589"/>
                  </a:moveTo>
                  <a:cubicBezTo>
                    <a:pt x="8127746" y="-205971"/>
                    <a:pt x="16255619" y="373149"/>
                    <a:pt x="24383364" y="83589"/>
                  </a:cubicBezTo>
                  <a:lnTo>
                    <a:pt x="24383364" y="604797"/>
                  </a:lnTo>
                  <a:cubicBezTo>
                    <a:pt x="16255619" y="894357"/>
                    <a:pt x="8127746" y="315237"/>
                    <a:pt x="0" y="604797"/>
                  </a:cubicBezTo>
                  <a:close/>
                </a:path>
              </a:pathLst>
            </a:custGeom>
            <a:solidFill>
              <a:srgbClr val="9FC7AA"/>
            </a:solid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212512"/>
            <a:ext cx="18287524" cy="1069848"/>
            <a:chOff x="0" y="0"/>
            <a:chExt cx="24383365" cy="1426464"/>
          </a:xfrm>
        </p:grpSpPr>
        <p:sp>
          <p:nvSpPr>
            <p:cNvPr name="Freeform 3" id="3"/>
            <p:cNvSpPr/>
            <p:nvPr/>
          </p:nvSpPr>
          <p:spPr>
            <a:xfrm flipH="false" flipV="false" rot="0">
              <a:off x="0" y="0"/>
              <a:ext cx="24383364" cy="1426464"/>
            </a:xfrm>
            <a:custGeom>
              <a:avLst/>
              <a:gdLst/>
              <a:ahLst/>
              <a:cxnLst/>
              <a:rect r="r" b="b" t="t" l="l"/>
              <a:pathLst>
                <a:path h="1426464" w="24383364">
                  <a:moveTo>
                    <a:pt x="0" y="0"/>
                  </a:moveTo>
                  <a:lnTo>
                    <a:pt x="24383364" y="0"/>
                  </a:lnTo>
                  <a:lnTo>
                    <a:pt x="24383364" y="1426464"/>
                  </a:lnTo>
                  <a:lnTo>
                    <a:pt x="0" y="1426464"/>
                  </a:lnTo>
                  <a:close/>
                </a:path>
              </a:pathLst>
            </a:custGeom>
            <a:solidFill>
              <a:srgbClr val="115E59"/>
            </a:solidFill>
          </p:spPr>
        </p:sp>
      </p:grpSp>
      <p:grpSp>
        <p:nvGrpSpPr>
          <p:cNvPr name="Group 4" id="4"/>
          <p:cNvGrpSpPr/>
          <p:nvPr/>
        </p:nvGrpSpPr>
        <p:grpSpPr>
          <a:xfrm rot="0">
            <a:off x="16390620" y="212512"/>
            <a:ext cx="713232" cy="1069848"/>
            <a:chOff x="0" y="0"/>
            <a:chExt cx="950976" cy="1426464"/>
          </a:xfrm>
        </p:grpSpPr>
        <p:sp>
          <p:nvSpPr>
            <p:cNvPr name="Freeform 5" id="5"/>
            <p:cNvSpPr/>
            <p:nvPr/>
          </p:nvSpPr>
          <p:spPr>
            <a:xfrm flipH="false" flipV="false" rot="0">
              <a:off x="0" y="0"/>
              <a:ext cx="950976" cy="1426464"/>
            </a:xfrm>
            <a:custGeom>
              <a:avLst/>
              <a:gdLst/>
              <a:ahLst/>
              <a:cxnLst/>
              <a:rect r="r" b="b" t="t" l="l"/>
              <a:pathLst>
                <a:path h="1426464" w="950976">
                  <a:moveTo>
                    <a:pt x="0" y="1426464"/>
                  </a:moveTo>
                  <a:lnTo>
                    <a:pt x="237744" y="0"/>
                  </a:lnTo>
                  <a:lnTo>
                    <a:pt x="950976" y="0"/>
                  </a:lnTo>
                  <a:lnTo>
                    <a:pt x="713232" y="1426464"/>
                  </a:lnTo>
                  <a:close/>
                </a:path>
              </a:pathLst>
            </a:custGeom>
            <a:solidFill>
              <a:srgbClr val="F0FDF4"/>
            </a:solidFill>
          </p:spPr>
        </p:sp>
      </p:grpSp>
      <p:grpSp>
        <p:nvGrpSpPr>
          <p:cNvPr name="Group 6" id="6"/>
          <p:cNvGrpSpPr/>
          <p:nvPr/>
        </p:nvGrpSpPr>
        <p:grpSpPr>
          <a:xfrm rot="0">
            <a:off x="17035272" y="212512"/>
            <a:ext cx="754380" cy="1069848"/>
            <a:chOff x="0" y="0"/>
            <a:chExt cx="1005840" cy="1426464"/>
          </a:xfrm>
        </p:grpSpPr>
        <p:sp>
          <p:nvSpPr>
            <p:cNvPr name="Freeform 7" id="7"/>
            <p:cNvSpPr/>
            <p:nvPr/>
          </p:nvSpPr>
          <p:spPr>
            <a:xfrm flipH="false" flipV="false" rot="0">
              <a:off x="0" y="0"/>
              <a:ext cx="1005840" cy="1426464"/>
            </a:xfrm>
            <a:custGeom>
              <a:avLst/>
              <a:gdLst/>
              <a:ahLst/>
              <a:cxnLst/>
              <a:rect r="r" b="b" t="t" l="l"/>
              <a:pathLst>
                <a:path h="1426464" w="1005840">
                  <a:moveTo>
                    <a:pt x="0" y="1426464"/>
                  </a:moveTo>
                  <a:lnTo>
                    <a:pt x="251460" y="0"/>
                  </a:lnTo>
                  <a:lnTo>
                    <a:pt x="1005840" y="0"/>
                  </a:lnTo>
                  <a:lnTo>
                    <a:pt x="754380" y="1426464"/>
                  </a:lnTo>
                  <a:close/>
                </a:path>
              </a:pathLst>
            </a:custGeom>
            <a:solidFill>
              <a:srgbClr val="9FC7AA"/>
            </a:solidFill>
          </p:spPr>
        </p:sp>
      </p:grpSp>
      <p:grpSp>
        <p:nvGrpSpPr>
          <p:cNvPr name="Group 8" id="8"/>
          <p:cNvGrpSpPr/>
          <p:nvPr/>
        </p:nvGrpSpPr>
        <p:grpSpPr>
          <a:xfrm rot="0">
            <a:off x="0" y="9777774"/>
            <a:ext cx="18287524" cy="516293"/>
            <a:chOff x="0" y="0"/>
            <a:chExt cx="24383365" cy="688391"/>
          </a:xfrm>
        </p:grpSpPr>
        <p:sp>
          <p:nvSpPr>
            <p:cNvPr name="Freeform 9" id="9"/>
            <p:cNvSpPr/>
            <p:nvPr/>
          </p:nvSpPr>
          <p:spPr>
            <a:xfrm flipH="false" flipV="false" rot="0">
              <a:off x="0" y="-23"/>
              <a:ext cx="24383364" cy="688386"/>
            </a:xfrm>
            <a:custGeom>
              <a:avLst/>
              <a:gdLst/>
              <a:ahLst/>
              <a:cxnLst/>
              <a:rect r="r" b="b" t="t" l="l"/>
              <a:pathLst>
                <a:path h="688386" w="24383364">
                  <a:moveTo>
                    <a:pt x="0" y="83589"/>
                  </a:moveTo>
                  <a:cubicBezTo>
                    <a:pt x="8127746" y="-205971"/>
                    <a:pt x="16255619" y="373149"/>
                    <a:pt x="24383364" y="83589"/>
                  </a:cubicBezTo>
                  <a:lnTo>
                    <a:pt x="24383364" y="604797"/>
                  </a:lnTo>
                  <a:cubicBezTo>
                    <a:pt x="16255619" y="894357"/>
                    <a:pt x="8127746" y="315237"/>
                    <a:pt x="0" y="604797"/>
                  </a:cubicBezTo>
                  <a:close/>
                </a:path>
              </a:pathLst>
            </a:custGeom>
            <a:solidFill>
              <a:srgbClr val="9FC7AA"/>
            </a:solidFill>
          </p:spPr>
        </p:sp>
      </p:grpSp>
      <p:sp>
        <p:nvSpPr>
          <p:cNvPr name="Freeform 10" id="10"/>
          <p:cNvSpPr/>
          <p:nvPr/>
        </p:nvSpPr>
        <p:spPr>
          <a:xfrm flipH="false" flipV="false" rot="0">
            <a:off x="269253" y="1569610"/>
            <a:ext cx="9190048" cy="8208165"/>
          </a:xfrm>
          <a:custGeom>
            <a:avLst/>
            <a:gdLst/>
            <a:ahLst/>
            <a:cxnLst/>
            <a:rect r="r" b="b" t="t" l="l"/>
            <a:pathLst>
              <a:path h="8208165" w="9190048">
                <a:moveTo>
                  <a:pt x="0" y="0"/>
                </a:moveTo>
                <a:lnTo>
                  <a:pt x="9190048" y="0"/>
                </a:lnTo>
                <a:lnTo>
                  <a:pt x="9190048" y="8208164"/>
                </a:lnTo>
                <a:lnTo>
                  <a:pt x="0" y="8208164"/>
                </a:lnTo>
                <a:lnTo>
                  <a:pt x="0" y="0"/>
                </a:lnTo>
                <a:close/>
              </a:path>
            </a:pathLst>
          </a:custGeom>
          <a:blipFill>
            <a:blip r:embed="rId2"/>
            <a:stretch>
              <a:fillRect l="0" t="0" r="-56910" b="0"/>
            </a:stretch>
          </a:blipFill>
        </p:spPr>
      </p:sp>
      <p:sp>
        <p:nvSpPr>
          <p:cNvPr name="Freeform 11" id="11"/>
          <p:cNvSpPr/>
          <p:nvPr/>
        </p:nvSpPr>
        <p:spPr>
          <a:xfrm flipH="false" flipV="false" rot="0">
            <a:off x="9736869" y="1425985"/>
            <a:ext cx="8052783" cy="8208165"/>
          </a:xfrm>
          <a:custGeom>
            <a:avLst/>
            <a:gdLst/>
            <a:ahLst/>
            <a:cxnLst/>
            <a:rect r="r" b="b" t="t" l="l"/>
            <a:pathLst>
              <a:path h="8208165" w="8052783">
                <a:moveTo>
                  <a:pt x="0" y="0"/>
                </a:moveTo>
                <a:lnTo>
                  <a:pt x="8052783" y="0"/>
                </a:lnTo>
                <a:lnTo>
                  <a:pt x="8052783" y="8208165"/>
                </a:lnTo>
                <a:lnTo>
                  <a:pt x="0" y="8208165"/>
                </a:lnTo>
                <a:lnTo>
                  <a:pt x="0" y="0"/>
                </a:lnTo>
                <a:close/>
              </a:path>
            </a:pathLst>
          </a:custGeom>
          <a:blipFill>
            <a:blip r:embed="rId3"/>
            <a:stretch>
              <a:fillRect l="0" t="-1364" r="-53912" b="-1364"/>
            </a:stretch>
          </a:blipFill>
        </p:spPr>
      </p:sp>
      <p:sp>
        <p:nvSpPr>
          <p:cNvPr name="TextBox 12" id="12"/>
          <p:cNvSpPr txBox="true"/>
          <p:nvPr/>
        </p:nvSpPr>
        <p:spPr>
          <a:xfrm rot="0">
            <a:off x="1153735" y="-9525"/>
            <a:ext cx="16105565" cy="1076311"/>
          </a:xfrm>
          <a:prstGeom prst="rect">
            <a:avLst/>
          </a:prstGeom>
        </p:spPr>
        <p:txBody>
          <a:bodyPr anchor="t" rtlCol="false" tIns="0" lIns="0" bIns="0" rIns="0">
            <a:spAutoFit/>
          </a:bodyPr>
          <a:lstStyle/>
          <a:p>
            <a:pPr algn="l">
              <a:lnSpc>
                <a:spcPts val="2341"/>
              </a:lnSpc>
            </a:pPr>
          </a:p>
          <a:p>
            <a:pPr algn="l">
              <a:lnSpc>
                <a:spcPts val="6124"/>
              </a:lnSpc>
            </a:pPr>
            <a:r>
              <a:rPr lang="en-US" b="true" sz="5103">
                <a:solidFill>
                  <a:srgbClr val="FFFFFF"/>
                </a:solidFill>
                <a:latin typeface="Lora Bold"/>
                <a:ea typeface="Lora Bold"/>
                <a:cs typeface="Lora Bold"/>
                <a:sym typeface="Lora Bold"/>
              </a:rPr>
              <a:t>C++ Solver Implementation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212512"/>
            <a:ext cx="18287524" cy="1069848"/>
            <a:chOff x="0" y="0"/>
            <a:chExt cx="24383365" cy="1426464"/>
          </a:xfrm>
        </p:grpSpPr>
        <p:sp>
          <p:nvSpPr>
            <p:cNvPr name="Freeform 3" id="3"/>
            <p:cNvSpPr/>
            <p:nvPr/>
          </p:nvSpPr>
          <p:spPr>
            <a:xfrm flipH="false" flipV="false" rot="0">
              <a:off x="0" y="0"/>
              <a:ext cx="24383364" cy="1426464"/>
            </a:xfrm>
            <a:custGeom>
              <a:avLst/>
              <a:gdLst/>
              <a:ahLst/>
              <a:cxnLst/>
              <a:rect r="r" b="b" t="t" l="l"/>
              <a:pathLst>
                <a:path h="1426464" w="24383364">
                  <a:moveTo>
                    <a:pt x="0" y="0"/>
                  </a:moveTo>
                  <a:lnTo>
                    <a:pt x="24383364" y="0"/>
                  </a:lnTo>
                  <a:lnTo>
                    <a:pt x="24383364" y="1426464"/>
                  </a:lnTo>
                  <a:lnTo>
                    <a:pt x="0" y="1426464"/>
                  </a:lnTo>
                  <a:close/>
                </a:path>
              </a:pathLst>
            </a:custGeom>
            <a:solidFill>
              <a:srgbClr val="115E59"/>
            </a:solidFill>
          </p:spPr>
        </p:sp>
      </p:grpSp>
      <p:grpSp>
        <p:nvGrpSpPr>
          <p:cNvPr name="Group 4" id="4"/>
          <p:cNvGrpSpPr/>
          <p:nvPr/>
        </p:nvGrpSpPr>
        <p:grpSpPr>
          <a:xfrm rot="0">
            <a:off x="16390620" y="212512"/>
            <a:ext cx="713232" cy="1069848"/>
            <a:chOff x="0" y="0"/>
            <a:chExt cx="950976" cy="1426464"/>
          </a:xfrm>
        </p:grpSpPr>
        <p:sp>
          <p:nvSpPr>
            <p:cNvPr name="Freeform 5" id="5"/>
            <p:cNvSpPr/>
            <p:nvPr/>
          </p:nvSpPr>
          <p:spPr>
            <a:xfrm flipH="false" flipV="false" rot="0">
              <a:off x="0" y="0"/>
              <a:ext cx="950976" cy="1426464"/>
            </a:xfrm>
            <a:custGeom>
              <a:avLst/>
              <a:gdLst/>
              <a:ahLst/>
              <a:cxnLst/>
              <a:rect r="r" b="b" t="t" l="l"/>
              <a:pathLst>
                <a:path h="1426464" w="950976">
                  <a:moveTo>
                    <a:pt x="0" y="1426464"/>
                  </a:moveTo>
                  <a:lnTo>
                    <a:pt x="237744" y="0"/>
                  </a:lnTo>
                  <a:lnTo>
                    <a:pt x="950976" y="0"/>
                  </a:lnTo>
                  <a:lnTo>
                    <a:pt x="713232" y="1426464"/>
                  </a:lnTo>
                  <a:close/>
                </a:path>
              </a:pathLst>
            </a:custGeom>
            <a:solidFill>
              <a:srgbClr val="F0FDF4"/>
            </a:solidFill>
          </p:spPr>
        </p:sp>
      </p:grpSp>
      <p:grpSp>
        <p:nvGrpSpPr>
          <p:cNvPr name="Group 6" id="6"/>
          <p:cNvGrpSpPr/>
          <p:nvPr/>
        </p:nvGrpSpPr>
        <p:grpSpPr>
          <a:xfrm rot="0">
            <a:off x="17035272" y="212512"/>
            <a:ext cx="754380" cy="1069848"/>
            <a:chOff x="0" y="0"/>
            <a:chExt cx="1005840" cy="1426464"/>
          </a:xfrm>
        </p:grpSpPr>
        <p:sp>
          <p:nvSpPr>
            <p:cNvPr name="Freeform 7" id="7"/>
            <p:cNvSpPr/>
            <p:nvPr/>
          </p:nvSpPr>
          <p:spPr>
            <a:xfrm flipH="false" flipV="false" rot="0">
              <a:off x="0" y="0"/>
              <a:ext cx="1005840" cy="1426464"/>
            </a:xfrm>
            <a:custGeom>
              <a:avLst/>
              <a:gdLst/>
              <a:ahLst/>
              <a:cxnLst/>
              <a:rect r="r" b="b" t="t" l="l"/>
              <a:pathLst>
                <a:path h="1426464" w="1005840">
                  <a:moveTo>
                    <a:pt x="0" y="1426464"/>
                  </a:moveTo>
                  <a:lnTo>
                    <a:pt x="251460" y="0"/>
                  </a:lnTo>
                  <a:lnTo>
                    <a:pt x="1005840" y="0"/>
                  </a:lnTo>
                  <a:lnTo>
                    <a:pt x="754380" y="1426464"/>
                  </a:lnTo>
                  <a:close/>
                </a:path>
              </a:pathLst>
            </a:custGeom>
            <a:solidFill>
              <a:srgbClr val="9FC7AA"/>
            </a:solidFill>
          </p:spPr>
        </p:sp>
      </p:grpSp>
      <p:grpSp>
        <p:nvGrpSpPr>
          <p:cNvPr name="Group 8" id="8"/>
          <p:cNvGrpSpPr/>
          <p:nvPr/>
        </p:nvGrpSpPr>
        <p:grpSpPr>
          <a:xfrm rot="0">
            <a:off x="0" y="9777774"/>
            <a:ext cx="18287524" cy="516293"/>
            <a:chOff x="0" y="0"/>
            <a:chExt cx="24383365" cy="688391"/>
          </a:xfrm>
        </p:grpSpPr>
        <p:sp>
          <p:nvSpPr>
            <p:cNvPr name="Freeform 9" id="9"/>
            <p:cNvSpPr/>
            <p:nvPr/>
          </p:nvSpPr>
          <p:spPr>
            <a:xfrm flipH="false" flipV="false" rot="0">
              <a:off x="0" y="-23"/>
              <a:ext cx="24383364" cy="688386"/>
            </a:xfrm>
            <a:custGeom>
              <a:avLst/>
              <a:gdLst/>
              <a:ahLst/>
              <a:cxnLst/>
              <a:rect r="r" b="b" t="t" l="l"/>
              <a:pathLst>
                <a:path h="688386" w="24383364">
                  <a:moveTo>
                    <a:pt x="0" y="83589"/>
                  </a:moveTo>
                  <a:cubicBezTo>
                    <a:pt x="8127746" y="-205971"/>
                    <a:pt x="16255619" y="373149"/>
                    <a:pt x="24383364" y="83589"/>
                  </a:cubicBezTo>
                  <a:lnTo>
                    <a:pt x="24383364" y="604797"/>
                  </a:lnTo>
                  <a:cubicBezTo>
                    <a:pt x="16255619" y="894357"/>
                    <a:pt x="8127746" y="315237"/>
                    <a:pt x="0" y="604797"/>
                  </a:cubicBezTo>
                  <a:close/>
                </a:path>
              </a:pathLst>
            </a:custGeom>
            <a:solidFill>
              <a:srgbClr val="9FC7AA"/>
            </a:solidFill>
          </p:spPr>
        </p:sp>
      </p:grpSp>
      <p:sp>
        <p:nvSpPr>
          <p:cNvPr name="Freeform 10" id="10"/>
          <p:cNvSpPr/>
          <p:nvPr/>
        </p:nvSpPr>
        <p:spPr>
          <a:xfrm flipH="false" flipV="false" rot="0">
            <a:off x="1490004" y="1406599"/>
            <a:ext cx="12897338" cy="8246936"/>
          </a:xfrm>
          <a:custGeom>
            <a:avLst/>
            <a:gdLst/>
            <a:ahLst/>
            <a:cxnLst/>
            <a:rect r="r" b="b" t="t" l="l"/>
            <a:pathLst>
              <a:path h="8246936" w="12897338">
                <a:moveTo>
                  <a:pt x="0" y="0"/>
                </a:moveTo>
                <a:lnTo>
                  <a:pt x="12897338" y="0"/>
                </a:lnTo>
                <a:lnTo>
                  <a:pt x="12897338" y="8246936"/>
                </a:lnTo>
                <a:lnTo>
                  <a:pt x="0" y="8246936"/>
                </a:lnTo>
                <a:lnTo>
                  <a:pt x="0" y="0"/>
                </a:lnTo>
                <a:close/>
              </a:path>
            </a:pathLst>
          </a:custGeom>
          <a:blipFill>
            <a:blip r:embed="rId2"/>
            <a:stretch>
              <a:fillRect l="0" t="0" r="0" b="0"/>
            </a:stretch>
          </a:blipFill>
        </p:spPr>
      </p:sp>
      <p:sp>
        <p:nvSpPr>
          <p:cNvPr name="TextBox 11" id="11"/>
          <p:cNvSpPr txBox="true"/>
          <p:nvPr/>
        </p:nvSpPr>
        <p:spPr>
          <a:xfrm rot="0">
            <a:off x="1153735" y="-9525"/>
            <a:ext cx="16105565" cy="1076311"/>
          </a:xfrm>
          <a:prstGeom prst="rect">
            <a:avLst/>
          </a:prstGeom>
        </p:spPr>
        <p:txBody>
          <a:bodyPr anchor="t" rtlCol="false" tIns="0" lIns="0" bIns="0" rIns="0">
            <a:spAutoFit/>
          </a:bodyPr>
          <a:lstStyle/>
          <a:p>
            <a:pPr algn="l">
              <a:lnSpc>
                <a:spcPts val="2341"/>
              </a:lnSpc>
            </a:pPr>
          </a:p>
          <a:p>
            <a:pPr algn="l">
              <a:lnSpc>
                <a:spcPts val="6124"/>
              </a:lnSpc>
            </a:pPr>
            <a:r>
              <a:rPr lang="en-US" b="true" sz="5103">
                <a:solidFill>
                  <a:srgbClr val="FFFFFF"/>
                </a:solidFill>
                <a:latin typeface="Lora Bold"/>
                <a:ea typeface="Lora Bold"/>
                <a:cs typeface="Lora Bold"/>
                <a:sym typeface="Lora Bold"/>
              </a:rPr>
              <a:t>C++ Solver Implementation</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375896" y="1686445"/>
            <a:ext cx="16912104" cy="8017180"/>
          </a:xfrm>
          <a:prstGeom prst="rect">
            <a:avLst/>
          </a:prstGeom>
        </p:spPr>
        <p:txBody>
          <a:bodyPr anchor="t" rtlCol="false" tIns="0" lIns="0" bIns="0" rIns="0">
            <a:spAutoFit/>
          </a:bodyPr>
          <a:lstStyle/>
          <a:p>
            <a:pPr algn="l">
              <a:lnSpc>
                <a:spcPts val="4883"/>
              </a:lnSpc>
            </a:pPr>
            <a:r>
              <a:rPr lang="en-US" sz="3488" b="true">
                <a:solidFill>
                  <a:srgbClr val="000000"/>
                </a:solidFill>
                <a:latin typeface="Lora Bold"/>
                <a:ea typeface="Lora Bold"/>
                <a:cs typeface="Lora Bold"/>
                <a:sym typeface="Lora Bold"/>
              </a:rPr>
              <a:t>Applications of the Project</a:t>
            </a:r>
          </a:p>
          <a:p>
            <a:pPr algn="l">
              <a:lnSpc>
                <a:spcPts val="4883"/>
              </a:lnSpc>
            </a:pPr>
          </a:p>
          <a:p>
            <a:pPr algn="l" marL="753060" indent="-376530" lvl="1">
              <a:lnSpc>
                <a:spcPts val="4883"/>
              </a:lnSpc>
              <a:buAutoNum type="arabicPeriod" startAt="1"/>
            </a:pPr>
            <a:r>
              <a:rPr lang="en-US" sz="3488">
                <a:solidFill>
                  <a:srgbClr val="000000"/>
                </a:solidFill>
                <a:latin typeface="Lora"/>
                <a:ea typeface="Lora"/>
                <a:cs typeface="Lora"/>
                <a:sym typeface="Lora"/>
              </a:rPr>
              <a:t>Ambulance Management: Helps reduce delays at traffic signals and supports faster transportation of patients.</a:t>
            </a:r>
          </a:p>
          <a:p>
            <a:pPr algn="l" marL="753060" indent="-376530" lvl="1">
              <a:lnSpc>
                <a:spcPts val="4883"/>
              </a:lnSpc>
              <a:buAutoNum type="arabicPeriod" startAt="1"/>
            </a:pPr>
            <a:r>
              <a:rPr lang="en-US" sz="3488">
                <a:solidFill>
                  <a:srgbClr val="000000"/>
                </a:solidFill>
                <a:latin typeface="Lora"/>
                <a:ea typeface="Lora"/>
                <a:cs typeface="Lora"/>
                <a:sym typeface="Lora"/>
              </a:rPr>
              <a:t>Fire Brigade Services: Helps fire engines reach emergency locations with fewer traffic signal delays.</a:t>
            </a:r>
          </a:p>
          <a:p>
            <a:pPr algn="l" marL="753060" indent="-376530" lvl="1">
              <a:lnSpc>
                <a:spcPts val="4883"/>
              </a:lnSpc>
              <a:buAutoNum type="arabicPeriod" startAt="1"/>
            </a:pPr>
            <a:r>
              <a:rPr lang="en-US" sz="3488">
                <a:solidFill>
                  <a:srgbClr val="000000"/>
                </a:solidFill>
                <a:latin typeface="Lora"/>
                <a:ea typeface="Lora"/>
                <a:cs typeface="Lora"/>
                <a:sym typeface="Lora"/>
              </a:rPr>
              <a:t>Police Emergency Response: Supports smoother movement of police vehicles during emergencies.</a:t>
            </a:r>
          </a:p>
          <a:p>
            <a:pPr algn="l" marL="753060" indent="-376530" lvl="1">
              <a:lnSpc>
                <a:spcPts val="4883"/>
              </a:lnSpc>
              <a:buAutoNum type="arabicPeriod" startAt="1"/>
            </a:pPr>
            <a:r>
              <a:rPr lang="en-US" sz="3488">
                <a:solidFill>
                  <a:srgbClr val="000000"/>
                </a:solidFill>
                <a:latin typeface="Lora"/>
                <a:ea typeface="Lora"/>
                <a:cs typeface="Lora"/>
                <a:sym typeface="Lora"/>
              </a:rPr>
              <a:t>Smart Traffic Management: Can be integrated into intelligent traffic systems to coordinate traffic signal timings.</a:t>
            </a:r>
          </a:p>
          <a:p>
            <a:pPr algn="l" marL="753060" indent="-376530" lvl="1">
              <a:lnSpc>
                <a:spcPts val="4883"/>
              </a:lnSpc>
              <a:buAutoNum type="arabicPeriod" startAt="1"/>
            </a:pPr>
            <a:r>
              <a:rPr lang="en-US" sz="3488">
                <a:solidFill>
                  <a:srgbClr val="000000"/>
                </a:solidFill>
                <a:latin typeface="Lora"/>
                <a:ea typeface="Lora"/>
                <a:cs typeface="Lora"/>
                <a:sym typeface="Lora"/>
              </a:rPr>
              <a:t>Smart City Development: Provides a foundation for developing technology-based emergency vehicle coordination systems.</a:t>
            </a:r>
          </a:p>
          <a:p>
            <a:pPr algn="l">
              <a:lnSpc>
                <a:spcPts val="4883"/>
              </a:lnSpc>
            </a:pPr>
          </a:p>
        </p:txBody>
      </p:sp>
      <p:grpSp>
        <p:nvGrpSpPr>
          <p:cNvPr name="Group 3" id="3"/>
          <p:cNvGrpSpPr/>
          <p:nvPr/>
        </p:nvGrpSpPr>
        <p:grpSpPr>
          <a:xfrm rot="0">
            <a:off x="0" y="212512"/>
            <a:ext cx="18287524" cy="1069848"/>
            <a:chOff x="0" y="0"/>
            <a:chExt cx="24383365" cy="1426464"/>
          </a:xfrm>
        </p:grpSpPr>
        <p:sp>
          <p:nvSpPr>
            <p:cNvPr name="Freeform 4" id="4"/>
            <p:cNvSpPr/>
            <p:nvPr/>
          </p:nvSpPr>
          <p:spPr>
            <a:xfrm flipH="false" flipV="false" rot="0">
              <a:off x="0" y="0"/>
              <a:ext cx="24383364" cy="1426464"/>
            </a:xfrm>
            <a:custGeom>
              <a:avLst/>
              <a:gdLst/>
              <a:ahLst/>
              <a:cxnLst/>
              <a:rect r="r" b="b" t="t" l="l"/>
              <a:pathLst>
                <a:path h="1426464" w="24383364">
                  <a:moveTo>
                    <a:pt x="0" y="0"/>
                  </a:moveTo>
                  <a:lnTo>
                    <a:pt x="24383364" y="0"/>
                  </a:lnTo>
                  <a:lnTo>
                    <a:pt x="24383364" y="1426464"/>
                  </a:lnTo>
                  <a:lnTo>
                    <a:pt x="0" y="1426464"/>
                  </a:lnTo>
                  <a:close/>
                </a:path>
              </a:pathLst>
            </a:custGeom>
            <a:solidFill>
              <a:srgbClr val="115E59"/>
            </a:solidFill>
          </p:spPr>
        </p:sp>
      </p:grpSp>
      <p:grpSp>
        <p:nvGrpSpPr>
          <p:cNvPr name="Group 5" id="5"/>
          <p:cNvGrpSpPr/>
          <p:nvPr/>
        </p:nvGrpSpPr>
        <p:grpSpPr>
          <a:xfrm rot="0">
            <a:off x="16390620" y="212512"/>
            <a:ext cx="713232" cy="1069848"/>
            <a:chOff x="0" y="0"/>
            <a:chExt cx="950976" cy="1426464"/>
          </a:xfrm>
        </p:grpSpPr>
        <p:sp>
          <p:nvSpPr>
            <p:cNvPr name="Freeform 6" id="6"/>
            <p:cNvSpPr/>
            <p:nvPr/>
          </p:nvSpPr>
          <p:spPr>
            <a:xfrm flipH="false" flipV="false" rot="0">
              <a:off x="0" y="0"/>
              <a:ext cx="950976" cy="1426464"/>
            </a:xfrm>
            <a:custGeom>
              <a:avLst/>
              <a:gdLst/>
              <a:ahLst/>
              <a:cxnLst/>
              <a:rect r="r" b="b" t="t" l="l"/>
              <a:pathLst>
                <a:path h="1426464" w="950976">
                  <a:moveTo>
                    <a:pt x="0" y="1426464"/>
                  </a:moveTo>
                  <a:lnTo>
                    <a:pt x="237744" y="0"/>
                  </a:lnTo>
                  <a:lnTo>
                    <a:pt x="950976" y="0"/>
                  </a:lnTo>
                  <a:lnTo>
                    <a:pt x="713232" y="1426464"/>
                  </a:lnTo>
                  <a:close/>
                </a:path>
              </a:pathLst>
            </a:custGeom>
            <a:solidFill>
              <a:srgbClr val="F0FDF4"/>
            </a:solidFill>
          </p:spPr>
        </p:sp>
      </p:grpSp>
      <p:grpSp>
        <p:nvGrpSpPr>
          <p:cNvPr name="Group 7" id="7"/>
          <p:cNvGrpSpPr/>
          <p:nvPr/>
        </p:nvGrpSpPr>
        <p:grpSpPr>
          <a:xfrm rot="0">
            <a:off x="17035272" y="212512"/>
            <a:ext cx="754380" cy="1069848"/>
            <a:chOff x="0" y="0"/>
            <a:chExt cx="1005840" cy="1426464"/>
          </a:xfrm>
        </p:grpSpPr>
        <p:sp>
          <p:nvSpPr>
            <p:cNvPr name="Freeform 8" id="8"/>
            <p:cNvSpPr/>
            <p:nvPr/>
          </p:nvSpPr>
          <p:spPr>
            <a:xfrm flipH="false" flipV="false" rot="0">
              <a:off x="0" y="0"/>
              <a:ext cx="1005840" cy="1426464"/>
            </a:xfrm>
            <a:custGeom>
              <a:avLst/>
              <a:gdLst/>
              <a:ahLst/>
              <a:cxnLst/>
              <a:rect r="r" b="b" t="t" l="l"/>
              <a:pathLst>
                <a:path h="1426464" w="1005840">
                  <a:moveTo>
                    <a:pt x="0" y="1426464"/>
                  </a:moveTo>
                  <a:lnTo>
                    <a:pt x="251460" y="0"/>
                  </a:lnTo>
                  <a:lnTo>
                    <a:pt x="1005840" y="0"/>
                  </a:lnTo>
                  <a:lnTo>
                    <a:pt x="754380" y="1426464"/>
                  </a:lnTo>
                  <a:close/>
                </a:path>
              </a:pathLst>
            </a:custGeom>
            <a:solidFill>
              <a:srgbClr val="9FC7AA"/>
            </a:solidFill>
          </p:spPr>
        </p:sp>
      </p:grpSp>
      <p:sp>
        <p:nvSpPr>
          <p:cNvPr name="TextBox 9" id="9"/>
          <p:cNvSpPr txBox="true"/>
          <p:nvPr/>
        </p:nvSpPr>
        <p:spPr>
          <a:xfrm rot="0">
            <a:off x="1375896" y="28575"/>
            <a:ext cx="16105565" cy="1066786"/>
          </a:xfrm>
          <a:prstGeom prst="rect">
            <a:avLst/>
          </a:prstGeom>
        </p:spPr>
        <p:txBody>
          <a:bodyPr anchor="t" rtlCol="false" tIns="0" lIns="0" bIns="0" rIns="0">
            <a:spAutoFit/>
          </a:bodyPr>
          <a:lstStyle/>
          <a:p>
            <a:pPr algn="l">
              <a:lnSpc>
                <a:spcPts val="2341"/>
              </a:lnSpc>
            </a:pPr>
          </a:p>
          <a:p>
            <a:pPr algn="l">
              <a:lnSpc>
                <a:spcPts val="6124"/>
              </a:lnSpc>
            </a:pPr>
            <a:r>
              <a:rPr lang="en-US" sz="5103" b="true">
                <a:solidFill>
                  <a:srgbClr val="FFFFFF"/>
                </a:solidFill>
                <a:latin typeface="Lora Bold"/>
                <a:ea typeface="Lora Bold"/>
                <a:cs typeface="Lora Bold"/>
                <a:sym typeface="Lora Bold"/>
              </a:rPr>
              <a:t>Applications</a:t>
            </a:r>
          </a:p>
        </p:txBody>
      </p:sp>
      <p:grpSp>
        <p:nvGrpSpPr>
          <p:cNvPr name="Group 10" id="10"/>
          <p:cNvGrpSpPr/>
          <p:nvPr/>
        </p:nvGrpSpPr>
        <p:grpSpPr>
          <a:xfrm rot="0">
            <a:off x="0" y="9777774"/>
            <a:ext cx="18287524" cy="516293"/>
            <a:chOff x="0" y="0"/>
            <a:chExt cx="24383365" cy="688391"/>
          </a:xfrm>
        </p:grpSpPr>
        <p:sp>
          <p:nvSpPr>
            <p:cNvPr name="Freeform 11" id="11"/>
            <p:cNvSpPr/>
            <p:nvPr/>
          </p:nvSpPr>
          <p:spPr>
            <a:xfrm flipH="false" flipV="false" rot="0">
              <a:off x="0" y="-23"/>
              <a:ext cx="24383364" cy="688386"/>
            </a:xfrm>
            <a:custGeom>
              <a:avLst/>
              <a:gdLst/>
              <a:ahLst/>
              <a:cxnLst/>
              <a:rect r="r" b="b" t="t" l="l"/>
              <a:pathLst>
                <a:path h="688386" w="24383364">
                  <a:moveTo>
                    <a:pt x="0" y="83589"/>
                  </a:moveTo>
                  <a:cubicBezTo>
                    <a:pt x="8127746" y="-205971"/>
                    <a:pt x="16255619" y="373149"/>
                    <a:pt x="24383364" y="83589"/>
                  </a:cubicBezTo>
                  <a:lnTo>
                    <a:pt x="24383364" y="604797"/>
                  </a:lnTo>
                  <a:cubicBezTo>
                    <a:pt x="16255619" y="894357"/>
                    <a:pt x="8127746" y="315237"/>
                    <a:pt x="0" y="604797"/>
                  </a:cubicBezTo>
                  <a:close/>
                </a:path>
              </a:pathLst>
            </a:custGeom>
            <a:solidFill>
              <a:srgbClr val="9FC7AA"/>
            </a:solid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81449" y="2769152"/>
            <a:ext cx="8062312" cy="6513065"/>
          </a:xfrm>
          <a:custGeom>
            <a:avLst/>
            <a:gdLst/>
            <a:ahLst/>
            <a:cxnLst/>
            <a:rect r="r" b="b" t="t" l="l"/>
            <a:pathLst>
              <a:path h="6513065" w="8062312">
                <a:moveTo>
                  <a:pt x="0" y="0"/>
                </a:moveTo>
                <a:lnTo>
                  <a:pt x="8062313" y="0"/>
                </a:lnTo>
                <a:lnTo>
                  <a:pt x="8062313" y="6513065"/>
                </a:lnTo>
                <a:lnTo>
                  <a:pt x="0" y="65130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47206" y="3294088"/>
            <a:ext cx="576548" cy="576548"/>
            <a:chOff x="0" y="0"/>
            <a:chExt cx="768731" cy="768731"/>
          </a:xfrm>
        </p:grpSpPr>
        <p:sp>
          <p:nvSpPr>
            <p:cNvPr name="Freeform 4" id="4" descr="slide_16_Picture_9.png"/>
            <p:cNvSpPr/>
            <p:nvPr/>
          </p:nvSpPr>
          <p:spPr>
            <a:xfrm flipH="false" flipV="false" rot="0">
              <a:off x="0" y="0"/>
              <a:ext cx="768731" cy="768731"/>
            </a:xfrm>
            <a:custGeom>
              <a:avLst/>
              <a:gdLst/>
              <a:ahLst/>
              <a:cxnLst/>
              <a:rect r="r" b="b" t="t" l="l"/>
              <a:pathLst>
                <a:path h="768731" w="768731">
                  <a:moveTo>
                    <a:pt x="0" y="0"/>
                  </a:moveTo>
                  <a:lnTo>
                    <a:pt x="768731" y="0"/>
                  </a:lnTo>
                  <a:lnTo>
                    <a:pt x="768731" y="768731"/>
                  </a:lnTo>
                  <a:lnTo>
                    <a:pt x="0" y="768731"/>
                  </a:lnTo>
                  <a:lnTo>
                    <a:pt x="0" y="0"/>
                  </a:lnTo>
                  <a:close/>
                </a:path>
              </a:pathLst>
            </a:custGeom>
            <a:blipFill>
              <a:blip r:embed="rId4"/>
              <a:stretch>
                <a:fillRect l="0" t="0" r="0" b="0"/>
              </a:stretch>
            </a:blipFill>
          </p:spPr>
        </p:sp>
      </p:grpSp>
      <p:sp>
        <p:nvSpPr>
          <p:cNvPr name="TextBox 5" id="5"/>
          <p:cNvSpPr txBox="true"/>
          <p:nvPr/>
        </p:nvSpPr>
        <p:spPr>
          <a:xfrm rot="0">
            <a:off x="2470814" y="3255759"/>
            <a:ext cx="5902490" cy="842658"/>
          </a:xfrm>
          <a:prstGeom prst="rect">
            <a:avLst/>
          </a:prstGeom>
        </p:spPr>
        <p:txBody>
          <a:bodyPr anchor="t" rtlCol="false" tIns="0" lIns="0" bIns="0" rIns="0">
            <a:spAutoFit/>
          </a:bodyPr>
          <a:lstStyle/>
          <a:p>
            <a:pPr algn="l">
              <a:lnSpc>
                <a:spcPts val="4323"/>
              </a:lnSpc>
            </a:pPr>
            <a:r>
              <a:rPr lang="en-US" sz="3602" b="true">
                <a:solidFill>
                  <a:srgbClr val="047857"/>
                </a:solidFill>
                <a:latin typeface="Inter Bold"/>
                <a:ea typeface="Inter Bold"/>
                <a:cs typeface="Inter Bold"/>
                <a:sym typeface="Inter Bold"/>
              </a:rPr>
              <a:t>Advantages</a:t>
            </a:r>
          </a:p>
        </p:txBody>
      </p:sp>
      <p:sp>
        <p:nvSpPr>
          <p:cNvPr name="TextBox 6" id="6"/>
          <p:cNvSpPr txBox="true"/>
          <p:nvPr/>
        </p:nvSpPr>
        <p:spPr>
          <a:xfrm rot="0">
            <a:off x="1647206" y="4442136"/>
            <a:ext cx="6863363" cy="1028658"/>
          </a:xfrm>
          <a:prstGeom prst="rect">
            <a:avLst/>
          </a:prstGeom>
        </p:spPr>
        <p:txBody>
          <a:bodyPr anchor="t" rtlCol="false" tIns="0" lIns="0" bIns="0" rIns="0">
            <a:spAutoFit/>
          </a:bodyPr>
          <a:lstStyle/>
          <a:p>
            <a:pPr algn="l">
              <a:lnSpc>
                <a:spcPts val="2942"/>
              </a:lnSpc>
            </a:pPr>
            <a:r>
              <a:rPr lang="en-US" sz="2450">
                <a:solidFill>
                  <a:srgbClr val="059669"/>
                </a:solidFill>
                <a:latin typeface="Inter"/>
                <a:ea typeface="Inter"/>
                <a:cs typeface="Inter"/>
                <a:sym typeface="Inter"/>
              </a:rPr>
              <a:t>•  </a:t>
            </a:r>
            <a:r>
              <a:rPr lang="en-US" sz="2450" b="true">
                <a:solidFill>
                  <a:srgbClr val="0F172A"/>
                </a:solidFill>
                <a:latin typeface="Inter Bold"/>
                <a:ea typeface="Inter Bold"/>
                <a:cs typeface="Inter Bold"/>
                <a:sym typeface="Inter Bold"/>
              </a:rPr>
              <a:t>Clear mathematical modeling</a:t>
            </a:r>
          </a:p>
          <a:p>
            <a:pPr algn="l">
              <a:lnSpc>
                <a:spcPts val="2580"/>
              </a:lnSpc>
            </a:pPr>
            <a:r>
              <a:rPr lang="en-US" sz="2150">
                <a:solidFill>
                  <a:srgbClr val="64748B"/>
                </a:solidFill>
                <a:latin typeface="Inter"/>
                <a:ea typeface="Inter"/>
                <a:cs typeface="Inter"/>
                <a:sym typeface="Inter"/>
              </a:rPr>
              <a:t>    Rigorous foundation using number theory and modular congruences.</a:t>
            </a:r>
          </a:p>
        </p:txBody>
      </p:sp>
      <p:sp>
        <p:nvSpPr>
          <p:cNvPr name="TextBox 7" id="7"/>
          <p:cNvSpPr txBox="true"/>
          <p:nvPr/>
        </p:nvSpPr>
        <p:spPr>
          <a:xfrm rot="0">
            <a:off x="1647206" y="6020705"/>
            <a:ext cx="6863363" cy="1028658"/>
          </a:xfrm>
          <a:prstGeom prst="rect">
            <a:avLst/>
          </a:prstGeom>
        </p:spPr>
        <p:txBody>
          <a:bodyPr anchor="t" rtlCol="false" tIns="0" lIns="0" bIns="0" rIns="0">
            <a:spAutoFit/>
          </a:bodyPr>
          <a:lstStyle/>
          <a:p>
            <a:pPr algn="l">
              <a:lnSpc>
                <a:spcPts val="2942"/>
              </a:lnSpc>
            </a:pPr>
            <a:r>
              <a:rPr lang="en-US" sz="2450">
                <a:solidFill>
                  <a:srgbClr val="059669"/>
                </a:solidFill>
                <a:latin typeface="Inter"/>
                <a:ea typeface="Inter"/>
                <a:cs typeface="Inter"/>
                <a:sym typeface="Inter"/>
              </a:rPr>
              <a:t>•  </a:t>
            </a:r>
            <a:r>
              <a:rPr lang="en-US" sz="2450" b="true">
                <a:solidFill>
                  <a:srgbClr val="0F172A"/>
                </a:solidFill>
                <a:latin typeface="Inter Bold"/>
                <a:ea typeface="Inter Bold"/>
                <a:cs typeface="Inter Bold"/>
                <a:sym typeface="Inter Bold"/>
              </a:rPr>
              <a:t>Reproducible timing structures</a:t>
            </a:r>
          </a:p>
          <a:p>
            <a:pPr algn="l">
              <a:lnSpc>
                <a:spcPts val="2580"/>
              </a:lnSpc>
            </a:pPr>
            <a:r>
              <a:rPr lang="en-US" sz="2150">
                <a:solidFill>
                  <a:srgbClr val="64748B"/>
                </a:solidFill>
                <a:latin typeface="Inter"/>
                <a:ea typeface="Inter"/>
                <a:cs typeface="Inter"/>
                <a:sym typeface="Inter"/>
              </a:rPr>
              <a:t>    Deterministic departure schedules with provable consistency.</a:t>
            </a:r>
          </a:p>
        </p:txBody>
      </p:sp>
      <p:sp>
        <p:nvSpPr>
          <p:cNvPr name="TextBox 8" id="8"/>
          <p:cNvSpPr txBox="true"/>
          <p:nvPr/>
        </p:nvSpPr>
        <p:spPr>
          <a:xfrm rot="0">
            <a:off x="1647206" y="7599283"/>
            <a:ext cx="6863363" cy="1028658"/>
          </a:xfrm>
          <a:prstGeom prst="rect">
            <a:avLst/>
          </a:prstGeom>
        </p:spPr>
        <p:txBody>
          <a:bodyPr anchor="t" rtlCol="false" tIns="0" lIns="0" bIns="0" rIns="0">
            <a:spAutoFit/>
          </a:bodyPr>
          <a:lstStyle/>
          <a:p>
            <a:pPr algn="l">
              <a:lnSpc>
                <a:spcPts val="2942"/>
              </a:lnSpc>
            </a:pPr>
            <a:r>
              <a:rPr lang="en-US" sz="2450">
                <a:solidFill>
                  <a:srgbClr val="059669"/>
                </a:solidFill>
                <a:latin typeface="Inter"/>
                <a:ea typeface="Inter"/>
                <a:cs typeface="Inter"/>
                <a:sym typeface="Inter"/>
              </a:rPr>
              <a:t>•  </a:t>
            </a:r>
            <a:r>
              <a:rPr lang="en-US" sz="2450" b="true">
                <a:solidFill>
                  <a:srgbClr val="0F172A"/>
                </a:solidFill>
                <a:latin typeface="Inter Bold"/>
                <a:ea typeface="Inter Bold"/>
                <a:cs typeface="Inter Bold"/>
                <a:sym typeface="Inter Bold"/>
              </a:rPr>
              <a:t>Zero physical hardware cost</a:t>
            </a:r>
          </a:p>
          <a:p>
            <a:pPr algn="l">
              <a:lnSpc>
                <a:spcPts val="2580"/>
              </a:lnSpc>
            </a:pPr>
            <a:r>
              <a:rPr lang="en-US" sz="2150">
                <a:solidFill>
                  <a:srgbClr val="64748B"/>
                </a:solidFill>
                <a:latin typeface="Inter"/>
                <a:ea typeface="Inter"/>
                <a:cs typeface="Inter"/>
                <a:sym typeface="Inter"/>
              </a:rPr>
              <a:t>    Achieves synchronization through calculation rather than expensive roadside transponders.</a:t>
            </a:r>
          </a:p>
        </p:txBody>
      </p:sp>
      <p:sp>
        <p:nvSpPr>
          <p:cNvPr name="Freeform 9" id="9"/>
          <p:cNvSpPr/>
          <p:nvPr/>
        </p:nvSpPr>
        <p:spPr>
          <a:xfrm flipH="false" flipV="false" rot="0">
            <a:off x="9317488" y="2769152"/>
            <a:ext cx="8062312" cy="6513065"/>
          </a:xfrm>
          <a:custGeom>
            <a:avLst/>
            <a:gdLst/>
            <a:ahLst/>
            <a:cxnLst/>
            <a:rect r="r" b="b" t="t" l="l"/>
            <a:pathLst>
              <a:path h="6513065" w="8062312">
                <a:moveTo>
                  <a:pt x="0" y="0"/>
                </a:moveTo>
                <a:lnTo>
                  <a:pt x="8062313" y="0"/>
                </a:lnTo>
                <a:lnTo>
                  <a:pt x="8062313" y="6513065"/>
                </a:lnTo>
                <a:lnTo>
                  <a:pt x="0" y="65130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9883245" y="3239729"/>
            <a:ext cx="576548" cy="576548"/>
            <a:chOff x="0" y="0"/>
            <a:chExt cx="768731" cy="768731"/>
          </a:xfrm>
        </p:grpSpPr>
        <p:sp>
          <p:nvSpPr>
            <p:cNvPr name="Freeform 11" id="11" descr="slide_16_Picture_10.png"/>
            <p:cNvSpPr/>
            <p:nvPr/>
          </p:nvSpPr>
          <p:spPr>
            <a:xfrm flipH="false" flipV="false" rot="0">
              <a:off x="0" y="0"/>
              <a:ext cx="768731" cy="768731"/>
            </a:xfrm>
            <a:custGeom>
              <a:avLst/>
              <a:gdLst/>
              <a:ahLst/>
              <a:cxnLst/>
              <a:rect r="r" b="b" t="t" l="l"/>
              <a:pathLst>
                <a:path h="768731" w="768731">
                  <a:moveTo>
                    <a:pt x="0" y="0"/>
                  </a:moveTo>
                  <a:lnTo>
                    <a:pt x="768731" y="0"/>
                  </a:lnTo>
                  <a:lnTo>
                    <a:pt x="768731" y="768731"/>
                  </a:lnTo>
                  <a:lnTo>
                    <a:pt x="0" y="768731"/>
                  </a:lnTo>
                  <a:lnTo>
                    <a:pt x="0" y="0"/>
                  </a:lnTo>
                  <a:close/>
                </a:path>
              </a:pathLst>
            </a:custGeom>
            <a:blipFill>
              <a:blip r:embed="rId5"/>
              <a:stretch>
                <a:fillRect l="0" t="0" r="0" b="0"/>
              </a:stretch>
            </a:blipFill>
          </p:spPr>
        </p:sp>
      </p:grpSp>
      <p:sp>
        <p:nvSpPr>
          <p:cNvPr name="TextBox 12" id="12"/>
          <p:cNvSpPr txBox="true"/>
          <p:nvPr/>
        </p:nvSpPr>
        <p:spPr>
          <a:xfrm rot="0">
            <a:off x="10706843" y="3239729"/>
            <a:ext cx="5902490" cy="842658"/>
          </a:xfrm>
          <a:prstGeom prst="rect">
            <a:avLst/>
          </a:prstGeom>
        </p:spPr>
        <p:txBody>
          <a:bodyPr anchor="t" rtlCol="false" tIns="0" lIns="0" bIns="0" rIns="0">
            <a:spAutoFit/>
          </a:bodyPr>
          <a:lstStyle/>
          <a:p>
            <a:pPr algn="l">
              <a:lnSpc>
                <a:spcPts val="4323"/>
              </a:lnSpc>
            </a:pPr>
            <a:r>
              <a:rPr lang="en-US" sz="3602" b="true">
                <a:solidFill>
                  <a:srgbClr val="C2410C"/>
                </a:solidFill>
                <a:latin typeface="Inter Bold"/>
                <a:ea typeface="Inter Bold"/>
                <a:cs typeface="Inter Bold"/>
                <a:sym typeface="Inter Bold"/>
              </a:rPr>
              <a:t>Limitations</a:t>
            </a:r>
          </a:p>
        </p:txBody>
      </p:sp>
      <p:sp>
        <p:nvSpPr>
          <p:cNvPr name="TextBox 13" id="13"/>
          <p:cNvSpPr txBox="true"/>
          <p:nvPr/>
        </p:nvSpPr>
        <p:spPr>
          <a:xfrm rot="0">
            <a:off x="9883245" y="4442136"/>
            <a:ext cx="6863363" cy="1028658"/>
          </a:xfrm>
          <a:prstGeom prst="rect">
            <a:avLst/>
          </a:prstGeom>
        </p:spPr>
        <p:txBody>
          <a:bodyPr anchor="t" rtlCol="false" tIns="0" lIns="0" bIns="0" rIns="0">
            <a:spAutoFit/>
          </a:bodyPr>
          <a:lstStyle/>
          <a:p>
            <a:pPr algn="l">
              <a:lnSpc>
                <a:spcPts val="2942"/>
              </a:lnSpc>
            </a:pPr>
            <a:r>
              <a:rPr lang="en-US" sz="2450">
                <a:solidFill>
                  <a:srgbClr val="EA580C"/>
                </a:solidFill>
                <a:latin typeface="Inter"/>
                <a:ea typeface="Inter"/>
                <a:cs typeface="Inter"/>
                <a:sym typeface="Inter"/>
              </a:rPr>
              <a:t>•  </a:t>
            </a:r>
            <a:r>
              <a:rPr lang="en-US" sz="2450" b="true">
                <a:solidFill>
                  <a:srgbClr val="0F172A"/>
                </a:solidFill>
                <a:latin typeface="Inter Bold"/>
                <a:ea typeface="Inter Bold"/>
                <a:cs typeface="Inter Bold"/>
                <a:sym typeface="Inter Bold"/>
              </a:rPr>
              <a:t>Assumes constant travel velocities</a:t>
            </a:r>
          </a:p>
          <a:p>
            <a:pPr algn="l">
              <a:lnSpc>
                <a:spcPts val="2580"/>
              </a:lnSpc>
            </a:pPr>
            <a:r>
              <a:rPr lang="en-US" sz="2150">
                <a:solidFill>
                  <a:srgbClr val="64748B"/>
                </a:solidFill>
                <a:latin typeface="Inter"/>
                <a:ea typeface="Inter"/>
                <a:cs typeface="Inter"/>
                <a:sym typeface="Inter"/>
              </a:rPr>
              <a:t>    Calculations model uniform vehicle transit speeds between intersections.</a:t>
            </a:r>
          </a:p>
        </p:txBody>
      </p:sp>
      <p:sp>
        <p:nvSpPr>
          <p:cNvPr name="TextBox 14" id="14"/>
          <p:cNvSpPr txBox="true"/>
          <p:nvPr/>
        </p:nvSpPr>
        <p:spPr>
          <a:xfrm rot="0">
            <a:off x="9883245" y="6020705"/>
            <a:ext cx="6863363" cy="1028658"/>
          </a:xfrm>
          <a:prstGeom prst="rect">
            <a:avLst/>
          </a:prstGeom>
        </p:spPr>
        <p:txBody>
          <a:bodyPr anchor="t" rtlCol="false" tIns="0" lIns="0" bIns="0" rIns="0">
            <a:spAutoFit/>
          </a:bodyPr>
          <a:lstStyle/>
          <a:p>
            <a:pPr algn="l">
              <a:lnSpc>
                <a:spcPts val="2942"/>
              </a:lnSpc>
            </a:pPr>
            <a:r>
              <a:rPr lang="en-US" sz="2450">
                <a:solidFill>
                  <a:srgbClr val="EA580C"/>
                </a:solidFill>
                <a:latin typeface="Inter"/>
                <a:ea typeface="Inter"/>
                <a:cs typeface="Inter"/>
                <a:sym typeface="Inter"/>
              </a:rPr>
              <a:t>•  </a:t>
            </a:r>
            <a:r>
              <a:rPr lang="en-US" sz="2450" b="true">
                <a:solidFill>
                  <a:srgbClr val="0F172A"/>
                </a:solidFill>
                <a:latin typeface="Inter Bold"/>
                <a:ea typeface="Inter Bold"/>
                <a:cs typeface="Inter Bold"/>
                <a:sym typeface="Inter Bold"/>
              </a:rPr>
              <a:t>Ignores unexpected congestion</a:t>
            </a:r>
          </a:p>
          <a:p>
            <a:pPr algn="l">
              <a:lnSpc>
                <a:spcPts val="2580"/>
              </a:lnSpc>
            </a:pPr>
            <a:r>
              <a:rPr lang="en-US" sz="2150">
                <a:solidFill>
                  <a:srgbClr val="64748B"/>
                </a:solidFill>
                <a:latin typeface="Inter"/>
                <a:ea typeface="Inter"/>
                <a:cs typeface="Inter"/>
                <a:sym typeface="Inter"/>
              </a:rPr>
              <a:t>    Real-world traffic bottlenecks can cause temporal drift from ideal schedules.</a:t>
            </a:r>
          </a:p>
        </p:txBody>
      </p:sp>
      <p:sp>
        <p:nvSpPr>
          <p:cNvPr name="TextBox 15" id="15"/>
          <p:cNvSpPr txBox="true"/>
          <p:nvPr/>
        </p:nvSpPr>
        <p:spPr>
          <a:xfrm rot="0">
            <a:off x="9883245" y="7599283"/>
            <a:ext cx="6863363" cy="1028658"/>
          </a:xfrm>
          <a:prstGeom prst="rect">
            <a:avLst/>
          </a:prstGeom>
        </p:spPr>
        <p:txBody>
          <a:bodyPr anchor="t" rtlCol="false" tIns="0" lIns="0" bIns="0" rIns="0">
            <a:spAutoFit/>
          </a:bodyPr>
          <a:lstStyle/>
          <a:p>
            <a:pPr algn="l">
              <a:lnSpc>
                <a:spcPts val="2942"/>
              </a:lnSpc>
            </a:pPr>
            <a:r>
              <a:rPr lang="en-US" sz="2450">
                <a:solidFill>
                  <a:srgbClr val="EA580C"/>
                </a:solidFill>
                <a:latin typeface="Inter"/>
                <a:ea typeface="Inter"/>
                <a:cs typeface="Inter"/>
                <a:sym typeface="Inter"/>
              </a:rPr>
              <a:t>•  </a:t>
            </a:r>
            <a:r>
              <a:rPr lang="en-US" sz="2450" b="true">
                <a:solidFill>
                  <a:srgbClr val="0F172A"/>
                </a:solidFill>
                <a:latin typeface="Inter Bold"/>
                <a:ea typeface="Inter Bold"/>
                <a:cs typeface="Inter Bold"/>
                <a:sym typeface="Inter Bold"/>
              </a:rPr>
              <a:t>Incompatible modular congruences</a:t>
            </a:r>
          </a:p>
          <a:p>
            <a:pPr algn="l">
              <a:lnSpc>
                <a:spcPts val="2580"/>
              </a:lnSpc>
            </a:pPr>
            <a:r>
              <a:rPr lang="en-US" sz="2150">
                <a:solidFill>
                  <a:srgbClr val="64748B"/>
                </a:solidFill>
                <a:latin typeface="Inter"/>
                <a:ea typeface="Inter"/>
                <a:cs typeface="Inter"/>
                <a:sym typeface="Inter"/>
              </a:rPr>
              <a:t>    Non-coprime cycles with conflicting remainders require fallback heuristics.</a:t>
            </a:r>
          </a:p>
        </p:txBody>
      </p:sp>
      <p:grpSp>
        <p:nvGrpSpPr>
          <p:cNvPr name="Group 16" id="16"/>
          <p:cNvGrpSpPr/>
          <p:nvPr/>
        </p:nvGrpSpPr>
        <p:grpSpPr>
          <a:xfrm rot="0">
            <a:off x="0" y="212512"/>
            <a:ext cx="18287524" cy="1069848"/>
            <a:chOff x="0" y="0"/>
            <a:chExt cx="24383365" cy="1426464"/>
          </a:xfrm>
        </p:grpSpPr>
        <p:sp>
          <p:nvSpPr>
            <p:cNvPr name="Freeform 17" id="17"/>
            <p:cNvSpPr/>
            <p:nvPr/>
          </p:nvSpPr>
          <p:spPr>
            <a:xfrm flipH="false" flipV="false" rot="0">
              <a:off x="0" y="0"/>
              <a:ext cx="24383364" cy="1426464"/>
            </a:xfrm>
            <a:custGeom>
              <a:avLst/>
              <a:gdLst/>
              <a:ahLst/>
              <a:cxnLst/>
              <a:rect r="r" b="b" t="t" l="l"/>
              <a:pathLst>
                <a:path h="1426464" w="24383364">
                  <a:moveTo>
                    <a:pt x="0" y="0"/>
                  </a:moveTo>
                  <a:lnTo>
                    <a:pt x="24383364" y="0"/>
                  </a:lnTo>
                  <a:lnTo>
                    <a:pt x="24383364" y="1426464"/>
                  </a:lnTo>
                  <a:lnTo>
                    <a:pt x="0" y="1426464"/>
                  </a:lnTo>
                  <a:close/>
                </a:path>
              </a:pathLst>
            </a:custGeom>
            <a:solidFill>
              <a:srgbClr val="115E59"/>
            </a:solidFill>
          </p:spPr>
        </p:sp>
      </p:grpSp>
      <p:grpSp>
        <p:nvGrpSpPr>
          <p:cNvPr name="Group 18" id="18"/>
          <p:cNvGrpSpPr/>
          <p:nvPr/>
        </p:nvGrpSpPr>
        <p:grpSpPr>
          <a:xfrm rot="0">
            <a:off x="16390620" y="212512"/>
            <a:ext cx="713232" cy="1069848"/>
            <a:chOff x="0" y="0"/>
            <a:chExt cx="950976" cy="1426464"/>
          </a:xfrm>
        </p:grpSpPr>
        <p:sp>
          <p:nvSpPr>
            <p:cNvPr name="Freeform 19" id="19"/>
            <p:cNvSpPr/>
            <p:nvPr/>
          </p:nvSpPr>
          <p:spPr>
            <a:xfrm flipH="false" flipV="false" rot="0">
              <a:off x="0" y="0"/>
              <a:ext cx="950976" cy="1426464"/>
            </a:xfrm>
            <a:custGeom>
              <a:avLst/>
              <a:gdLst/>
              <a:ahLst/>
              <a:cxnLst/>
              <a:rect r="r" b="b" t="t" l="l"/>
              <a:pathLst>
                <a:path h="1426464" w="950976">
                  <a:moveTo>
                    <a:pt x="0" y="1426464"/>
                  </a:moveTo>
                  <a:lnTo>
                    <a:pt x="237744" y="0"/>
                  </a:lnTo>
                  <a:lnTo>
                    <a:pt x="950976" y="0"/>
                  </a:lnTo>
                  <a:lnTo>
                    <a:pt x="713232" y="1426464"/>
                  </a:lnTo>
                  <a:close/>
                </a:path>
              </a:pathLst>
            </a:custGeom>
            <a:solidFill>
              <a:srgbClr val="F0FDF4"/>
            </a:solidFill>
          </p:spPr>
        </p:sp>
      </p:grpSp>
      <p:grpSp>
        <p:nvGrpSpPr>
          <p:cNvPr name="Group 20" id="20"/>
          <p:cNvGrpSpPr/>
          <p:nvPr/>
        </p:nvGrpSpPr>
        <p:grpSpPr>
          <a:xfrm rot="0">
            <a:off x="17035272" y="212512"/>
            <a:ext cx="754380" cy="1069848"/>
            <a:chOff x="0" y="0"/>
            <a:chExt cx="1005840" cy="1426464"/>
          </a:xfrm>
        </p:grpSpPr>
        <p:sp>
          <p:nvSpPr>
            <p:cNvPr name="Freeform 21" id="21"/>
            <p:cNvSpPr/>
            <p:nvPr/>
          </p:nvSpPr>
          <p:spPr>
            <a:xfrm flipH="false" flipV="false" rot="0">
              <a:off x="0" y="0"/>
              <a:ext cx="1005840" cy="1426464"/>
            </a:xfrm>
            <a:custGeom>
              <a:avLst/>
              <a:gdLst/>
              <a:ahLst/>
              <a:cxnLst/>
              <a:rect r="r" b="b" t="t" l="l"/>
              <a:pathLst>
                <a:path h="1426464" w="1005840">
                  <a:moveTo>
                    <a:pt x="0" y="1426464"/>
                  </a:moveTo>
                  <a:lnTo>
                    <a:pt x="251460" y="0"/>
                  </a:lnTo>
                  <a:lnTo>
                    <a:pt x="1005840" y="0"/>
                  </a:lnTo>
                  <a:lnTo>
                    <a:pt x="754380" y="1426464"/>
                  </a:lnTo>
                  <a:close/>
                </a:path>
              </a:pathLst>
            </a:custGeom>
            <a:solidFill>
              <a:srgbClr val="9FC7AA"/>
            </a:solidFill>
          </p:spPr>
        </p:sp>
      </p:grpSp>
      <p:sp>
        <p:nvSpPr>
          <p:cNvPr name="TextBox 22" id="22"/>
          <p:cNvSpPr txBox="true"/>
          <p:nvPr/>
        </p:nvSpPr>
        <p:spPr>
          <a:xfrm rot="0">
            <a:off x="857655" y="63174"/>
            <a:ext cx="16105565" cy="1066786"/>
          </a:xfrm>
          <a:prstGeom prst="rect">
            <a:avLst/>
          </a:prstGeom>
        </p:spPr>
        <p:txBody>
          <a:bodyPr anchor="t" rtlCol="false" tIns="0" lIns="0" bIns="0" rIns="0">
            <a:spAutoFit/>
          </a:bodyPr>
          <a:lstStyle/>
          <a:p>
            <a:pPr algn="l">
              <a:lnSpc>
                <a:spcPts val="2341"/>
              </a:lnSpc>
            </a:pPr>
          </a:p>
          <a:p>
            <a:pPr algn="l">
              <a:lnSpc>
                <a:spcPts val="6124"/>
              </a:lnSpc>
            </a:pPr>
            <a:r>
              <a:rPr lang="en-US" sz="5103" b="true">
                <a:solidFill>
                  <a:srgbClr val="FFFFFF"/>
                </a:solidFill>
                <a:latin typeface="Lora Bold"/>
                <a:ea typeface="Lora Bold"/>
                <a:cs typeface="Lora Bold"/>
                <a:sym typeface="Lora Bold"/>
              </a:rPr>
              <a:t>Advantages &amp; Limitations</a:t>
            </a:r>
          </a:p>
        </p:txBody>
      </p:sp>
      <p:grpSp>
        <p:nvGrpSpPr>
          <p:cNvPr name="Group 23" id="23"/>
          <p:cNvGrpSpPr/>
          <p:nvPr/>
        </p:nvGrpSpPr>
        <p:grpSpPr>
          <a:xfrm rot="0">
            <a:off x="0" y="9777774"/>
            <a:ext cx="18287524" cy="516293"/>
            <a:chOff x="0" y="0"/>
            <a:chExt cx="24383365" cy="688391"/>
          </a:xfrm>
        </p:grpSpPr>
        <p:sp>
          <p:nvSpPr>
            <p:cNvPr name="Freeform 24" id="24"/>
            <p:cNvSpPr/>
            <p:nvPr/>
          </p:nvSpPr>
          <p:spPr>
            <a:xfrm flipH="false" flipV="false" rot="0">
              <a:off x="0" y="-23"/>
              <a:ext cx="24383364" cy="688386"/>
            </a:xfrm>
            <a:custGeom>
              <a:avLst/>
              <a:gdLst/>
              <a:ahLst/>
              <a:cxnLst/>
              <a:rect r="r" b="b" t="t" l="l"/>
              <a:pathLst>
                <a:path h="688386" w="24383364">
                  <a:moveTo>
                    <a:pt x="0" y="83589"/>
                  </a:moveTo>
                  <a:cubicBezTo>
                    <a:pt x="8127746" y="-205971"/>
                    <a:pt x="16255619" y="373149"/>
                    <a:pt x="24383364" y="83589"/>
                  </a:cubicBezTo>
                  <a:lnTo>
                    <a:pt x="24383364" y="604797"/>
                  </a:lnTo>
                  <a:cubicBezTo>
                    <a:pt x="16255619" y="894357"/>
                    <a:pt x="8127746" y="315237"/>
                    <a:pt x="0" y="604797"/>
                  </a:cubicBezTo>
                  <a:close/>
                </a:path>
              </a:pathLst>
            </a:custGeom>
            <a:solidFill>
              <a:srgbClr val="9FC7AA"/>
            </a:solidFill>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98137" y="3157147"/>
            <a:ext cx="5124260" cy="6108382"/>
            <a:chOff x="0" y="0"/>
            <a:chExt cx="6832346" cy="8144510"/>
          </a:xfrm>
        </p:grpSpPr>
        <p:sp>
          <p:nvSpPr>
            <p:cNvPr name="Freeform 3" id="3"/>
            <p:cNvSpPr/>
            <p:nvPr/>
          </p:nvSpPr>
          <p:spPr>
            <a:xfrm flipH="false" flipV="false" rot="0">
              <a:off x="0" y="0"/>
              <a:ext cx="6832346" cy="8144510"/>
            </a:xfrm>
            <a:custGeom>
              <a:avLst/>
              <a:gdLst/>
              <a:ahLst/>
              <a:cxnLst/>
              <a:rect r="r" b="b" t="t" l="l"/>
              <a:pathLst>
                <a:path h="8144510" w="6832346">
                  <a:moveTo>
                    <a:pt x="0" y="546608"/>
                  </a:moveTo>
                  <a:cubicBezTo>
                    <a:pt x="0" y="244729"/>
                    <a:pt x="244729" y="0"/>
                    <a:pt x="546608" y="0"/>
                  </a:cubicBezTo>
                  <a:lnTo>
                    <a:pt x="6285738" y="0"/>
                  </a:lnTo>
                  <a:cubicBezTo>
                    <a:pt x="6587617" y="0"/>
                    <a:pt x="6832346" y="244729"/>
                    <a:pt x="6832346" y="546608"/>
                  </a:cubicBezTo>
                  <a:lnTo>
                    <a:pt x="6832346" y="7597902"/>
                  </a:lnTo>
                  <a:cubicBezTo>
                    <a:pt x="6832346" y="7899781"/>
                    <a:pt x="6587617" y="8144510"/>
                    <a:pt x="6285738" y="8144510"/>
                  </a:cubicBezTo>
                  <a:lnTo>
                    <a:pt x="546608" y="8144510"/>
                  </a:lnTo>
                  <a:cubicBezTo>
                    <a:pt x="244729" y="8144510"/>
                    <a:pt x="0" y="7899781"/>
                    <a:pt x="0" y="7597902"/>
                  </a:cubicBezTo>
                  <a:close/>
                </a:path>
              </a:pathLst>
            </a:custGeom>
            <a:solidFill>
              <a:srgbClr val="F0F9FF"/>
            </a:solidFill>
          </p:spPr>
        </p:sp>
      </p:grpSp>
      <p:sp>
        <p:nvSpPr>
          <p:cNvPr name="Freeform 4" id="4"/>
          <p:cNvSpPr/>
          <p:nvPr/>
        </p:nvSpPr>
        <p:spPr>
          <a:xfrm flipH="false" flipV="false" rot="0">
            <a:off x="2819943" y="3689528"/>
            <a:ext cx="1680505" cy="1680505"/>
          </a:xfrm>
          <a:custGeom>
            <a:avLst/>
            <a:gdLst/>
            <a:ahLst/>
            <a:cxnLst/>
            <a:rect r="r" b="b" t="t" l="l"/>
            <a:pathLst>
              <a:path h="1680505" w="1680505">
                <a:moveTo>
                  <a:pt x="0" y="0"/>
                </a:moveTo>
                <a:lnTo>
                  <a:pt x="1680505" y="0"/>
                </a:lnTo>
                <a:lnTo>
                  <a:pt x="1680505" y="1680505"/>
                </a:lnTo>
                <a:lnTo>
                  <a:pt x="0" y="1680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3371964" y="4227833"/>
            <a:ext cx="576548" cy="576548"/>
            <a:chOff x="0" y="0"/>
            <a:chExt cx="768731" cy="768731"/>
          </a:xfrm>
        </p:grpSpPr>
        <p:sp>
          <p:nvSpPr>
            <p:cNvPr name="Freeform 6" id="6" descr="slide_17_Picture_7.png"/>
            <p:cNvSpPr/>
            <p:nvPr/>
          </p:nvSpPr>
          <p:spPr>
            <a:xfrm flipH="false" flipV="false" rot="0">
              <a:off x="0" y="0"/>
              <a:ext cx="768731" cy="768731"/>
            </a:xfrm>
            <a:custGeom>
              <a:avLst/>
              <a:gdLst/>
              <a:ahLst/>
              <a:cxnLst/>
              <a:rect r="r" b="b" t="t" l="l"/>
              <a:pathLst>
                <a:path h="768731" w="768731">
                  <a:moveTo>
                    <a:pt x="0" y="0"/>
                  </a:moveTo>
                  <a:lnTo>
                    <a:pt x="768731" y="0"/>
                  </a:lnTo>
                  <a:lnTo>
                    <a:pt x="768731" y="768731"/>
                  </a:lnTo>
                  <a:lnTo>
                    <a:pt x="0" y="768731"/>
                  </a:lnTo>
                  <a:lnTo>
                    <a:pt x="0" y="0"/>
                  </a:lnTo>
                  <a:close/>
                </a:path>
              </a:pathLst>
            </a:custGeom>
            <a:blipFill>
              <a:blip r:embed="rId4"/>
              <a:stretch>
                <a:fillRect l="0" t="0" r="0" b="0"/>
              </a:stretch>
            </a:blipFill>
          </p:spPr>
        </p:sp>
      </p:grpSp>
      <p:sp>
        <p:nvSpPr>
          <p:cNvPr name="TextBox 7" id="7"/>
          <p:cNvSpPr txBox="true"/>
          <p:nvPr/>
        </p:nvSpPr>
        <p:spPr>
          <a:xfrm rot="0">
            <a:off x="1509941" y="5883440"/>
            <a:ext cx="4300585" cy="705383"/>
          </a:xfrm>
          <a:prstGeom prst="rect">
            <a:avLst/>
          </a:prstGeom>
        </p:spPr>
        <p:txBody>
          <a:bodyPr anchor="t" rtlCol="false" tIns="0" lIns="0" bIns="0" rIns="0">
            <a:spAutoFit/>
          </a:bodyPr>
          <a:lstStyle/>
          <a:p>
            <a:pPr algn="ctr">
              <a:lnSpc>
                <a:spcPts val="3422"/>
              </a:lnSpc>
            </a:pPr>
            <a:r>
              <a:rPr lang="en-US" sz="2852" b="true">
                <a:solidFill>
                  <a:srgbClr val="0369A1"/>
                </a:solidFill>
                <a:latin typeface="Inter Bold"/>
                <a:ea typeface="Inter Bold"/>
                <a:cs typeface="Inter Bold"/>
                <a:sym typeface="Inter Bold"/>
              </a:rPr>
              <a:t>Live GPS Data</a:t>
            </a:r>
          </a:p>
        </p:txBody>
      </p:sp>
      <p:sp>
        <p:nvSpPr>
          <p:cNvPr name="TextBox 8" id="8"/>
          <p:cNvSpPr txBox="true"/>
          <p:nvPr/>
        </p:nvSpPr>
        <p:spPr>
          <a:xfrm rot="0">
            <a:off x="1509941" y="6707048"/>
            <a:ext cx="4300585" cy="923951"/>
          </a:xfrm>
          <a:prstGeom prst="rect">
            <a:avLst/>
          </a:prstGeom>
        </p:spPr>
        <p:txBody>
          <a:bodyPr anchor="t" rtlCol="false" tIns="0" lIns="0" bIns="0" rIns="0">
            <a:spAutoFit/>
          </a:bodyPr>
          <a:lstStyle/>
          <a:p>
            <a:pPr algn="ctr">
              <a:lnSpc>
                <a:spcPts val="2430"/>
              </a:lnSpc>
            </a:pPr>
            <a:r>
              <a:rPr lang="en-US" sz="2025">
                <a:solidFill>
                  <a:srgbClr val="075985"/>
                </a:solidFill>
                <a:latin typeface="Inter"/>
                <a:ea typeface="Inter"/>
                <a:cs typeface="Inter"/>
                <a:sym typeface="Inter"/>
              </a:rPr>
              <a:t>Dynamic calculation of Dᵢ travel metrics using connected vehicle telemetry.</a:t>
            </a:r>
          </a:p>
        </p:txBody>
      </p:sp>
      <p:grpSp>
        <p:nvGrpSpPr>
          <p:cNvPr name="Group 9" id="9"/>
          <p:cNvGrpSpPr/>
          <p:nvPr/>
        </p:nvGrpSpPr>
        <p:grpSpPr>
          <a:xfrm rot="0">
            <a:off x="6588824" y="3157147"/>
            <a:ext cx="5124260" cy="6108382"/>
            <a:chOff x="0" y="0"/>
            <a:chExt cx="6832346" cy="8144510"/>
          </a:xfrm>
        </p:grpSpPr>
        <p:sp>
          <p:nvSpPr>
            <p:cNvPr name="Freeform 10" id="10"/>
            <p:cNvSpPr/>
            <p:nvPr/>
          </p:nvSpPr>
          <p:spPr>
            <a:xfrm flipH="false" flipV="false" rot="0">
              <a:off x="0" y="0"/>
              <a:ext cx="6832346" cy="8144510"/>
            </a:xfrm>
            <a:custGeom>
              <a:avLst/>
              <a:gdLst/>
              <a:ahLst/>
              <a:cxnLst/>
              <a:rect r="r" b="b" t="t" l="l"/>
              <a:pathLst>
                <a:path h="8144510" w="6832346">
                  <a:moveTo>
                    <a:pt x="0" y="546608"/>
                  </a:moveTo>
                  <a:cubicBezTo>
                    <a:pt x="0" y="244729"/>
                    <a:pt x="244729" y="0"/>
                    <a:pt x="546608" y="0"/>
                  </a:cubicBezTo>
                  <a:lnTo>
                    <a:pt x="6285738" y="0"/>
                  </a:lnTo>
                  <a:cubicBezTo>
                    <a:pt x="6587617" y="0"/>
                    <a:pt x="6832346" y="244729"/>
                    <a:pt x="6832346" y="546608"/>
                  </a:cubicBezTo>
                  <a:lnTo>
                    <a:pt x="6832346" y="7597902"/>
                  </a:lnTo>
                  <a:cubicBezTo>
                    <a:pt x="6832346" y="7899781"/>
                    <a:pt x="6587617" y="8144510"/>
                    <a:pt x="6285738" y="8144510"/>
                  </a:cubicBezTo>
                  <a:lnTo>
                    <a:pt x="546608" y="8144510"/>
                  </a:lnTo>
                  <a:cubicBezTo>
                    <a:pt x="244729" y="8144510"/>
                    <a:pt x="0" y="7899781"/>
                    <a:pt x="0" y="7597902"/>
                  </a:cubicBezTo>
                  <a:close/>
                </a:path>
              </a:pathLst>
            </a:custGeom>
            <a:solidFill>
              <a:srgbClr val="F0FDFA"/>
            </a:solidFill>
          </p:spPr>
        </p:sp>
      </p:grpSp>
      <p:sp>
        <p:nvSpPr>
          <p:cNvPr name="Freeform 11" id="11"/>
          <p:cNvSpPr/>
          <p:nvPr/>
        </p:nvSpPr>
        <p:spPr>
          <a:xfrm flipH="false" flipV="false" rot="0">
            <a:off x="8310629" y="3689528"/>
            <a:ext cx="1680505" cy="1680505"/>
          </a:xfrm>
          <a:custGeom>
            <a:avLst/>
            <a:gdLst/>
            <a:ahLst/>
            <a:cxnLst/>
            <a:rect r="r" b="b" t="t" l="l"/>
            <a:pathLst>
              <a:path h="1680505" w="1680505">
                <a:moveTo>
                  <a:pt x="0" y="0"/>
                </a:moveTo>
                <a:lnTo>
                  <a:pt x="1680505" y="0"/>
                </a:lnTo>
                <a:lnTo>
                  <a:pt x="1680505" y="1680505"/>
                </a:lnTo>
                <a:lnTo>
                  <a:pt x="0" y="1680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8794023" y="4227833"/>
            <a:ext cx="713804" cy="576548"/>
            <a:chOff x="0" y="0"/>
            <a:chExt cx="951738" cy="768731"/>
          </a:xfrm>
        </p:grpSpPr>
        <p:sp>
          <p:nvSpPr>
            <p:cNvPr name="Freeform 13" id="13" descr="slide_17_Picture_8.png"/>
            <p:cNvSpPr/>
            <p:nvPr/>
          </p:nvSpPr>
          <p:spPr>
            <a:xfrm flipH="false" flipV="false" rot="0">
              <a:off x="0" y="0"/>
              <a:ext cx="951738" cy="768731"/>
            </a:xfrm>
            <a:custGeom>
              <a:avLst/>
              <a:gdLst/>
              <a:ahLst/>
              <a:cxnLst/>
              <a:rect r="r" b="b" t="t" l="l"/>
              <a:pathLst>
                <a:path h="768731" w="951738">
                  <a:moveTo>
                    <a:pt x="0" y="0"/>
                  </a:moveTo>
                  <a:lnTo>
                    <a:pt x="951738" y="0"/>
                  </a:lnTo>
                  <a:lnTo>
                    <a:pt x="951738" y="768731"/>
                  </a:lnTo>
                  <a:lnTo>
                    <a:pt x="0" y="768731"/>
                  </a:lnTo>
                  <a:lnTo>
                    <a:pt x="0" y="0"/>
                  </a:lnTo>
                  <a:close/>
                </a:path>
              </a:pathLst>
            </a:custGeom>
            <a:blipFill>
              <a:blip r:embed="rId5"/>
              <a:stretch>
                <a:fillRect l="-481" t="0" r="-483" b="0"/>
              </a:stretch>
            </a:blipFill>
          </p:spPr>
        </p:sp>
      </p:grpSp>
      <p:sp>
        <p:nvSpPr>
          <p:cNvPr name="TextBox 14" id="14"/>
          <p:cNvSpPr txBox="true"/>
          <p:nvPr/>
        </p:nvSpPr>
        <p:spPr>
          <a:xfrm rot="0">
            <a:off x="7000627" y="5883440"/>
            <a:ext cx="4300585" cy="705383"/>
          </a:xfrm>
          <a:prstGeom prst="rect">
            <a:avLst/>
          </a:prstGeom>
        </p:spPr>
        <p:txBody>
          <a:bodyPr anchor="t" rtlCol="false" tIns="0" lIns="0" bIns="0" rIns="0">
            <a:spAutoFit/>
          </a:bodyPr>
          <a:lstStyle/>
          <a:p>
            <a:pPr algn="ctr">
              <a:lnSpc>
                <a:spcPts val="3422"/>
              </a:lnSpc>
            </a:pPr>
            <a:r>
              <a:rPr lang="en-US" sz="2852" b="true">
                <a:solidFill>
                  <a:srgbClr val="0F766E"/>
                </a:solidFill>
                <a:latin typeface="Inter Bold"/>
                <a:ea typeface="Inter Bold"/>
                <a:cs typeface="Inter Bold"/>
                <a:sym typeface="Inter Bold"/>
              </a:rPr>
              <a:t>Adaptive Signals</a:t>
            </a:r>
          </a:p>
        </p:txBody>
      </p:sp>
      <p:sp>
        <p:nvSpPr>
          <p:cNvPr name="TextBox 15" id="15"/>
          <p:cNvSpPr txBox="true"/>
          <p:nvPr/>
        </p:nvSpPr>
        <p:spPr>
          <a:xfrm rot="0">
            <a:off x="7000627" y="6707048"/>
            <a:ext cx="4300585" cy="2078060"/>
          </a:xfrm>
          <a:prstGeom prst="rect">
            <a:avLst/>
          </a:prstGeom>
        </p:spPr>
        <p:txBody>
          <a:bodyPr anchor="t" rtlCol="false" tIns="0" lIns="0" bIns="0" rIns="0">
            <a:spAutoFit/>
          </a:bodyPr>
          <a:lstStyle/>
          <a:p>
            <a:pPr algn="ctr">
              <a:lnSpc>
                <a:spcPts val="2430"/>
              </a:lnSpc>
            </a:pPr>
            <a:r>
              <a:rPr lang="en-US" sz="2025">
                <a:solidFill>
                  <a:srgbClr val="115E59"/>
                </a:solidFill>
                <a:latin typeface="Inter"/>
                <a:ea typeface="Inter"/>
                <a:cs typeface="Inter"/>
                <a:sym typeface="Inter"/>
              </a:rPr>
              <a:t>Controller integration for fluctuating cycle times and on-the-fly micro-adjustments.</a:t>
            </a:r>
          </a:p>
        </p:txBody>
      </p:sp>
      <p:grpSp>
        <p:nvGrpSpPr>
          <p:cNvPr name="Group 16" id="16"/>
          <p:cNvGrpSpPr/>
          <p:nvPr/>
        </p:nvGrpSpPr>
        <p:grpSpPr>
          <a:xfrm rot="0">
            <a:off x="12079519" y="3157147"/>
            <a:ext cx="5124260" cy="6108382"/>
            <a:chOff x="0" y="0"/>
            <a:chExt cx="6832346" cy="8144510"/>
          </a:xfrm>
        </p:grpSpPr>
        <p:sp>
          <p:nvSpPr>
            <p:cNvPr name="Freeform 17" id="17"/>
            <p:cNvSpPr/>
            <p:nvPr/>
          </p:nvSpPr>
          <p:spPr>
            <a:xfrm flipH="false" flipV="false" rot="0">
              <a:off x="0" y="0"/>
              <a:ext cx="6832346" cy="8144510"/>
            </a:xfrm>
            <a:custGeom>
              <a:avLst/>
              <a:gdLst/>
              <a:ahLst/>
              <a:cxnLst/>
              <a:rect r="r" b="b" t="t" l="l"/>
              <a:pathLst>
                <a:path h="8144510" w="6832346">
                  <a:moveTo>
                    <a:pt x="0" y="546608"/>
                  </a:moveTo>
                  <a:cubicBezTo>
                    <a:pt x="0" y="244729"/>
                    <a:pt x="244729" y="0"/>
                    <a:pt x="546608" y="0"/>
                  </a:cubicBezTo>
                  <a:lnTo>
                    <a:pt x="6285738" y="0"/>
                  </a:lnTo>
                  <a:cubicBezTo>
                    <a:pt x="6587617" y="0"/>
                    <a:pt x="6832346" y="244729"/>
                    <a:pt x="6832346" y="546608"/>
                  </a:cubicBezTo>
                  <a:lnTo>
                    <a:pt x="6832346" y="7597902"/>
                  </a:lnTo>
                  <a:cubicBezTo>
                    <a:pt x="6832346" y="7899781"/>
                    <a:pt x="6587617" y="8144510"/>
                    <a:pt x="6285738" y="8144510"/>
                  </a:cubicBezTo>
                  <a:lnTo>
                    <a:pt x="546608" y="8144510"/>
                  </a:lnTo>
                  <a:cubicBezTo>
                    <a:pt x="244729" y="8144510"/>
                    <a:pt x="0" y="7899781"/>
                    <a:pt x="0" y="7597902"/>
                  </a:cubicBezTo>
                  <a:close/>
                </a:path>
              </a:pathLst>
            </a:custGeom>
            <a:solidFill>
              <a:srgbClr val="FFF7ED"/>
            </a:solidFill>
          </p:spPr>
        </p:sp>
      </p:grpSp>
      <p:sp>
        <p:nvSpPr>
          <p:cNvPr name="Freeform 18" id="18"/>
          <p:cNvSpPr/>
          <p:nvPr/>
        </p:nvSpPr>
        <p:spPr>
          <a:xfrm flipH="false" flipV="false" rot="0">
            <a:off x="13801315" y="3689528"/>
            <a:ext cx="1680505" cy="1680505"/>
          </a:xfrm>
          <a:custGeom>
            <a:avLst/>
            <a:gdLst/>
            <a:ahLst/>
            <a:cxnLst/>
            <a:rect r="r" b="b" t="t" l="l"/>
            <a:pathLst>
              <a:path h="1680505" w="1680505">
                <a:moveTo>
                  <a:pt x="0" y="0"/>
                </a:moveTo>
                <a:lnTo>
                  <a:pt x="1680506" y="0"/>
                </a:lnTo>
                <a:lnTo>
                  <a:pt x="1680506" y="1680505"/>
                </a:lnTo>
                <a:lnTo>
                  <a:pt x="0" y="16805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9" id="19"/>
          <p:cNvGrpSpPr/>
          <p:nvPr/>
        </p:nvGrpSpPr>
        <p:grpSpPr>
          <a:xfrm rot="0">
            <a:off x="14284719" y="4227833"/>
            <a:ext cx="713804" cy="576548"/>
            <a:chOff x="0" y="0"/>
            <a:chExt cx="951738" cy="768731"/>
          </a:xfrm>
        </p:grpSpPr>
        <p:sp>
          <p:nvSpPr>
            <p:cNvPr name="Freeform 20" id="20" descr="slide_17_Picture_9.png"/>
            <p:cNvSpPr/>
            <p:nvPr/>
          </p:nvSpPr>
          <p:spPr>
            <a:xfrm flipH="false" flipV="false" rot="0">
              <a:off x="0" y="0"/>
              <a:ext cx="951738" cy="768731"/>
            </a:xfrm>
            <a:custGeom>
              <a:avLst/>
              <a:gdLst/>
              <a:ahLst/>
              <a:cxnLst/>
              <a:rect r="r" b="b" t="t" l="l"/>
              <a:pathLst>
                <a:path h="768731" w="951738">
                  <a:moveTo>
                    <a:pt x="0" y="0"/>
                  </a:moveTo>
                  <a:lnTo>
                    <a:pt x="951738" y="0"/>
                  </a:lnTo>
                  <a:lnTo>
                    <a:pt x="951738" y="768731"/>
                  </a:lnTo>
                  <a:lnTo>
                    <a:pt x="0" y="768731"/>
                  </a:lnTo>
                  <a:lnTo>
                    <a:pt x="0" y="0"/>
                  </a:lnTo>
                  <a:close/>
                </a:path>
              </a:pathLst>
            </a:custGeom>
            <a:blipFill>
              <a:blip r:embed="rId6"/>
              <a:stretch>
                <a:fillRect l="-481" t="0" r="-483" b="0"/>
              </a:stretch>
            </a:blipFill>
          </p:spPr>
        </p:sp>
      </p:grpSp>
      <p:sp>
        <p:nvSpPr>
          <p:cNvPr name="TextBox 21" id="21"/>
          <p:cNvSpPr txBox="true"/>
          <p:nvPr/>
        </p:nvSpPr>
        <p:spPr>
          <a:xfrm rot="0">
            <a:off x="12491323" y="5883440"/>
            <a:ext cx="4300585" cy="705383"/>
          </a:xfrm>
          <a:prstGeom prst="rect">
            <a:avLst/>
          </a:prstGeom>
        </p:spPr>
        <p:txBody>
          <a:bodyPr anchor="t" rtlCol="false" tIns="0" lIns="0" bIns="0" rIns="0">
            <a:spAutoFit/>
          </a:bodyPr>
          <a:lstStyle/>
          <a:p>
            <a:pPr algn="ctr">
              <a:lnSpc>
                <a:spcPts val="3422"/>
              </a:lnSpc>
            </a:pPr>
            <a:r>
              <a:rPr lang="en-US" sz="2852" b="true">
                <a:solidFill>
                  <a:srgbClr val="C2410C"/>
                </a:solidFill>
                <a:latin typeface="Inter Bold"/>
                <a:ea typeface="Inter Bold"/>
                <a:cs typeface="Inter Bold"/>
                <a:sym typeface="Inter Bold"/>
              </a:rPr>
              <a:t>Multi-Vehicle Priority</a:t>
            </a:r>
          </a:p>
        </p:txBody>
      </p:sp>
      <p:sp>
        <p:nvSpPr>
          <p:cNvPr name="TextBox 22" id="22"/>
          <p:cNvSpPr txBox="true"/>
          <p:nvPr/>
        </p:nvSpPr>
        <p:spPr>
          <a:xfrm rot="0">
            <a:off x="12491323" y="6707048"/>
            <a:ext cx="4300585" cy="2078060"/>
          </a:xfrm>
          <a:prstGeom prst="rect">
            <a:avLst/>
          </a:prstGeom>
        </p:spPr>
        <p:txBody>
          <a:bodyPr anchor="t" rtlCol="false" tIns="0" lIns="0" bIns="0" rIns="0">
            <a:spAutoFit/>
          </a:bodyPr>
          <a:lstStyle/>
          <a:p>
            <a:pPr algn="ctr">
              <a:lnSpc>
                <a:spcPts val="2430"/>
              </a:lnSpc>
            </a:pPr>
            <a:r>
              <a:rPr lang="en-US" sz="2025">
                <a:solidFill>
                  <a:srgbClr val="9A3412"/>
                </a:solidFill>
                <a:latin typeface="Inter"/>
                <a:ea typeface="Inter"/>
                <a:cs typeface="Inter"/>
                <a:sym typeface="Inter"/>
              </a:rPr>
              <a:t>Fleet-wide synchronization managing complex concurrent emergency transit routes.</a:t>
            </a:r>
          </a:p>
        </p:txBody>
      </p:sp>
      <p:grpSp>
        <p:nvGrpSpPr>
          <p:cNvPr name="Group 23" id="23"/>
          <p:cNvGrpSpPr/>
          <p:nvPr/>
        </p:nvGrpSpPr>
        <p:grpSpPr>
          <a:xfrm rot="0">
            <a:off x="0" y="212512"/>
            <a:ext cx="18287524" cy="1069848"/>
            <a:chOff x="0" y="0"/>
            <a:chExt cx="24383365" cy="1426464"/>
          </a:xfrm>
        </p:grpSpPr>
        <p:sp>
          <p:nvSpPr>
            <p:cNvPr name="Freeform 24" id="24"/>
            <p:cNvSpPr/>
            <p:nvPr/>
          </p:nvSpPr>
          <p:spPr>
            <a:xfrm flipH="false" flipV="false" rot="0">
              <a:off x="0" y="0"/>
              <a:ext cx="24383364" cy="1426464"/>
            </a:xfrm>
            <a:custGeom>
              <a:avLst/>
              <a:gdLst/>
              <a:ahLst/>
              <a:cxnLst/>
              <a:rect r="r" b="b" t="t" l="l"/>
              <a:pathLst>
                <a:path h="1426464" w="24383364">
                  <a:moveTo>
                    <a:pt x="0" y="0"/>
                  </a:moveTo>
                  <a:lnTo>
                    <a:pt x="24383364" y="0"/>
                  </a:lnTo>
                  <a:lnTo>
                    <a:pt x="24383364" y="1426464"/>
                  </a:lnTo>
                  <a:lnTo>
                    <a:pt x="0" y="1426464"/>
                  </a:lnTo>
                  <a:close/>
                </a:path>
              </a:pathLst>
            </a:custGeom>
            <a:solidFill>
              <a:srgbClr val="115E59"/>
            </a:solidFill>
          </p:spPr>
        </p:sp>
      </p:grpSp>
      <p:grpSp>
        <p:nvGrpSpPr>
          <p:cNvPr name="Group 25" id="25"/>
          <p:cNvGrpSpPr/>
          <p:nvPr/>
        </p:nvGrpSpPr>
        <p:grpSpPr>
          <a:xfrm rot="0">
            <a:off x="16390620" y="212512"/>
            <a:ext cx="713232" cy="1069848"/>
            <a:chOff x="0" y="0"/>
            <a:chExt cx="950976" cy="1426464"/>
          </a:xfrm>
        </p:grpSpPr>
        <p:sp>
          <p:nvSpPr>
            <p:cNvPr name="Freeform 26" id="26"/>
            <p:cNvSpPr/>
            <p:nvPr/>
          </p:nvSpPr>
          <p:spPr>
            <a:xfrm flipH="false" flipV="false" rot="0">
              <a:off x="0" y="0"/>
              <a:ext cx="950976" cy="1426464"/>
            </a:xfrm>
            <a:custGeom>
              <a:avLst/>
              <a:gdLst/>
              <a:ahLst/>
              <a:cxnLst/>
              <a:rect r="r" b="b" t="t" l="l"/>
              <a:pathLst>
                <a:path h="1426464" w="950976">
                  <a:moveTo>
                    <a:pt x="0" y="1426464"/>
                  </a:moveTo>
                  <a:lnTo>
                    <a:pt x="237744" y="0"/>
                  </a:lnTo>
                  <a:lnTo>
                    <a:pt x="950976" y="0"/>
                  </a:lnTo>
                  <a:lnTo>
                    <a:pt x="713232" y="1426464"/>
                  </a:lnTo>
                  <a:close/>
                </a:path>
              </a:pathLst>
            </a:custGeom>
            <a:solidFill>
              <a:srgbClr val="F0FDF4"/>
            </a:solidFill>
          </p:spPr>
        </p:sp>
      </p:grpSp>
      <p:grpSp>
        <p:nvGrpSpPr>
          <p:cNvPr name="Group 27" id="27"/>
          <p:cNvGrpSpPr/>
          <p:nvPr/>
        </p:nvGrpSpPr>
        <p:grpSpPr>
          <a:xfrm rot="0">
            <a:off x="17035272" y="212512"/>
            <a:ext cx="754380" cy="1069848"/>
            <a:chOff x="0" y="0"/>
            <a:chExt cx="1005840" cy="1426464"/>
          </a:xfrm>
        </p:grpSpPr>
        <p:sp>
          <p:nvSpPr>
            <p:cNvPr name="Freeform 28" id="28"/>
            <p:cNvSpPr/>
            <p:nvPr/>
          </p:nvSpPr>
          <p:spPr>
            <a:xfrm flipH="false" flipV="false" rot="0">
              <a:off x="0" y="0"/>
              <a:ext cx="1005840" cy="1426464"/>
            </a:xfrm>
            <a:custGeom>
              <a:avLst/>
              <a:gdLst/>
              <a:ahLst/>
              <a:cxnLst/>
              <a:rect r="r" b="b" t="t" l="l"/>
              <a:pathLst>
                <a:path h="1426464" w="1005840">
                  <a:moveTo>
                    <a:pt x="0" y="1426464"/>
                  </a:moveTo>
                  <a:lnTo>
                    <a:pt x="251460" y="0"/>
                  </a:lnTo>
                  <a:lnTo>
                    <a:pt x="1005840" y="0"/>
                  </a:lnTo>
                  <a:lnTo>
                    <a:pt x="754380" y="1426464"/>
                  </a:lnTo>
                  <a:close/>
                </a:path>
              </a:pathLst>
            </a:custGeom>
            <a:solidFill>
              <a:srgbClr val="9FC7AA"/>
            </a:solidFill>
          </p:spPr>
        </p:sp>
      </p:grpSp>
      <p:sp>
        <p:nvSpPr>
          <p:cNvPr name="TextBox 29" id="29"/>
          <p:cNvSpPr txBox="true"/>
          <p:nvPr/>
        </p:nvSpPr>
        <p:spPr>
          <a:xfrm rot="0">
            <a:off x="929707" y="9525"/>
            <a:ext cx="16105565" cy="1066786"/>
          </a:xfrm>
          <a:prstGeom prst="rect">
            <a:avLst/>
          </a:prstGeom>
        </p:spPr>
        <p:txBody>
          <a:bodyPr anchor="t" rtlCol="false" tIns="0" lIns="0" bIns="0" rIns="0">
            <a:spAutoFit/>
          </a:bodyPr>
          <a:lstStyle/>
          <a:p>
            <a:pPr algn="l">
              <a:lnSpc>
                <a:spcPts val="2341"/>
              </a:lnSpc>
            </a:pPr>
          </a:p>
          <a:p>
            <a:pPr algn="l">
              <a:lnSpc>
                <a:spcPts val="6124"/>
              </a:lnSpc>
            </a:pPr>
            <a:r>
              <a:rPr lang="en-US" b="true" sz="5103">
                <a:solidFill>
                  <a:srgbClr val="FFFFFF"/>
                </a:solidFill>
                <a:latin typeface="Lora Bold"/>
                <a:ea typeface="Lora Bold"/>
                <a:cs typeface="Lora Bold"/>
                <a:sym typeface="Lora Bold"/>
              </a:rPr>
              <a:t>Future Scope &amp; Expansions</a:t>
            </a:r>
          </a:p>
        </p:txBody>
      </p:sp>
      <p:grpSp>
        <p:nvGrpSpPr>
          <p:cNvPr name="Group 30" id="30"/>
          <p:cNvGrpSpPr/>
          <p:nvPr/>
        </p:nvGrpSpPr>
        <p:grpSpPr>
          <a:xfrm rot="0">
            <a:off x="0" y="9777774"/>
            <a:ext cx="18287524" cy="516293"/>
            <a:chOff x="0" y="0"/>
            <a:chExt cx="24383365" cy="688391"/>
          </a:xfrm>
        </p:grpSpPr>
        <p:sp>
          <p:nvSpPr>
            <p:cNvPr name="Freeform 31" id="31"/>
            <p:cNvSpPr/>
            <p:nvPr/>
          </p:nvSpPr>
          <p:spPr>
            <a:xfrm flipH="false" flipV="false" rot="0">
              <a:off x="0" y="-23"/>
              <a:ext cx="24383364" cy="688386"/>
            </a:xfrm>
            <a:custGeom>
              <a:avLst/>
              <a:gdLst/>
              <a:ahLst/>
              <a:cxnLst/>
              <a:rect r="r" b="b" t="t" l="l"/>
              <a:pathLst>
                <a:path h="688386" w="24383364">
                  <a:moveTo>
                    <a:pt x="0" y="83589"/>
                  </a:moveTo>
                  <a:cubicBezTo>
                    <a:pt x="8127746" y="-205971"/>
                    <a:pt x="16255619" y="373149"/>
                    <a:pt x="24383364" y="83589"/>
                  </a:cubicBezTo>
                  <a:lnTo>
                    <a:pt x="24383364" y="604797"/>
                  </a:lnTo>
                  <a:cubicBezTo>
                    <a:pt x="16255619" y="894357"/>
                    <a:pt x="8127746" y="315237"/>
                    <a:pt x="0" y="604797"/>
                  </a:cubicBezTo>
                  <a:close/>
                </a:path>
              </a:pathLst>
            </a:custGeom>
            <a:solidFill>
              <a:srgbClr val="9FC7AA"/>
            </a:solidFill>
          </p:spPr>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097817" y="2388579"/>
            <a:ext cx="2092366" cy="2092366"/>
          </a:xfrm>
          <a:custGeom>
            <a:avLst/>
            <a:gdLst/>
            <a:ahLst/>
            <a:cxnLst/>
            <a:rect r="r" b="b" t="t" l="l"/>
            <a:pathLst>
              <a:path h="2092366" w="2092366">
                <a:moveTo>
                  <a:pt x="0" y="0"/>
                </a:moveTo>
                <a:lnTo>
                  <a:pt x="2092366" y="0"/>
                </a:lnTo>
                <a:lnTo>
                  <a:pt x="2092366" y="2092367"/>
                </a:lnTo>
                <a:lnTo>
                  <a:pt x="0" y="20923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647833" y="3010043"/>
            <a:ext cx="1002030" cy="796195"/>
            <a:chOff x="0" y="0"/>
            <a:chExt cx="1336040" cy="1061593"/>
          </a:xfrm>
        </p:grpSpPr>
        <p:sp>
          <p:nvSpPr>
            <p:cNvPr name="Freeform 4" id="4" descr="slide_18_Picture_3.png"/>
            <p:cNvSpPr/>
            <p:nvPr/>
          </p:nvSpPr>
          <p:spPr>
            <a:xfrm flipH="false" flipV="false" rot="0">
              <a:off x="0" y="0"/>
              <a:ext cx="1336040" cy="1061593"/>
            </a:xfrm>
            <a:custGeom>
              <a:avLst/>
              <a:gdLst/>
              <a:ahLst/>
              <a:cxnLst/>
              <a:rect r="r" b="b" t="t" l="l"/>
              <a:pathLst>
                <a:path h="1061593" w="1336040">
                  <a:moveTo>
                    <a:pt x="0" y="0"/>
                  </a:moveTo>
                  <a:lnTo>
                    <a:pt x="1336040" y="0"/>
                  </a:lnTo>
                  <a:lnTo>
                    <a:pt x="1336040" y="1061593"/>
                  </a:lnTo>
                  <a:lnTo>
                    <a:pt x="0" y="1061593"/>
                  </a:lnTo>
                  <a:lnTo>
                    <a:pt x="0" y="0"/>
                  </a:lnTo>
                  <a:close/>
                </a:path>
              </a:pathLst>
            </a:custGeom>
            <a:blipFill>
              <a:blip r:embed="rId4"/>
              <a:stretch>
                <a:fillRect l="0" t="-1239" r="0" b="-1240"/>
              </a:stretch>
            </a:blipFill>
          </p:spPr>
        </p:sp>
      </p:grpSp>
      <p:sp>
        <p:nvSpPr>
          <p:cNvPr name="TextBox 5" id="5"/>
          <p:cNvSpPr txBox="true"/>
          <p:nvPr/>
        </p:nvSpPr>
        <p:spPr>
          <a:xfrm rot="0">
            <a:off x="1370600" y="4916879"/>
            <a:ext cx="15556497" cy="2079839"/>
          </a:xfrm>
          <a:prstGeom prst="rect">
            <a:avLst/>
          </a:prstGeom>
        </p:spPr>
        <p:txBody>
          <a:bodyPr anchor="t" rtlCol="false" tIns="0" lIns="0" bIns="0" rIns="0">
            <a:spAutoFit/>
          </a:bodyPr>
          <a:lstStyle/>
          <a:p>
            <a:pPr algn="ctr">
              <a:lnSpc>
                <a:spcPts val="9605"/>
              </a:lnSpc>
            </a:pPr>
            <a:r>
              <a:rPr lang="en-US" sz="8004" b="true">
                <a:solidFill>
                  <a:srgbClr val="0F172A"/>
                </a:solidFill>
                <a:latin typeface="Inter Bold"/>
                <a:ea typeface="Inter Bold"/>
                <a:cs typeface="Inter Bold"/>
                <a:sym typeface="Inter Bold"/>
              </a:rPr>
              <a:t>Thank You</a:t>
            </a:r>
          </a:p>
          <a:p>
            <a:pPr algn="ctr">
              <a:lnSpc>
                <a:spcPts val="4002"/>
              </a:lnSpc>
            </a:pPr>
          </a:p>
        </p:txBody>
      </p:sp>
      <p:grpSp>
        <p:nvGrpSpPr>
          <p:cNvPr name="Group 6" id="6"/>
          <p:cNvGrpSpPr/>
          <p:nvPr/>
        </p:nvGrpSpPr>
        <p:grpSpPr>
          <a:xfrm rot="0">
            <a:off x="0" y="212512"/>
            <a:ext cx="18287524" cy="1069848"/>
            <a:chOff x="0" y="0"/>
            <a:chExt cx="24383365" cy="1426464"/>
          </a:xfrm>
        </p:grpSpPr>
        <p:sp>
          <p:nvSpPr>
            <p:cNvPr name="Freeform 7" id="7"/>
            <p:cNvSpPr/>
            <p:nvPr/>
          </p:nvSpPr>
          <p:spPr>
            <a:xfrm flipH="false" flipV="false" rot="0">
              <a:off x="0" y="0"/>
              <a:ext cx="24383364" cy="1426464"/>
            </a:xfrm>
            <a:custGeom>
              <a:avLst/>
              <a:gdLst/>
              <a:ahLst/>
              <a:cxnLst/>
              <a:rect r="r" b="b" t="t" l="l"/>
              <a:pathLst>
                <a:path h="1426464" w="24383364">
                  <a:moveTo>
                    <a:pt x="0" y="0"/>
                  </a:moveTo>
                  <a:lnTo>
                    <a:pt x="24383364" y="0"/>
                  </a:lnTo>
                  <a:lnTo>
                    <a:pt x="24383364" y="1426464"/>
                  </a:lnTo>
                  <a:lnTo>
                    <a:pt x="0" y="1426464"/>
                  </a:lnTo>
                  <a:close/>
                </a:path>
              </a:pathLst>
            </a:custGeom>
            <a:solidFill>
              <a:srgbClr val="115E59"/>
            </a:solidFill>
          </p:spPr>
        </p:sp>
      </p:grpSp>
      <p:grpSp>
        <p:nvGrpSpPr>
          <p:cNvPr name="Group 8" id="8"/>
          <p:cNvGrpSpPr/>
          <p:nvPr/>
        </p:nvGrpSpPr>
        <p:grpSpPr>
          <a:xfrm rot="0">
            <a:off x="16390620" y="212512"/>
            <a:ext cx="713232" cy="1069848"/>
            <a:chOff x="0" y="0"/>
            <a:chExt cx="950976" cy="1426464"/>
          </a:xfrm>
        </p:grpSpPr>
        <p:sp>
          <p:nvSpPr>
            <p:cNvPr name="Freeform 9" id="9"/>
            <p:cNvSpPr/>
            <p:nvPr/>
          </p:nvSpPr>
          <p:spPr>
            <a:xfrm flipH="false" flipV="false" rot="0">
              <a:off x="0" y="0"/>
              <a:ext cx="950976" cy="1426464"/>
            </a:xfrm>
            <a:custGeom>
              <a:avLst/>
              <a:gdLst/>
              <a:ahLst/>
              <a:cxnLst/>
              <a:rect r="r" b="b" t="t" l="l"/>
              <a:pathLst>
                <a:path h="1426464" w="950976">
                  <a:moveTo>
                    <a:pt x="0" y="1426464"/>
                  </a:moveTo>
                  <a:lnTo>
                    <a:pt x="237744" y="0"/>
                  </a:lnTo>
                  <a:lnTo>
                    <a:pt x="950976" y="0"/>
                  </a:lnTo>
                  <a:lnTo>
                    <a:pt x="713232" y="1426464"/>
                  </a:lnTo>
                  <a:close/>
                </a:path>
              </a:pathLst>
            </a:custGeom>
            <a:solidFill>
              <a:srgbClr val="F0FDF4"/>
            </a:solidFill>
          </p:spPr>
        </p:sp>
      </p:grpSp>
      <p:grpSp>
        <p:nvGrpSpPr>
          <p:cNvPr name="Group 10" id="10"/>
          <p:cNvGrpSpPr/>
          <p:nvPr/>
        </p:nvGrpSpPr>
        <p:grpSpPr>
          <a:xfrm rot="0">
            <a:off x="17035272" y="212512"/>
            <a:ext cx="754380" cy="1069848"/>
            <a:chOff x="0" y="0"/>
            <a:chExt cx="1005840" cy="1426464"/>
          </a:xfrm>
        </p:grpSpPr>
        <p:sp>
          <p:nvSpPr>
            <p:cNvPr name="Freeform 11" id="11"/>
            <p:cNvSpPr/>
            <p:nvPr/>
          </p:nvSpPr>
          <p:spPr>
            <a:xfrm flipH="false" flipV="false" rot="0">
              <a:off x="0" y="0"/>
              <a:ext cx="1005840" cy="1426464"/>
            </a:xfrm>
            <a:custGeom>
              <a:avLst/>
              <a:gdLst/>
              <a:ahLst/>
              <a:cxnLst/>
              <a:rect r="r" b="b" t="t" l="l"/>
              <a:pathLst>
                <a:path h="1426464" w="1005840">
                  <a:moveTo>
                    <a:pt x="0" y="1426464"/>
                  </a:moveTo>
                  <a:lnTo>
                    <a:pt x="251460" y="0"/>
                  </a:lnTo>
                  <a:lnTo>
                    <a:pt x="1005840" y="0"/>
                  </a:lnTo>
                  <a:lnTo>
                    <a:pt x="754380" y="1426464"/>
                  </a:lnTo>
                  <a:close/>
                </a:path>
              </a:pathLst>
            </a:custGeom>
            <a:solidFill>
              <a:srgbClr val="9FC7AA"/>
            </a:solidFill>
          </p:spPr>
        </p:sp>
      </p:grpSp>
      <p:grpSp>
        <p:nvGrpSpPr>
          <p:cNvPr name="Group 12" id="12"/>
          <p:cNvGrpSpPr/>
          <p:nvPr/>
        </p:nvGrpSpPr>
        <p:grpSpPr>
          <a:xfrm rot="0">
            <a:off x="0" y="9777774"/>
            <a:ext cx="18287524" cy="516293"/>
            <a:chOff x="0" y="0"/>
            <a:chExt cx="24383365" cy="688391"/>
          </a:xfrm>
        </p:grpSpPr>
        <p:sp>
          <p:nvSpPr>
            <p:cNvPr name="Freeform 13" id="13"/>
            <p:cNvSpPr/>
            <p:nvPr/>
          </p:nvSpPr>
          <p:spPr>
            <a:xfrm flipH="false" flipV="false" rot="0">
              <a:off x="0" y="-23"/>
              <a:ext cx="24383364" cy="688386"/>
            </a:xfrm>
            <a:custGeom>
              <a:avLst/>
              <a:gdLst/>
              <a:ahLst/>
              <a:cxnLst/>
              <a:rect r="r" b="b" t="t" l="l"/>
              <a:pathLst>
                <a:path h="688386" w="24383364">
                  <a:moveTo>
                    <a:pt x="0" y="83589"/>
                  </a:moveTo>
                  <a:cubicBezTo>
                    <a:pt x="8127746" y="-205971"/>
                    <a:pt x="16255619" y="373149"/>
                    <a:pt x="24383364" y="83589"/>
                  </a:cubicBezTo>
                  <a:lnTo>
                    <a:pt x="24383364" y="604797"/>
                  </a:lnTo>
                  <a:cubicBezTo>
                    <a:pt x="16255619" y="894357"/>
                    <a:pt x="8127746" y="315237"/>
                    <a:pt x="0" y="604797"/>
                  </a:cubicBezTo>
                  <a:close/>
                </a:path>
              </a:pathLst>
            </a:custGeom>
            <a:solidFill>
              <a:srgbClr val="9FC7AA"/>
            </a:solid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DAHYYFCzU8I</dc:identifier>
  <dcterms:modified xsi:type="dcterms:W3CDTF">2011-08-01T06:04:30Z</dcterms:modified>
  <cp:revision>1</cp:revision>
  <dc:title>Descrete Maths  Project.pptx</dc:title>
</cp:coreProperties>
</file>